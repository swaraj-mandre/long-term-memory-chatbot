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and the team. Topic 192 is a Model Making topic, so the same project continues into Jury 2 and the end semester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this is an architectural limit of the transformer, not a bug. The context window is finite and the model is stateless between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Name the three systems, then read the five requirements down the right hand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FAISS: FAISS has no metadata filtering, so replaced facts could only be removed after the search, which silently shrinks the result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three layers clearly is worth doing slowly. Most questions about the design start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likely jury question, how do you retrieve the right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close the program entirely and restart it. The memory survives because it is written to disk, not held in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second likely jury question, how do you handle outdated or conflicting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football row. The outdated fact scored 0.651, which is higher than most correct answers score. Similarity is confident and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Trimming only touches raw messages. If asked what happens to a pruned message, the facts extracted from it were already saved separately, so the information is not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the follow up about the live turn. The answer is that redaction is applied at the storage boundary and redacting the live message is listed in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one row, not all six. Say that precision is capped by design before anyone asks why it is the lowest number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plainly is worth marks. Do not hide the failure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be questioned on any row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04088" y="1828800"/>
            <a:ext cx="1024128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Chatbot with Long-Term Memory</a:t>
            </a:r>
            <a:endParaRPr lang="en-US" sz="4400" dirty="0"/>
          </a:p>
        </p:txBody>
      </p:sp>
      <p:sp>
        <p:nvSpPr>
          <p:cNvPr id="3" name="Text 1"/>
          <p:cNvSpPr txBox="1"/>
          <p:nvPr/>
        </p:nvSpPr>
        <p:spPr>
          <a:xfrm>
            <a:off x="704088" y="2761488"/>
            <a:ext cx="9509760" cy="457200"/>
          </a:xfrm>
          <a:prstGeom prst="rect">
            <a:avLst/>
          </a:prstGeom>
          <a:noFill/>
          <a:ln/>
        </p:spPr>
        <p:txBody>
          <a:bodyPr wrap="square" lIns="0" tIns="0" rIns="0" bIns="0" rtlCol="0" anchor="ctr"/>
          <a:lstStyle/>
          <a:p>
            <a:pPr indent="0" marL="0">
              <a:buNone/>
            </a:pPr>
            <a:r>
              <a:rPr lang="en-US" sz="1600" dirty="0">
                <a:solidFill>
                  <a:srgbClr val="C3CFEA"/>
                </a:solidFill>
                <a:latin typeface="Calibri" pitchFamily="34" charset="0"/>
                <a:ea typeface="Calibri" pitchFamily="34" charset="-122"/>
                <a:cs typeface="Calibri" pitchFamily="34" charset="-120"/>
              </a:rPr>
              <a:t>A memory layer that lets a language model remember a user between conversations</a:t>
            </a:r>
            <a:endParaRPr lang="en-US" sz="1600" dirty="0"/>
          </a:p>
        </p:txBody>
      </p:sp>
      <p:sp>
        <p:nvSpPr>
          <p:cNvPr id="4" name="Shape 2"/>
          <p:cNvSpPr/>
          <p:nvPr/>
        </p:nvSpPr>
        <p:spPr>
          <a:xfrm>
            <a:off x="704088" y="3520440"/>
            <a:ext cx="3977640" cy="402336"/>
          </a:xfrm>
          <a:prstGeom prst="roundRect">
            <a:avLst>
              <a:gd name="adj" fmla="val 50000"/>
            </a:avLst>
          </a:prstGeom>
          <a:solidFill>
            <a:srgbClr val="2E3D7A"/>
          </a:solidFill>
          <a:ln w="9525">
            <a:solidFill>
              <a:srgbClr val="44559B"/>
            </a:solidFill>
            <a:prstDash val="solid"/>
          </a:ln>
        </p:spPr>
      </p:sp>
      <p:sp>
        <p:nvSpPr>
          <p:cNvPr id="5" name="Text 3"/>
          <p:cNvSpPr txBox="1"/>
          <p:nvPr/>
        </p:nvSpPr>
        <p:spPr>
          <a:xfrm>
            <a:off x="704088" y="3520440"/>
            <a:ext cx="3977640" cy="402336"/>
          </a:xfrm>
          <a:prstGeom prst="rect">
            <a:avLst/>
          </a:prstGeom>
          <a:noFill/>
          <a:ln/>
        </p:spPr>
        <p:txBody>
          <a:bodyPr wrap="square" lIns="0" tIns="0" rIns="0" bIns="0" rtlCol="0" anchor="ctr"/>
          <a:lstStyle/>
          <a:p>
            <a:pPr algn="ctr" indent="0" marL="0">
              <a:buNone/>
            </a:pPr>
            <a:r>
              <a:rPr lang="en-US" sz="1200" dirty="0">
                <a:solidFill>
                  <a:srgbClr val="D6DEF5"/>
                </a:solidFill>
                <a:latin typeface="Calibri" pitchFamily="34" charset="0"/>
                <a:ea typeface="Calibri" pitchFamily="34" charset="-122"/>
                <a:cs typeface="Calibri" pitchFamily="34" charset="-120"/>
              </a:rPr>
              <a:t>Topic 192   |   Model Making   |   Jury 1</a:t>
            </a:r>
            <a:endParaRPr lang="en-US" sz="1200" dirty="0"/>
          </a:p>
        </p:txBody>
      </p:sp>
      <p:sp>
        <p:nvSpPr>
          <p:cNvPr id="6" name="Text 4"/>
          <p:cNvSpPr txBox="1"/>
          <p:nvPr/>
        </p:nvSpPr>
        <p:spPr>
          <a:xfrm>
            <a:off x="704088" y="4224528"/>
            <a:ext cx="4114800" cy="1645920"/>
          </a:xfrm>
          <a:prstGeom prst="rect">
            <a:avLst/>
          </a:prstGeom>
          <a:noFill/>
          <a:ln/>
        </p:spPr>
        <p:txBody>
          <a:bodyPr wrap="square" lIns="0" tIns="0" rIns="0" bIns="0" rtlCol="0" anchor="t"/>
          <a:lstStyle/>
          <a:p>
            <a:pPr indent="0" marL="0">
              <a:lnSpc>
                <a:spcPts val="1600"/>
              </a:lnSpc>
              <a:buNone/>
            </a:pPr>
            <a:r>
              <a:rPr lang="en-US" sz="1300" dirty="0">
                <a:solidFill>
                  <a:srgbClr val="FFFFFF"/>
                </a:solidFill>
                <a:latin typeface="Calibri" pitchFamily="34" charset="0"/>
                <a:ea typeface="Calibri" pitchFamily="34" charset="-122"/>
                <a:cs typeface="Calibri" pitchFamily="34" charset="-120"/>
              </a:rPr>
              <a:t>Swaraj Mandre</a:t>
            </a:r>
            <a:endParaRPr lang="en-US" sz="1300" dirty="0"/>
          </a:p>
          <a:p>
            <a:pPr indent="0" marL="0">
              <a:lnSpc>
                <a:spcPts val="1600"/>
              </a:lnSpc>
              <a:buNone/>
            </a:pPr>
            <a:r>
              <a:rPr lang="en-US" sz="1050" dirty="0">
                <a:solidFill>
                  <a:srgbClr val="9FB0D9"/>
                </a:solidFill>
                <a:latin typeface="Calibri" pitchFamily="34" charset="0"/>
                <a:ea typeface="Calibri" pitchFamily="34" charset="-122"/>
                <a:cs typeface="Calibri" pitchFamily="34" charset="-120"/>
              </a:rPr>
              <a:t>Memory design and retrieval</a:t>
            </a:r>
            <a:endParaRPr lang="en-US" sz="1300" dirty="0"/>
          </a:p>
          <a:p>
            <a:pPr indent="0" marL="0">
              <a:lnSpc>
                <a:spcPts val="1600"/>
              </a:lnSpc>
              <a:buNone/>
            </a:pPr>
            <a:r>
              <a:rPr lang="en-US" sz="1300" dirty="0">
                <a:solidFill>
                  <a:srgbClr val="FFFFFF"/>
                </a:solidFill>
                <a:latin typeface="Calibri" pitchFamily="34" charset="0"/>
                <a:ea typeface="Calibri" pitchFamily="34" charset="-122"/>
                <a:cs typeface="Calibri" pitchFamily="34" charset="-120"/>
              </a:rPr>
              <a:t>Saumya Joshi</a:t>
            </a:r>
            <a:endParaRPr lang="en-US" sz="1300" dirty="0"/>
          </a:p>
          <a:p>
            <a:pPr indent="0" marL="0">
              <a:lnSpc>
                <a:spcPts val="1600"/>
              </a:lnSpc>
              <a:buNone/>
            </a:pPr>
            <a:r>
              <a:rPr lang="en-US" sz="1050" dirty="0">
                <a:solidFill>
                  <a:srgbClr val="9FB0D9"/>
                </a:solidFill>
                <a:latin typeface="Calibri" pitchFamily="34" charset="0"/>
                <a:ea typeface="Calibri" pitchFamily="34" charset="-122"/>
                <a:cs typeface="Calibri" pitchFamily="34" charset="-120"/>
              </a:rPr>
              <a:t>Language model integration</a:t>
            </a:r>
            <a:endParaRPr lang="en-US" sz="1300" dirty="0"/>
          </a:p>
          <a:p>
            <a:pPr indent="0" marL="0">
              <a:lnSpc>
                <a:spcPts val="1600"/>
              </a:lnSpc>
              <a:buNone/>
            </a:pPr>
            <a:r>
              <a:rPr lang="en-US" sz="1300" dirty="0">
                <a:solidFill>
                  <a:srgbClr val="FFFFFF"/>
                </a:solidFill>
                <a:latin typeface="Calibri" pitchFamily="34" charset="0"/>
                <a:ea typeface="Calibri" pitchFamily="34" charset="-122"/>
                <a:cs typeface="Calibri" pitchFamily="34" charset="-120"/>
              </a:rPr>
              <a:t>Siddhant Pawar</a:t>
            </a:r>
            <a:endParaRPr lang="en-US" sz="1300" dirty="0"/>
          </a:p>
          <a:p>
            <a:pPr indent="0" marL="0">
              <a:lnSpc>
                <a:spcPts val="1600"/>
              </a:lnSpc>
              <a:buNone/>
            </a:pPr>
            <a:r>
              <a:rPr lang="en-US" sz="1050" dirty="0">
                <a:solidFill>
                  <a:srgbClr val="9FB0D9"/>
                </a:solidFill>
                <a:latin typeface="Calibri" pitchFamily="34" charset="0"/>
                <a:ea typeface="Calibri" pitchFamily="34" charset="-122"/>
                <a:cs typeface="Calibri" pitchFamily="34" charset="-120"/>
              </a:rPr>
              <a:t>Evaluation and interface</a:t>
            </a:r>
            <a:endParaRPr lang="en-US" sz="1300" dirty="0"/>
          </a:p>
        </p:txBody>
      </p:sp>
      <p:sp>
        <p:nvSpPr>
          <p:cNvPr id="7" name="Text 5"/>
          <p:cNvSpPr txBox="1"/>
          <p:nvPr/>
        </p:nvSpPr>
        <p:spPr>
          <a:xfrm>
            <a:off x="5120640" y="4315968"/>
            <a:ext cx="4754880" cy="1188720"/>
          </a:xfrm>
          <a:prstGeom prst="rect">
            <a:avLst/>
          </a:prstGeom>
          <a:noFill/>
          <a:ln/>
        </p:spPr>
        <p:txBody>
          <a:bodyPr wrap="square" lIns="0" tIns="0" rIns="0" bIns="0" rtlCol="0" anchor="t"/>
          <a:lstStyle/>
          <a:p>
            <a:pPr indent="0" marL="0">
              <a:lnSpc>
                <a:spcPts val="1800"/>
              </a:lnSpc>
              <a:buNone/>
            </a:pPr>
            <a:r>
              <a:rPr lang="en-US" sz="1100" dirty="0">
                <a:solidFill>
                  <a:srgbClr val="9FB0D9"/>
                </a:solidFill>
                <a:latin typeface="Calibri" pitchFamily="34" charset="0"/>
                <a:ea typeface="Calibri" pitchFamily="34" charset="-122"/>
                <a:cs typeface="Calibri" pitchFamily="34" charset="-120"/>
              </a:rPr>
              <a:t>Guided by</a:t>
            </a:r>
            <a:endParaRPr lang="en-US" sz="1100" dirty="0"/>
          </a:p>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Prof. Dr. Snehalata Funde</a:t>
            </a:r>
            <a:endParaRPr lang="en-US" sz="1100" dirty="0"/>
          </a:p>
          <a:p>
            <a:pPr indent="0" marL="0">
              <a:lnSpc>
                <a:spcPts val="1800"/>
              </a:lnSpc>
              <a:buNone/>
            </a:pPr>
            <a:endParaRPr lang="en-US" sz="1100" dirty="0"/>
          </a:p>
          <a:p>
            <a:pPr indent="0" marL="0">
              <a:lnSpc>
                <a:spcPts val="1800"/>
              </a:lnSpc>
              <a:buNone/>
            </a:pPr>
            <a:r>
              <a:rPr lang="en-US" sz="1150" dirty="0">
                <a:solidFill>
                  <a:srgbClr val="9FB0D9"/>
                </a:solidFill>
                <a:latin typeface="Calibri" pitchFamily="34" charset="0"/>
                <a:ea typeface="Calibri" pitchFamily="34" charset="-122"/>
                <a:cs typeface="Calibri" pitchFamily="34" charset="-120"/>
              </a:rPr>
              <a:t>MIT School of Computing</a:t>
            </a:r>
            <a:endParaRPr lang="en-US" sz="1100" dirty="0"/>
          </a:p>
          <a:p>
            <a:pPr indent="0" marL="0">
              <a:lnSpc>
                <a:spcPts val="1800"/>
              </a:lnSpc>
              <a:buNone/>
            </a:pPr>
            <a:r>
              <a:rPr lang="en-US" sz="1150" dirty="0">
                <a:solidFill>
                  <a:srgbClr val="9FB0D9"/>
                </a:solidFill>
                <a:latin typeface="Calibri" pitchFamily="34" charset="0"/>
                <a:ea typeface="Calibri" pitchFamily="34" charset="-122"/>
                <a:cs typeface="Calibri" pitchFamily="34" charset="-120"/>
              </a:rPr>
              <a:t>MIT Art, Design and Technology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language model forgets everything</a:t>
            </a:r>
            <a:endParaRPr lang="en-US" sz="3200" dirty="0"/>
          </a:p>
        </p:txBody>
      </p:sp>
      <p:sp>
        <p:nvSpPr>
          <p:cNvPr id="4" name="Text 2"/>
          <p:cNvSpPr txBox="1"/>
          <p:nvPr/>
        </p:nvSpPr>
        <p:spPr>
          <a:xfrm>
            <a:off x="566928" y="1481328"/>
            <a:ext cx="5943600" cy="1188720"/>
          </a:xfrm>
          <a:prstGeom prst="rect">
            <a:avLst/>
          </a:prstGeom>
          <a:noFill/>
          <a:ln/>
        </p:spPr>
        <p:txBody>
          <a:bodyPr wrap="square" lIns="0" tIns="0" rIns="0" bIns="0" rtlCol="0" anchor="t"/>
          <a:lstStyle/>
          <a:p>
            <a:pPr indent="0" marL="0">
              <a:lnSpc>
                <a:spcPts val="2100"/>
              </a:lnSpc>
              <a:buNone/>
            </a:pPr>
            <a:r>
              <a:rPr lang="en-US" sz="1450" dirty="0">
                <a:solidFill>
                  <a:srgbClr val="1A1D23"/>
                </a:solidFill>
                <a:latin typeface="Calibri" pitchFamily="34" charset="0"/>
                <a:ea typeface="Calibri" pitchFamily="34" charset="-122"/>
                <a:cs typeface="Calibri" pitchFamily="34" charset="-120"/>
              </a:rPr>
              <a:t>A transformer answers using only the text placed inside its context window, and that window is a fixed size. The model keeps no state of its own between calls. When a conversation ends, every detail the user shared is gone.</a:t>
            </a:r>
            <a:endParaRPr lang="en-US" sz="1450" dirty="0"/>
          </a:p>
        </p:txBody>
      </p:sp>
      <p:sp>
        <p:nvSpPr>
          <p:cNvPr id="5" name="Text 3"/>
          <p:cNvSpPr txBox="1"/>
          <p:nvPr/>
        </p:nvSpPr>
        <p:spPr>
          <a:xfrm>
            <a:off x="566928" y="2761488"/>
            <a:ext cx="5943600" cy="1005840"/>
          </a:xfrm>
          <a:prstGeom prst="rect">
            <a:avLst/>
          </a:prstGeom>
          <a:noFill/>
          <a:ln/>
        </p:spPr>
        <p:txBody>
          <a:bodyPr wrap="square" lIns="0" tIns="0" rIns="0" bIns="0" rtlCol="0" anchor="t"/>
          <a:lstStyle/>
          <a:p>
            <a:pPr indent="0" marL="0">
              <a:lnSpc>
                <a:spcPts val="2100"/>
              </a:lnSpc>
              <a:buNone/>
            </a:pPr>
            <a:r>
              <a:rPr lang="en-US" sz="1450" dirty="0">
                <a:solidFill>
                  <a:srgbClr val="1A1D23"/>
                </a:solidFill>
                <a:latin typeface="Calibri" pitchFamily="34" charset="0"/>
                <a:ea typeface="Calibri" pitchFamily="34" charset="-122"/>
                <a:cs typeface="Calibri" pitchFamily="34" charset="-120"/>
              </a:rPr>
              <a:t>The user is left repeating themselves. The assistant never builds up any picture of who it is talking to, so it cannot give advice that depends on what it was told last week.</a:t>
            </a:r>
            <a:endParaRPr lang="en-US" sz="1450" dirty="0"/>
          </a:p>
        </p:txBody>
      </p:sp>
      <p:sp>
        <p:nvSpPr>
          <p:cNvPr id="6" name="Shape 4"/>
          <p:cNvSpPr/>
          <p:nvPr/>
        </p:nvSpPr>
        <p:spPr>
          <a:xfrm>
            <a:off x="566928" y="3977640"/>
            <a:ext cx="5943600" cy="1481328"/>
          </a:xfrm>
          <a:prstGeom prst="roundRect">
            <a:avLst>
              <a:gd name="adj" fmla="val 6173"/>
            </a:avLst>
          </a:prstGeom>
          <a:solidFill>
            <a:srgbClr val="EEF2FB"/>
          </a:solidFill>
          <a:ln w="9525">
            <a:solidFill>
              <a:srgbClr val="DDE3ED"/>
            </a:solidFill>
            <a:prstDash val="solid"/>
          </a:ln>
        </p:spPr>
      </p:sp>
      <p:sp>
        <p:nvSpPr>
          <p:cNvPr id="7" name="Text 5"/>
          <p:cNvSpPr txBox="1"/>
          <p:nvPr/>
        </p:nvSpPr>
        <p:spPr>
          <a:xfrm>
            <a:off x="822960" y="4160520"/>
            <a:ext cx="5394960" cy="274320"/>
          </a:xfrm>
          <a:prstGeom prst="rect">
            <a:avLst/>
          </a:prstGeom>
          <a:noFill/>
          <a:ln/>
        </p:spPr>
        <p:txBody>
          <a:bodyPr wrap="square" lIns="0" tIns="0" rIns="0" bIns="0" rtlCol="0" anchor="ctr"/>
          <a:lstStyle/>
          <a:p>
            <a:pPr indent="0" marL="0">
              <a:buNone/>
            </a:pPr>
            <a:r>
              <a:rPr lang="en-US" sz="1150" b="1" spc="60" kern="0" dirty="0">
                <a:solidFill>
                  <a:srgbClr val="1E2761"/>
                </a:solidFill>
                <a:latin typeface="Calibri" pitchFamily="34" charset="0"/>
                <a:ea typeface="Calibri" pitchFamily="34" charset="-122"/>
                <a:cs typeface="Calibri" pitchFamily="34" charset="-120"/>
              </a:rPr>
              <a:t>What we were asked to build</a:t>
            </a:r>
            <a:endParaRPr lang="en-US" sz="1150" dirty="0"/>
          </a:p>
        </p:txBody>
      </p:sp>
      <p:sp>
        <p:nvSpPr>
          <p:cNvPr id="8" name="Text 6"/>
          <p:cNvSpPr txBox="1"/>
          <p:nvPr/>
        </p:nvSpPr>
        <p:spPr>
          <a:xfrm>
            <a:off x="822960" y="4462272"/>
            <a:ext cx="5431536" cy="868680"/>
          </a:xfrm>
          <a:prstGeom prst="rect">
            <a:avLst/>
          </a:prstGeom>
          <a:noFill/>
          <a:ln/>
        </p:spPr>
        <p:txBody>
          <a:bodyPr wrap="square" lIns="0" tIns="0" rIns="0" bIns="0" rtlCol="0" anchor="t"/>
          <a:lstStyle/>
          <a:p>
            <a:pPr indent="0" marL="0">
              <a:lnSpc>
                <a:spcPts val="1900"/>
              </a:lnSpc>
              <a:buNone/>
            </a:pPr>
            <a:r>
              <a:rPr lang="en-US" sz="1350" i="1" dirty="0">
                <a:solidFill>
                  <a:srgbClr val="1A1D23"/>
                </a:solidFill>
                <a:latin typeface="Calibri" pitchFamily="34" charset="0"/>
                <a:ea typeface="Calibri" pitchFamily="34" charset="-122"/>
                <a:cs typeface="Calibri" pitchFamily="34" charset="-120"/>
              </a:rPr>
              <a:t>A chatbot that stores past turns and facts in a memory store, retrieves the relevant ones, and uses them to answer new questions across sessions.</a:t>
            </a:r>
            <a:endParaRPr lang="en-US" sz="1350" dirty="0"/>
          </a:p>
        </p:txBody>
      </p:sp>
      <p:sp>
        <p:nvSpPr>
          <p:cNvPr id="9" name="Shape 7"/>
          <p:cNvSpPr/>
          <p:nvPr/>
        </p:nvSpPr>
        <p:spPr>
          <a:xfrm>
            <a:off x="6858000" y="1481328"/>
            <a:ext cx="4773168" cy="3977640"/>
          </a:xfrm>
          <a:prstGeom prst="roundRect">
            <a:avLst>
              <a:gd name="adj" fmla="val 2299"/>
            </a:avLst>
          </a:prstGeom>
          <a:solidFill>
            <a:srgbClr val="F7F9FC"/>
          </a:solidFill>
          <a:ln w="9525">
            <a:solidFill>
              <a:srgbClr val="DDE3ED"/>
            </a:solidFill>
            <a:prstDash val="solid"/>
          </a:ln>
        </p:spPr>
      </p:sp>
      <p:sp>
        <p:nvSpPr>
          <p:cNvPr id="10" name="Text 8"/>
          <p:cNvSpPr txBox="1"/>
          <p:nvPr/>
        </p:nvSpPr>
        <p:spPr>
          <a:xfrm>
            <a:off x="7114032" y="1691640"/>
            <a:ext cx="4206240" cy="274320"/>
          </a:xfrm>
          <a:prstGeom prst="rect">
            <a:avLst/>
          </a:prstGeom>
          <a:noFill/>
          <a:ln/>
        </p:spPr>
        <p:txBody>
          <a:bodyPr wrap="square" lIns="0" tIns="0" rIns="0" bIns="0"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Without a memory layer</a:t>
            </a:r>
            <a:endParaRPr lang="en-US" sz="1200" dirty="0"/>
          </a:p>
        </p:txBody>
      </p:sp>
      <p:sp>
        <p:nvSpPr>
          <p:cNvPr id="11" name="Text 9"/>
          <p:cNvSpPr txBox="1"/>
          <p:nvPr/>
        </p:nvSpPr>
        <p:spPr>
          <a:xfrm>
            <a:off x="7114032" y="2103120"/>
            <a:ext cx="1828800" cy="219456"/>
          </a:xfrm>
          <a:prstGeom prst="rect">
            <a:avLst/>
          </a:prstGeom>
          <a:noFill/>
          <a:ln/>
        </p:spPr>
        <p:txBody>
          <a:bodyPr wrap="square" lIns="0" tIns="0" rIns="0" bIns="0" rtlCol="0" anchor="ctr"/>
          <a:lstStyle/>
          <a:p>
            <a:pPr indent="0" marL="0">
              <a:buNone/>
            </a:pPr>
            <a:r>
              <a:rPr lang="en-US" sz="950" b="1" spc="80" kern="0" dirty="0">
                <a:solidFill>
                  <a:srgbClr val="8B94A3"/>
                </a:solidFill>
                <a:latin typeface="Calibri" pitchFamily="34" charset="0"/>
                <a:ea typeface="Calibri" pitchFamily="34" charset="-122"/>
                <a:cs typeface="Calibri" pitchFamily="34" charset="-120"/>
              </a:rPr>
              <a:t>SESSION 1</a:t>
            </a:r>
            <a:endParaRPr lang="en-US" sz="950" dirty="0"/>
          </a:p>
        </p:txBody>
      </p:sp>
      <p:sp>
        <p:nvSpPr>
          <p:cNvPr id="12" name="Shape 10"/>
          <p:cNvSpPr/>
          <p:nvPr/>
        </p:nvSpPr>
        <p:spPr>
          <a:xfrm>
            <a:off x="7114032" y="2340864"/>
            <a:ext cx="4261104" cy="566928"/>
          </a:xfrm>
          <a:prstGeom prst="roundRect">
            <a:avLst>
              <a:gd name="adj" fmla="val 14516"/>
            </a:avLst>
          </a:prstGeom>
          <a:solidFill>
            <a:srgbClr val="2E3D7A"/>
          </a:solidFill>
          <a:ln w="9525">
            <a:solidFill>
              <a:srgbClr val="2E3D7A"/>
            </a:solidFill>
            <a:prstDash val="solid"/>
          </a:ln>
        </p:spPr>
      </p:sp>
      <p:sp>
        <p:nvSpPr>
          <p:cNvPr id="13" name="Text 11"/>
          <p:cNvSpPr txBox="1"/>
          <p:nvPr/>
        </p:nvSpPr>
        <p:spPr>
          <a:xfrm>
            <a:off x="7260336" y="2340864"/>
            <a:ext cx="402336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 live in Pune and I study AI.</a:t>
            </a:r>
            <a:endParaRPr lang="en-US" sz="1250" dirty="0"/>
          </a:p>
        </p:txBody>
      </p:sp>
      <p:sp>
        <p:nvSpPr>
          <p:cNvPr id="14" name="Text 12"/>
          <p:cNvSpPr txBox="1"/>
          <p:nvPr/>
        </p:nvSpPr>
        <p:spPr>
          <a:xfrm>
            <a:off x="7114032" y="3072384"/>
            <a:ext cx="1828800" cy="219456"/>
          </a:xfrm>
          <a:prstGeom prst="rect">
            <a:avLst/>
          </a:prstGeom>
          <a:noFill/>
          <a:ln/>
        </p:spPr>
        <p:txBody>
          <a:bodyPr wrap="square" lIns="0" tIns="0" rIns="0" bIns="0" rtlCol="0" anchor="ctr"/>
          <a:lstStyle/>
          <a:p>
            <a:pPr indent="0" marL="0">
              <a:buNone/>
            </a:pPr>
            <a:r>
              <a:rPr lang="en-US" sz="950" b="1" spc="80" kern="0" dirty="0">
                <a:solidFill>
                  <a:srgbClr val="8B94A3"/>
                </a:solidFill>
                <a:latin typeface="Calibri" pitchFamily="34" charset="0"/>
                <a:ea typeface="Calibri" pitchFamily="34" charset="-122"/>
                <a:cs typeface="Calibri" pitchFamily="34" charset="-120"/>
              </a:rPr>
              <a:t>SESSION 2</a:t>
            </a:r>
            <a:endParaRPr lang="en-US" sz="950" dirty="0"/>
          </a:p>
        </p:txBody>
      </p:sp>
      <p:sp>
        <p:nvSpPr>
          <p:cNvPr id="15" name="Shape 13"/>
          <p:cNvSpPr/>
          <p:nvPr/>
        </p:nvSpPr>
        <p:spPr>
          <a:xfrm>
            <a:off x="7114032" y="3310128"/>
            <a:ext cx="4261104" cy="566928"/>
          </a:xfrm>
          <a:prstGeom prst="roundRect">
            <a:avLst>
              <a:gd name="adj" fmla="val 14516"/>
            </a:avLst>
          </a:prstGeom>
          <a:solidFill>
            <a:srgbClr val="2E3D7A"/>
          </a:solidFill>
          <a:ln w="9525">
            <a:solidFill>
              <a:srgbClr val="2E3D7A"/>
            </a:solidFill>
            <a:prstDash val="solid"/>
          </a:ln>
        </p:spPr>
      </p:sp>
      <p:sp>
        <p:nvSpPr>
          <p:cNvPr id="16" name="Text 14"/>
          <p:cNvSpPr txBox="1"/>
          <p:nvPr/>
        </p:nvSpPr>
        <p:spPr>
          <a:xfrm>
            <a:off x="7260336" y="3310128"/>
            <a:ext cx="402336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Where do I live?</a:t>
            </a:r>
            <a:endParaRPr lang="en-US" sz="1250" dirty="0"/>
          </a:p>
        </p:txBody>
      </p:sp>
      <p:sp>
        <p:nvSpPr>
          <p:cNvPr id="17" name="Text 15"/>
          <p:cNvSpPr txBox="1"/>
          <p:nvPr/>
        </p:nvSpPr>
        <p:spPr>
          <a:xfrm>
            <a:off x="7114032" y="4041648"/>
            <a:ext cx="1828800" cy="219456"/>
          </a:xfrm>
          <a:prstGeom prst="rect">
            <a:avLst/>
          </a:prstGeom>
          <a:noFill/>
          <a:ln/>
        </p:spPr>
        <p:txBody>
          <a:bodyPr wrap="square" lIns="0" tIns="0" rIns="0" bIns="0" rtlCol="0" anchor="ctr"/>
          <a:lstStyle/>
          <a:p>
            <a:pPr indent="0" marL="0">
              <a:buNone/>
            </a:pPr>
            <a:r>
              <a:rPr lang="en-US" sz="950" b="1" spc="80" kern="0" dirty="0">
                <a:solidFill>
                  <a:srgbClr val="8B94A3"/>
                </a:solidFill>
                <a:latin typeface="Calibri" pitchFamily="34" charset="0"/>
                <a:ea typeface="Calibri" pitchFamily="34" charset="-122"/>
                <a:cs typeface="Calibri" pitchFamily="34" charset="-120"/>
              </a:rPr>
              <a:t>ASSISTANT</a:t>
            </a:r>
            <a:endParaRPr lang="en-US" sz="950" dirty="0"/>
          </a:p>
        </p:txBody>
      </p:sp>
      <p:sp>
        <p:nvSpPr>
          <p:cNvPr id="18" name="Shape 16"/>
          <p:cNvSpPr/>
          <p:nvPr/>
        </p:nvSpPr>
        <p:spPr>
          <a:xfrm>
            <a:off x="7114032" y="4279392"/>
            <a:ext cx="4261104" cy="566928"/>
          </a:xfrm>
          <a:prstGeom prst="roundRect">
            <a:avLst>
              <a:gd name="adj" fmla="val 14516"/>
            </a:avLst>
          </a:prstGeom>
          <a:solidFill>
            <a:srgbClr val="FFFBEB"/>
          </a:solidFill>
          <a:ln w="9525">
            <a:solidFill>
              <a:srgbClr val="F0CE96"/>
            </a:solidFill>
            <a:prstDash val="solid"/>
          </a:ln>
        </p:spPr>
      </p:sp>
      <p:sp>
        <p:nvSpPr>
          <p:cNvPr id="19" name="Text 17"/>
          <p:cNvSpPr txBox="1"/>
          <p:nvPr/>
        </p:nvSpPr>
        <p:spPr>
          <a:xfrm>
            <a:off x="7260336" y="4279392"/>
            <a:ext cx="4023360" cy="566928"/>
          </a:xfrm>
          <a:prstGeom prst="rect">
            <a:avLst/>
          </a:prstGeom>
          <a:noFill/>
          <a:ln/>
        </p:spPr>
        <p:txBody>
          <a:bodyPr wrap="square" lIns="0" tIns="0" rIns="0" bIns="0" rtlCol="0" anchor="ctr"/>
          <a:lstStyle/>
          <a:p>
            <a:pPr indent="0" marL="0">
              <a:buNone/>
            </a:pPr>
            <a:r>
              <a:rPr lang="en-US" sz="1250" dirty="0">
                <a:solidFill>
                  <a:srgbClr val="B45309"/>
                </a:solidFill>
                <a:latin typeface="Calibri" pitchFamily="34" charset="0"/>
                <a:ea typeface="Calibri" pitchFamily="34" charset="-122"/>
                <a:cs typeface="Calibri" pitchFamily="34" charset="-120"/>
              </a:rPr>
              <a:t>I have no record of that.</a:t>
            </a:r>
            <a:endParaRPr lang="en-US" sz="1250" dirty="0"/>
          </a:p>
        </p:txBody>
      </p:sp>
      <p:sp>
        <p:nvSpPr>
          <p:cNvPr id="20" name="Text 18"/>
          <p:cNvSpPr txBox="1"/>
          <p:nvPr/>
        </p:nvSpPr>
        <p:spPr>
          <a:xfrm>
            <a:off x="7114032" y="5074920"/>
            <a:ext cx="4261104" cy="310896"/>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The detail was never stored anywhere, so there is nothing to look up.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GROUNDING AND SCOPE</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this problem already shows up</a:t>
            </a:r>
            <a:endParaRPr lang="en-US" sz="3200" dirty="0"/>
          </a:p>
        </p:txBody>
      </p:sp>
      <p:sp>
        <p:nvSpPr>
          <p:cNvPr id="4" name="Text 2"/>
          <p:cNvSpPr txBox="1"/>
          <p:nvPr/>
        </p:nvSpPr>
        <p:spPr>
          <a:xfrm>
            <a:off x="566928" y="1463040"/>
            <a:ext cx="6492240" cy="310896"/>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Shipped products and published research have both had to solve it.</a:t>
            </a:r>
            <a:endParaRPr lang="en-US" sz="1400" dirty="0"/>
          </a:p>
        </p:txBody>
      </p:sp>
      <p:sp>
        <p:nvSpPr>
          <p:cNvPr id="5" name="Shape 3"/>
          <p:cNvSpPr/>
          <p:nvPr/>
        </p:nvSpPr>
        <p:spPr>
          <a:xfrm>
            <a:off x="566928" y="1975104"/>
            <a:ext cx="6492240" cy="1207008"/>
          </a:xfrm>
          <a:prstGeom prst="roundRect">
            <a:avLst>
              <a:gd name="adj" fmla="val 7576"/>
            </a:avLst>
          </a:prstGeom>
          <a:solidFill>
            <a:srgbClr val="F7F9FC"/>
          </a:solidFill>
          <a:ln w="9525">
            <a:solidFill>
              <a:srgbClr val="DDE3ED"/>
            </a:solidFill>
            <a:prstDash val="solid"/>
          </a:ln>
        </p:spPr>
      </p:sp>
      <p:sp>
        <p:nvSpPr>
          <p:cNvPr id="6" name="Shape 4"/>
          <p:cNvSpPr/>
          <p:nvPr/>
        </p:nvSpPr>
        <p:spPr>
          <a:xfrm>
            <a:off x="804672" y="2194560"/>
            <a:ext cx="384048" cy="384048"/>
          </a:xfrm>
          <a:prstGeom prst="ellipse">
            <a:avLst/>
          </a:prstGeom>
          <a:solidFill>
            <a:srgbClr val="1E2761"/>
          </a:solidFill>
          <a:ln w="12700">
            <a:solidFill>
              <a:srgbClr val="1E2761"/>
            </a:solidFill>
            <a:prstDash val="solid"/>
          </a:ln>
        </p:spPr>
      </p:sp>
      <p:sp>
        <p:nvSpPr>
          <p:cNvPr id="7" name="Text 5"/>
          <p:cNvSpPr txBox="1"/>
          <p:nvPr/>
        </p:nvSpPr>
        <p:spPr>
          <a:xfrm>
            <a:off x="804672" y="219456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1298448" y="2139696"/>
            <a:ext cx="54864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ChatGPT Memory</a:t>
            </a:r>
            <a:endParaRPr lang="en-US" sz="1350" dirty="0"/>
          </a:p>
        </p:txBody>
      </p:sp>
      <p:sp>
        <p:nvSpPr>
          <p:cNvPr id="9" name="Text 7"/>
          <p:cNvSpPr txBox="1"/>
          <p:nvPr/>
        </p:nvSpPr>
        <p:spPr>
          <a:xfrm>
            <a:off x="1298448" y="2432304"/>
            <a:ext cx="5532120" cy="457200"/>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Carries user details between separate conversations instead of starting blank.</a:t>
            </a:r>
            <a:endParaRPr lang="en-US" sz="1150" dirty="0"/>
          </a:p>
        </p:txBody>
      </p:sp>
      <p:sp>
        <p:nvSpPr>
          <p:cNvPr id="10" name="Text 8"/>
          <p:cNvSpPr txBox="1"/>
          <p:nvPr/>
        </p:nvSpPr>
        <p:spPr>
          <a:xfrm>
            <a:off x="1298448" y="2889504"/>
            <a:ext cx="5532120" cy="219456"/>
          </a:xfrm>
          <a:prstGeom prst="rect">
            <a:avLst/>
          </a:prstGeom>
          <a:noFill/>
          <a:ln/>
        </p:spPr>
        <p:txBody>
          <a:bodyPr wrap="square" lIns="0" tIns="0" rIns="0" bIns="0" rtlCol="0" anchor="t"/>
          <a:lstStyle/>
          <a:p>
            <a:pPr indent="0" marL="0">
              <a:buNone/>
            </a:pPr>
            <a:r>
              <a:rPr lang="en-US" sz="950" i="1" dirty="0">
                <a:solidFill>
                  <a:srgbClr val="8B94A3"/>
                </a:solidFill>
                <a:latin typeface="Calibri" pitchFamily="34" charset="0"/>
                <a:ea typeface="Calibri" pitchFamily="34" charset="-122"/>
                <a:cs typeface="Calibri" pitchFamily="34" charset="-120"/>
              </a:rPr>
              <a:t>OpenAI, February 2024</a:t>
            </a:r>
            <a:endParaRPr lang="en-US" sz="950" dirty="0"/>
          </a:p>
        </p:txBody>
      </p:sp>
      <p:sp>
        <p:nvSpPr>
          <p:cNvPr id="11" name="Shape 9"/>
          <p:cNvSpPr/>
          <p:nvPr/>
        </p:nvSpPr>
        <p:spPr>
          <a:xfrm>
            <a:off x="566928" y="3273552"/>
            <a:ext cx="6492240" cy="1207008"/>
          </a:xfrm>
          <a:prstGeom prst="roundRect">
            <a:avLst>
              <a:gd name="adj" fmla="val 7576"/>
            </a:avLst>
          </a:prstGeom>
          <a:solidFill>
            <a:srgbClr val="F7F9FC"/>
          </a:solidFill>
          <a:ln w="9525">
            <a:solidFill>
              <a:srgbClr val="DDE3ED"/>
            </a:solidFill>
            <a:prstDash val="solid"/>
          </a:ln>
        </p:spPr>
      </p:sp>
      <p:sp>
        <p:nvSpPr>
          <p:cNvPr id="12" name="Shape 10"/>
          <p:cNvSpPr/>
          <p:nvPr/>
        </p:nvSpPr>
        <p:spPr>
          <a:xfrm>
            <a:off x="804672" y="3493008"/>
            <a:ext cx="384048" cy="384048"/>
          </a:xfrm>
          <a:prstGeom prst="ellipse">
            <a:avLst/>
          </a:prstGeom>
          <a:solidFill>
            <a:srgbClr val="1E2761"/>
          </a:solidFill>
          <a:ln w="12700">
            <a:solidFill>
              <a:srgbClr val="1E2761"/>
            </a:solidFill>
            <a:prstDash val="solid"/>
          </a:ln>
        </p:spPr>
      </p:sp>
      <p:sp>
        <p:nvSpPr>
          <p:cNvPr id="13" name="Text 11"/>
          <p:cNvSpPr txBox="1"/>
          <p:nvPr/>
        </p:nvSpPr>
        <p:spPr>
          <a:xfrm>
            <a:off x="804672" y="34930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1298448" y="3438144"/>
            <a:ext cx="54864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MemGPT</a:t>
            </a:r>
            <a:endParaRPr lang="en-US" sz="1350" dirty="0"/>
          </a:p>
        </p:txBody>
      </p:sp>
      <p:sp>
        <p:nvSpPr>
          <p:cNvPr id="15" name="Text 13"/>
          <p:cNvSpPr txBox="1"/>
          <p:nvPr/>
        </p:nvSpPr>
        <p:spPr>
          <a:xfrm>
            <a:off x="1298448" y="3730752"/>
            <a:ext cx="5532120" cy="457200"/>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Moves information between a small context and a larger store, the way an operating system moves pages between memory and disk.</a:t>
            </a:r>
            <a:endParaRPr lang="en-US" sz="1150" dirty="0"/>
          </a:p>
        </p:txBody>
      </p:sp>
      <p:sp>
        <p:nvSpPr>
          <p:cNvPr id="16" name="Text 14"/>
          <p:cNvSpPr txBox="1"/>
          <p:nvPr/>
        </p:nvSpPr>
        <p:spPr>
          <a:xfrm>
            <a:off x="1298448" y="4187952"/>
            <a:ext cx="5532120" cy="219456"/>
          </a:xfrm>
          <a:prstGeom prst="rect">
            <a:avLst/>
          </a:prstGeom>
          <a:noFill/>
          <a:ln/>
        </p:spPr>
        <p:txBody>
          <a:bodyPr wrap="square" lIns="0" tIns="0" rIns="0" bIns="0" rtlCol="0" anchor="t"/>
          <a:lstStyle/>
          <a:p>
            <a:pPr indent="0" marL="0">
              <a:buNone/>
            </a:pPr>
            <a:r>
              <a:rPr lang="en-US" sz="950" i="1" dirty="0">
                <a:solidFill>
                  <a:srgbClr val="8B94A3"/>
                </a:solidFill>
                <a:latin typeface="Calibri" pitchFamily="34" charset="0"/>
                <a:ea typeface="Calibri" pitchFamily="34" charset="-122"/>
                <a:cs typeface="Calibri" pitchFamily="34" charset="-120"/>
              </a:rPr>
              <a:t>Packer et al., arXiv:2310.08560, 2023</a:t>
            </a:r>
            <a:endParaRPr lang="en-US" sz="950" dirty="0"/>
          </a:p>
        </p:txBody>
      </p:sp>
      <p:sp>
        <p:nvSpPr>
          <p:cNvPr id="17" name="Shape 15"/>
          <p:cNvSpPr/>
          <p:nvPr/>
        </p:nvSpPr>
        <p:spPr>
          <a:xfrm>
            <a:off x="566928" y="4572000"/>
            <a:ext cx="6492240" cy="1207008"/>
          </a:xfrm>
          <a:prstGeom prst="roundRect">
            <a:avLst>
              <a:gd name="adj" fmla="val 7576"/>
            </a:avLst>
          </a:prstGeom>
          <a:solidFill>
            <a:srgbClr val="F7F9FC"/>
          </a:solidFill>
          <a:ln w="9525">
            <a:solidFill>
              <a:srgbClr val="DDE3ED"/>
            </a:solidFill>
            <a:prstDash val="solid"/>
          </a:ln>
        </p:spPr>
      </p:sp>
      <p:sp>
        <p:nvSpPr>
          <p:cNvPr id="18" name="Shape 16"/>
          <p:cNvSpPr/>
          <p:nvPr/>
        </p:nvSpPr>
        <p:spPr>
          <a:xfrm>
            <a:off x="804672" y="4791456"/>
            <a:ext cx="384048" cy="384048"/>
          </a:xfrm>
          <a:prstGeom prst="ellipse">
            <a:avLst/>
          </a:prstGeom>
          <a:solidFill>
            <a:srgbClr val="1E2761"/>
          </a:solidFill>
          <a:ln w="12700">
            <a:solidFill>
              <a:srgbClr val="1E2761"/>
            </a:solidFill>
            <a:prstDash val="solid"/>
          </a:ln>
        </p:spPr>
      </p:sp>
      <p:sp>
        <p:nvSpPr>
          <p:cNvPr id="19" name="Text 17"/>
          <p:cNvSpPr txBox="1"/>
          <p:nvPr/>
        </p:nvSpPr>
        <p:spPr>
          <a:xfrm>
            <a:off x="804672" y="47914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8"/>
          <p:cNvSpPr txBox="1"/>
          <p:nvPr/>
        </p:nvSpPr>
        <p:spPr>
          <a:xfrm>
            <a:off x="1298448" y="4736592"/>
            <a:ext cx="54864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Mem0</a:t>
            </a:r>
            <a:endParaRPr lang="en-US" sz="1350" dirty="0"/>
          </a:p>
        </p:txBody>
      </p:sp>
      <p:sp>
        <p:nvSpPr>
          <p:cNvPr id="21" name="Text 19"/>
          <p:cNvSpPr txBox="1"/>
          <p:nvPr/>
        </p:nvSpPr>
        <p:spPr>
          <a:xfrm>
            <a:off x="1298448" y="5029200"/>
            <a:ext cx="5532120" cy="457200"/>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An open source memory layer that keeps user facts between sessions.</a:t>
            </a:r>
            <a:endParaRPr lang="en-US" sz="1150" dirty="0"/>
          </a:p>
        </p:txBody>
      </p:sp>
      <p:sp>
        <p:nvSpPr>
          <p:cNvPr id="22" name="Text 20"/>
          <p:cNvSpPr txBox="1"/>
          <p:nvPr/>
        </p:nvSpPr>
        <p:spPr>
          <a:xfrm>
            <a:off x="1298448" y="5486400"/>
            <a:ext cx="5532120" cy="219456"/>
          </a:xfrm>
          <a:prstGeom prst="rect">
            <a:avLst/>
          </a:prstGeom>
          <a:noFill/>
          <a:ln/>
        </p:spPr>
        <p:txBody>
          <a:bodyPr wrap="square" lIns="0" tIns="0" rIns="0" bIns="0" rtlCol="0" anchor="t"/>
          <a:lstStyle/>
          <a:p>
            <a:pPr indent="0" marL="0">
              <a:buNone/>
            </a:pPr>
            <a:r>
              <a:rPr lang="en-US" sz="950" i="1" dirty="0">
                <a:solidFill>
                  <a:srgbClr val="8B94A3"/>
                </a:solidFill>
                <a:latin typeface="Calibri" pitchFamily="34" charset="0"/>
                <a:ea typeface="Calibri" pitchFamily="34" charset="-122"/>
                <a:cs typeface="Calibri" pitchFamily="34" charset="-120"/>
              </a:rPr>
              <a:t>github.com/mem0ai/mem0</a:t>
            </a:r>
            <a:endParaRPr lang="en-US" sz="950" dirty="0"/>
          </a:p>
        </p:txBody>
      </p:sp>
      <p:sp>
        <p:nvSpPr>
          <p:cNvPr id="23" name="Shape 21"/>
          <p:cNvSpPr/>
          <p:nvPr/>
        </p:nvSpPr>
        <p:spPr>
          <a:xfrm>
            <a:off x="7370064" y="1463040"/>
            <a:ext cx="4261104" cy="3986784"/>
          </a:xfrm>
          <a:prstGeom prst="roundRect">
            <a:avLst>
              <a:gd name="adj" fmla="val 2294"/>
            </a:avLst>
          </a:prstGeom>
          <a:solidFill>
            <a:srgbClr val="EEF2FB"/>
          </a:solidFill>
          <a:ln w="9525">
            <a:solidFill>
              <a:srgbClr val="DDE3ED"/>
            </a:solidFill>
            <a:prstDash val="solid"/>
          </a:ln>
        </p:spPr>
      </p:sp>
      <p:sp>
        <p:nvSpPr>
          <p:cNvPr id="24" name="Text 22"/>
          <p:cNvSpPr txBox="1"/>
          <p:nvPr/>
        </p:nvSpPr>
        <p:spPr>
          <a:xfrm>
            <a:off x="7626096" y="1682496"/>
            <a:ext cx="37490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our system had to do</a:t>
            </a:r>
            <a:endParaRPr lang="en-US" sz="1350" dirty="0"/>
          </a:p>
        </p:txBody>
      </p:sp>
      <p:sp>
        <p:nvSpPr>
          <p:cNvPr id="25" name="Shape 23"/>
          <p:cNvSpPr/>
          <p:nvPr/>
        </p:nvSpPr>
        <p:spPr>
          <a:xfrm>
            <a:off x="7644384" y="2258568"/>
            <a:ext cx="118872" cy="118872"/>
          </a:xfrm>
          <a:prstGeom prst="ellipse">
            <a:avLst/>
          </a:prstGeom>
          <a:solidFill>
            <a:srgbClr val="047857"/>
          </a:solidFill>
          <a:ln w="12700">
            <a:solidFill>
              <a:srgbClr val="047857"/>
            </a:solidFill>
            <a:prstDash val="solid"/>
          </a:ln>
        </p:spPr>
      </p:sp>
      <p:sp>
        <p:nvSpPr>
          <p:cNvPr id="26" name="Text 24"/>
          <p:cNvSpPr txBox="1"/>
          <p:nvPr/>
        </p:nvSpPr>
        <p:spPr>
          <a:xfrm>
            <a:off x="7918704" y="2139696"/>
            <a:ext cx="3493008" cy="640080"/>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Store the raw messages and the facts inside them</a:t>
            </a:r>
            <a:endParaRPr lang="en-US" sz="1250" dirty="0"/>
          </a:p>
        </p:txBody>
      </p:sp>
      <p:sp>
        <p:nvSpPr>
          <p:cNvPr id="27" name="Shape 25"/>
          <p:cNvSpPr/>
          <p:nvPr/>
        </p:nvSpPr>
        <p:spPr>
          <a:xfrm>
            <a:off x="7644384" y="2898648"/>
            <a:ext cx="118872" cy="118872"/>
          </a:xfrm>
          <a:prstGeom prst="ellipse">
            <a:avLst/>
          </a:prstGeom>
          <a:solidFill>
            <a:srgbClr val="047857"/>
          </a:solidFill>
          <a:ln w="12700">
            <a:solidFill>
              <a:srgbClr val="047857"/>
            </a:solidFill>
            <a:prstDash val="solid"/>
          </a:ln>
        </p:spPr>
      </p:sp>
      <p:sp>
        <p:nvSpPr>
          <p:cNvPr id="28" name="Text 26"/>
          <p:cNvSpPr txBox="1"/>
          <p:nvPr/>
        </p:nvSpPr>
        <p:spPr>
          <a:xfrm>
            <a:off x="7918704" y="2779776"/>
            <a:ext cx="3493008" cy="640080"/>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Retrieve by meaning rather than by matching words</a:t>
            </a:r>
            <a:endParaRPr lang="en-US" sz="1250" dirty="0"/>
          </a:p>
        </p:txBody>
      </p:sp>
      <p:sp>
        <p:nvSpPr>
          <p:cNvPr id="29" name="Shape 27"/>
          <p:cNvSpPr/>
          <p:nvPr/>
        </p:nvSpPr>
        <p:spPr>
          <a:xfrm>
            <a:off x="7644384" y="3538728"/>
            <a:ext cx="118872" cy="118872"/>
          </a:xfrm>
          <a:prstGeom prst="ellipse">
            <a:avLst/>
          </a:prstGeom>
          <a:solidFill>
            <a:srgbClr val="047857"/>
          </a:solidFill>
          <a:ln w="12700">
            <a:solidFill>
              <a:srgbClr val="047857"/>
            </a:solidFill>
            <a:prstDash val="solid"/>
          </a:ln>
        </p:spPr>
      </p:sp>
      <p:sp>
        <p:nvSpPr>
          <p:cNvPr id="30" name="Text 28"/>
          <p:cNvSpPr txBox="1"/>
          <p:nvPr/>
        </p:nvSpPr>
        <p:spPr>
          <a:xfrm>
            <a:off x="7918704" y="3419856"/>
            <a:ext cx="3493008" cy="640080"/>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Recall details after the program has been closed</a:t>
            </a:r>
            <a:endParaRPr lang="en-US" sz="1250" dirty="0"/>
          </a:p>
        </p:txBody>
      </p:sp>
      <p:sp>
        <p:nvSpPr>
          <p:cNvPr id="31" name="Shape 29"/>
          <p:cNvSpPr/>
          <p:nvPr/>
        </p:nvSpPr>
        <p:spPr>
          <a:xfrm>
            <a:off x="7644384" y="4178808"/>
            <a:ext cx="118872" cy="118872"/>
          </a:xfrm>
          <a:prstGeom prst="ellipse">
            <a:avLst/>
          </a:prstGeom>
          <a:solidFill>
            <a:srgbClr val="047857"/>
          </a:solidFill>
          <a:ln w="12700">
            <a:solidFill>
              <a:srgbClr val="047857"/>
            </a:solidFill>
            <a:prstDash val="solid"/>
          </a:ln>
        </p:spPr>
      </p:sp>
      <p:sp>
        <p:nvSpPr>
          <p:cNvPr id="32" name="Text 30"/>
          <p:cNvSpPr txBox="1"/>
          <p:nvPr/>
        </p:nvSpPr>
        <p:spPr>
          <a:xfrm>
            <a:off x="7918704" y="4059936"/>
            <a:ext cx="3493008" cy="640080"/>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Replace a fact as soon as it is contradicted</a:t>
            </a:r>
            <a:endParaRPr lang="en-US" sz="1250" dirty="0"/>
          </a:p>
        </p:txBody>
      </p:sp>
      <p:sp>
        <p:nvSpPr>
          <p:cNvPr id="33" name="Shape 31"/>
          <p:cNvSpPr/>
          <p:nvPr/>
        </p:nvSpPr>
        <p:spPr>
          <a:xfrm>
            <a:off x="7644384" y="4818888"/>
            <a:ext cx="118872" cy="118872"/>
          </a:xfrm>
          <a:prstGeom prst="ellipse">
            <a:avLst/>
          </a:prstGeom>
          <a:solidFill>
            <a:srgbClr val="047857"/>
          </a:solidFill>
          <a:ln w="12700">
            <a:solidFill>
              <a:srgbClr val="047857"/>
            </a:solidFill>
            <a:prstDash val="solid"/>
          </a:ln>
        </p:spPr>
      </p:sp>
      <p:sp>
        <p:nvSpPr>
          <p:cNvPr id="34" name="Text 32"/>
          <p:cNvSpPr txBox="1"/>
          <p:nvPr/>
        </p:nvSpPr>
        <p:spPr>
          <a:xfrm>
            <a:off x="7918704" y="4700016"/>
            <a:ext cx="3493008" cy="640080"/>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Strip personal details before anything is written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one message travels through the system</a:t>
            </a:r>
            <a:endParaRPr lang="en-US" sz="3200" dirty="0"/>
          </a:p>
        </p:txBody>
      </p:sp>
      <p:sp>
        <p:nvSpPr>
          <p:cNvPr id="4" name="Shape 2"/>
          <p:cNvSpPr/>
          <p:nvPr/>
        </p:nvSpPr>
        <p:spPr>
          <a:xfrm>
            <a:off x="566928" y="1874520"/>
            <a:ext cx="1700784" cy="1371600"/>
          </a:xfrm>
          <a:prstGeom prst="roundRect">
            <a:avLst>
              <a:gd name="adj" fmla="val 6667"/>
            </a:avLst>
          </a:prstGeom>
          <a:solidFill>
            <a:srgbClr val="F7F9FC"/>
          </a:solidFill>
          <a:ln w="9525">
            <a:solidFill>
              <a:srgbClr val="DDE3ED"/>
            </a:solidFill>
            <a:prstDash val="solid"/>
          </a:ln>
        </p:spPr>
      </p:sp>
      <p:sp>
        <p:nvSpPr>
          <p:cNvPr id="5" name="Text 3"/>
          <p:cNvSpPr txBox="1"/>
          <p:nvPr/>
        </p:nvSpPr>
        <p:spPr>
          <a:xfrm>
            <a:off x="658368" y="2148840"/>
            <a:ext cx="1517904" cy="38404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User message</a:t>
            </a:r>
            <a:endParaRPr lang="en-US" sz="1250" dirty="0"/>
          </a:p>
        </p:txBody>
      </p:sp>
      <p:sp>
        <p:nvSpPr>
          <p:cNvPr id="6" name="Text 4"/>
          <p:cNvSpPr txBox="1"/>
          <p:nvPr/>
        </p:nvSpPr>
        <p:spPr>
          <a:xfrm>
            <a:off x="640080"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5B6472"/>
                </a:solidFill>
                <a:latin typeface="Calibri" pitchFamily="34" charset="0"/>
                <a:ea typeface="Calibri" pitchFamily="34" charset="-122"/>
                <a:cs typeface="Calibri" pitchFamily="34" charset="-120"/>
              </a:rPr>
              <a:t>Typed in the browser</a:t>
            </a:r>
            <a:endParaRPr lang="en-US" sz="1000" dirty="0"/>
          </a:p>
        </p:txBody>
      </p:sp>
      <p:sp>
        <p:nvSpPr>
          <p:cNvPr id="7" name="Shape 5"/>
          <p:cNvSpPr/>
          <p:nvPr/>
        </p:nvSpPr>
        <p:spPr>
          <a:xfrm>
            <a:off x="2272284" y="2478024"/>
            <a:ext cx="219456" cy="164592"/>
          </a:xfrm>
          <a:prstGeom prst="rightArrow">
            <a:avLst/>
          </a:prstGeom>
          <a:solidFill>
            <a:srgbClr val="8B94A3"/>
          </a:solidFill>
          <a:ln w="12700">
            <a:solidFill>
              <a:srgbClr val="8B94A3"/>
            </a:solidFill>
            <a:prstDash val="solid"/>
          </a:ln>
        </p:spPr>
      </p:sp>
      <p:sp>
        <p:nvSpPr>
          <p:cNvPr id="8" name="Shape 6"/>
          <p:cNvSpPr/>
          <p:nvPr/>
        </p:nvSpPr>
        <p:spPr>
          <a:xfrm>
            <a:off x="2386584" y="1874520"/>
            <a:ext cx="1700784" cy="1371600"/>
          </a:xfrm>
          <a:prstGeom prst="roundRect">
            <a:avLst>
              <a:gd name="adj" fmla="val 6667"/>
            </a:avLst>
          </a:prstGeom>
          <a:solidFill>
            <a:srgbClr val="F7F9FC"/>
          </a:solidFill>
          <a:ln w="9525">
            <a:solidFill>
              <a:srgbClr val="DDE3ED"/>
            </a:solidFill>
            <a:prstDash val="solid"/>
          </a:ln>
        </p:spPr>
      </p:sp>
      <p:sp>
        <p:nvSpPr>
          <p:cNvPr id="9" name="Text 7"/>
          <p:cNvSpPr txBox="1"/>
          <p:nvPr/>
        </p:nvSpPr>
        <p:spPr>
          <a:xfrm>
            <a:off x="2478024" y="2148840"/>
            <a:ext cx="1517904" cy="38404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Fact extraction</a:t>
            </a:r>
            <a:endParaRPr lang="en-US" sz="1250" dirty="0"/>
          </a:p>
        </p:txBody>
      </p:sp>
      <p:sp>
        <p:nvSpPr>
          <p:cNvPr id="10" name="Text 8"/>
          <p:cNvSpPr txBox="1"/>
          <p:nvPr/>
        </p:nvSpPr>
        <p:spPr>
          <a:xfrm>
            <a:off x="2459736"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5B6472"/>
                </a:solidFill>
                <a:latin typeface="Calibri" pitchFamily="34" charset="0"/>
                <a:ea typeface="Calibri" pitchFamily="34" charset="-122"/>
                <a:cs typeface="Calibri" pitchFamily="34" charset="-120"/>
              </a:rPr>
              <a:t>DeepSeek v4 Flash</a:t>
            </a:r>
            <a:endParaRPr lang="en-US" sz="1000" dirty="0"/>
          </a:p>
        </p:txBody>
      </p:sp>
      <p:sp>
        <p:nvSpPr>
          <p:cNvPr id="11" name="Shape 9"/>
          <p:cNvSpPr/>
          <p:nvPr/>
        </p:nvSpPr>
        <p:spPr>
          <a:xfrm>
            <a:off x="4091940" y="2478024"/>
            <a:ext cx="219456" cy="164592"/>
          </a:xfrm>
          <a:prstGeom prst="rightArrow">
            <a:avLst/>
          </a:prstGeom>
          <a:solidFill>
            <a:srgbClr val="8B94A3"/>
          </a:solidFill>
          <a:ln w="12700">
            <a:solidFill>
              <a:srgbClr val="8B94A3"/>
            </a:solidFill>
            <a:prstDash val="solid"/>
          </a:ln>
        </p:spPr>
      </p:sp>
      <p:sp>
        <p:nvSpPr>
          <p:cNvPr id="12" name="Shape 10"/>
          <p:cNvSpPr/>
          <p:nvPr/>
        </p:nvSpPr>
        <p:spPr>
          <a:xfrm>
            <a:off x="4206240" y="1874520"/>
            <a:ext cx="1700784" cy="1371600"/>
          </a:xfrm>
          <a:prstGeom prst="roundRect">
            <a:avLst>
              <a:gd name="adj" fmla="val 6667"/>
            </a:avLst>
          </a:prstGeom>
          <a:solidFill>
            <a:srgbClr val="1E2761"/>
          </a:solidFill>
          <a:ln w="9525">
            <a:solidFill>
              <a:srgbClr val="1E2761"/>
            </a:solidFill>
            <a:prstDash val="solid"/>
          </a:ln>
        </p:spPr>
      </p:sp>
      <p:sp>
        <p:nvSpPr>
          <p:cNvPr id="13" name="Text 11"/>
          <p:cNvSpPr txBox="1"/>
          <p:nvPr/>
        </p:nvSpPr>
        <p:spPr>
          <a:xfrm>
            <a:off x="4297680" y="2148840"/>
            <a:ext cx="151790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Memory store</a:t>
            </a:r>
            <a:endParaRPr lang="en-US" sz="1250" dirty="0"/>
          </a:p>
        </p:txBody>
      </p:sp>
      <p:sp>
        <p:nvSpPr>
          <p:cNvPr id="14" name="Text 12"/>
          <p:cNvSpPr txBox="1"/>
          <p:nvPr/>
        </p:nvSpPr>
        <p:spPr>
          <a:xfrm>
            <a:off x="4279392"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BFCCEC"/>
                </a:solidFill>
                <a:latin typeface="Calibri" pitchFamily="34" charset="0"/>
                <a:ea typeface="Calibri" pitchFamily="34" charset="-122"/>
                <a:cs typeface="Calibri" pitchFamily="34" charset="-120"/>
              </a:rPr>
              <a:t>ChromaDB on disk</a:t>
            </a:r>
            <a:endParaRPr lang="en-US" sz="1000" dirty="0"/>
          </a:p>
        </p:txBody>
      </p:sp>
      <p:sp>
        <p:nvSpPr>
          <p:cNvPr id="15" name="Shape 13"/>
          <p:cNvSpPr/>
          <p:nvPr/>
        </p:nvSpPr>
        <p:spPr>
          <a:xfrm>
            <a:off x="5911596" y="2478024"/>
            <a:ext cx="219456" cy="164592"/>
          </a:xfrm>
          <a:prstGeom prst="rightArrow">
            <a:avLst/>
          </a:prstGeom>
          <a:solidFill>
            <a:srgbClr val="8B94A3"/>
          </a:solidFill>
          <a:ln w="12700">
            <a:solidFill>
              <a:srgbClr val="8B94A3"/>
            </a:solidFill>
            <a:prstDash val="solid"/>
          </a:ln>
        </p:spPr>
      </p:sp>
      <p:sp>
        <p:nvSpPr>
          <p:cNvPr id="16" name="Shape 14"/>
          <p:cNvSpPr/>
          <p:nvPr/>
        </p:nvSpPr>
        <p:spPr>
          <a:xfrm>
            <a:off x="6025896" y="1874520"/>
            <a:ext cx="1700784" cy="1371600"/>
          </a:xfrm>
          <a:prstGeom prst="roundRect">
            <a:avLst>
              <a:gd name="adj" fmla="val 6667"/>
            </a:avLst>
          </a:prstGeom>
          <a:solidFill>
            <a:srgbClr val="F7F9FC"/>
          </a:solidFill>
          <a:ln w="9525">
            <a:solidFill>
              <a:srgbClr val="DDE3ED"/>
            </a:solidFill>
            <a:prstDash val="solid"/>
          </a:ln>
        </p:spPr>
      </p:sp>
      <p:sp>
        <p:nvSpPr>
          <p:cNvPr id="17" name="Text 15"/>
          <p:cNvSpPr txBox="1"/>
          <p:nvPr/>
        </p:nvSpPr>
        <p:spPr>
          <a:xfrm>
            <a:off x="6117336" y="2148840"/>
            <a:ext cx="1517904" cy="38404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Retrieval</a:t>
            </a:r>
            <a:endParaRPr lang="en-US" sz="1250" dirty="0"/>
          </a:p>
        </p:txBody>
      </p:sp>
      <p:sp>
        <p:nvSpPr>
          <p:cNvPr id="18" name="Text 16"/>
          <p:cNvSpPr txBox="1"/>
          <p:nvPr/>
        </p:nvSpPr>
        <p:spPr>
          <a:xfrm>
            <a:off x="6099048"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5B6472"/>
                </a:solidFill>
                <a:latin typeface="Calibri" pitchFamily="34" charset="0"/>
                <a:ea typeface="Calibri" pitchFamily="34" charset="-122"/>
                <a:cs typeface="Calibri" pitchFamily="34" charset="-120"/>
              </a:rPr>
              <a:t>Cosine and recency</a:t>
            </a:r>
            <a:endParaRPr lang="en-US" sz="1000" dirty="0"/>
          </a:p>
        </p:txBody>
      </p:sp>
      <p:sp>
        <p:nvSpPr>
          <p:cNvPr id="19" name="Shape 17"/>
          <p:cNvSpPr/>
          <p:nvPr/>
        </p:nvSpPr>
        <p:spPr>
          <a:xfrm>
            <a:off x="7731252" y="2478024"/>
            <a:ext cx="219456" cy="164592"/>
          </a:xfrm>
          <a:prstGeom prst="rightArrow">
            <a:avLst/>
          </a:prstGeom>
          <a:solidFill>
            <a:srgbClr val="8B94A3"/>
          </a:solidFill>
          <a:ln w="12700">
            <a:solidFill>
              <a:srgbClr val="8B94A3"/>
            </a:solidFill>
            <a:prstDash val="solid"/>
          </a:ln>
        </p:spPr>
      </p:sp>
      <p:sp>
        <p:nvSpPr>
          <p:cNvPr id="20" name="Shape 18"/>
          <p:cNvSpPr/>
          <p:nvPr/>
        </p:nvSpPr>
        <p:spPr>
          <a:xfrm>
            <a:off x="7845552" y="1874520"/>
            <a:ext cx="1700784" cy="1371600"/>
          </a:xfrm>
          <a:prstGeom prst="roundRect">
            <a:avLst>
              <a:gd name="adj" fmla="val 6667"/>
            </a:avLst>
          </a:prstGeom>
          <a:solidFill>
            <a:srgbClr val="F7F9FC"/>
          </a:solidFill>
          <a:ln w="9525">
            <a:solidFill>
              <a:srgbClr val="DDE3ED"/>
            </a:solidFill>
            <a:prstDash val="solid"/>
          </a:ln>
        </p:spPr>
      </p:sp>
      <p:sp>
        <p:nvSpPr>
          <p:cNvPr id="21" name="Text 19"/>
          <p:cNvSpPr txBox="1"/>
          <p:nvPr/>
        </p:nvSpPr>
        <p:spPr>
          <a:xfrm>
            <a:off x="7936992" y="2148840"/>
            <a:ext cx="1517904" cy="38404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Prompt assembly</a:t>
            </a:r>
            <a:endParaRPr lang="en-US" sz="1250" dirty="0"/>
          </a:p>
        </p:txBody>
      </p:sp>
      <p:sp>
        <p:nvSpPr>
          <p:cNvPr id="22" name="Text 20"/>
          <p:cNvSpPr txBox="1"/>
          <p:nvPr/>
        </p:nvSpPr>
        <p:spPr>
          <a:xfrm>
            <a:off x="7918704"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5B6472"/>
                </a:solidFill>
                <a:latin typeface="Calibri" pitchFamily="34" charset="0"/>
                <a:ea typeface="Calibri" pitchFamily="34" charset="-122"/>
                <a:cs typeface="Calibri" pitchFamily="34" charset="-120"/>
              </a:rPr>
              <a:t>Memories in system text</a:t>
            </a:r>
            <a:endParaRPr lang="en-US" sz="1000" dirty="0"/>
          </a:p>
        </p:txBody>
      </p:sp>
      <p:sp>
        <p:nvSpPr>
          <p:cNvPr id="23" name="Shape 21"/>
          <p:cNvSpPr/>
          <p:nvPr/>
        </p:nvSpPr>
        <p:spPr>
          <a:xfrm>
            <a:off x="9550908" y="2478024"/>
            <a:ext cx="219456" cy="164592"/>
          </a:xfrm>
          <a:prstGeom prst="rightArrow">
            <a:avLst/>
          </a:prstGeom>
          <a:solidFill>
            <a:srgbClr val="8B94A3"/>
          </a:solidFill>
          <a:ln w="12700">
            <a:solidFill>
              <a:srgbClr val="8B94A3"/>
            </a:solidFill>
            <a:prstDash val="solid"/>
          </a:ln>
        </p:spPr>
      </p:sp>
      <p:sp>
        <p:nvSpPr>
          <p:cNvPr id="24" name="Shape 22"/>
          <p:cNvSpPr/>
          <p:nvPr/>
        </p:nvSpPr>
        <p:spPr>
          <a:xfrm>
            <a:off x="9665208" y="1874520"/>
            <a:ext cx="1700784" cy="1371600"/>
          </a:xfrm>
          <a:prstGeom prst="roundRect">
            <a:avLst>
              <a:gd name="adj" fmla="val 6667"/>
            </a:avLst>
          </a:prstGeom>
          <a:solidFill>
            <a:srgbClr val="F7F9FC"/>
          </a:solidFill>
          <a:ln w="9525">
            <a:solidFill>
              <a:srgbClr val="DDE3ED"/>
            </a:solidFill>
            <a:prstDash val="solid"/>
          </a:ln>
        </p:spPr>
      </p:sp>
      <p:sp>
        <p:nvSpPr>
          <p:cNvPr id="25" name="Text 23"/>
          <p:cNvSpPr txBox="1"/>
          <p:nvPr/>
        </p:nvSpPr>
        <p:spPr>
          <a:xfrm>
            <a:off x="9756648" y="2148840"/>
            <a:ext cx="1517904" cy="38404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Reply</a:t>
            </a:r>
            <a:endParaRPr lang="en-US" sz="1250" dirty="0"/>
          </a:p>
        </p:txBody>
      </p:sp>
      <p:sp>
        <p:nvSpPr>
          <p:cNvPr id="26" name="Text 24"/>
          <p:cNvSpPr txBox="1"/>
          <p:nvPr/>
        </p:nvSpPr>
        <p:spPr>
          <a:xfrm>
            <a:off x="9738360" y="2569464"/>
            <a:ext cx="1554480" cy="457200"/>
          </a:xfrm>
          <a:prstGeom prst="rect">
            <a:avLst/>
          </a:prstGeom>
          <a:noFill/>
          <a:ln/>
        </p:spPr>
        <p:txBody>
          <a:bodyPr wrap="square" lIns="0" tIns="0" rIns="0" bIns="0" rtlCol="0" anchor="t"/>
          <a:lstStyle/>
          <a:p>
            <a:pPr algn="ctr" indent="0" marL="0">
              <a:lnSpc>
                <a:spcPts val="1300"/>
              </a:lnSpc>
              <a:buNone/>
            </a:pPr>
            <a:r>
              <a:rPr lang="en-US" sz="1000" dirty="0">
                <a:solidFill>
                  <a:srgbClr val="5B6472"/>
                </a:solidFill>
                <a:latin typeface="Calibri" pitchFamily="34" charset="0"/>
                <a:ea typeface="Calibri" pitchFamily="34" charset="-122"/>
                <a:cs typeface="Calibri" pitchFamily="34" charset="-120"/>
              </a:rPr>
              <a:t>DeepSeek v4 Flash</a:t>
            </a:r>
            <a:endParaRPr lang="en-US" sz="1000" dirty="0"/>
          </a:p>
        </p:txBody>
      </p:sp>
      <p:sp>
        <p:nvSpPr>
          <p:cNvPr id="27" name="Text 25"/>
          <p:cNvSpPr txBox="1"/>
          <p:nvPr/>
        </p:nvSpPr>
        <p:spPr>
          <a:xfrm>
            <a:off x="566928" y="3364992"/>
            <a:ext cx="7315200"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Every message follows the same six stages.</a:t>
            </a:r>
            <a:endParaRPr lang="en-US" sz="1050" dirty="0"/>
          </a:p>
        </p:txBody>
      </p:sp>
      <p:sp>
        <p:nvSpPr>
          <p:cNvPr id="28" name="Shape 26"/>
          <p:cNvSpPr/>
          <p:nvPr/>
        </p:nvSpPr>
        <p:spPr>
          <a:xfrm>
            <a:off x="566928" y="3895344"/>
            <a:ext cx="118872" cy="118872"/>
          </a:xfrm>
          <a:prstGeom prst="ellipse">
            <a:avLst/>
          </a:prstGeom>
          <a:solidFill>
            <a:srgbClr val="1E2761"/>
          </a:solidFill>
          <a:ln w="12700">
            <a:solidFill>
              <a:srgbClr val="1E2761"/>
            </a:solidFill>
            <a:prstDash val="solid"/>
          </a:ln>
        </p:spPr>
      </p:sp>
      <p:sp>
        <p:nvSpPr>
          <p:cNvPr id="29" name="Text 27"/>
          <p:cNvSpPr txBox="1"/>
          <p:nvPr/>
        </p:nvSpPr>
        <p:spPr>
          <a:xfrm>
            <a:off x="841248" y="3822192"/>
            <a:ext cx="1042416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Embeddings never leave this machine</a:t>
            </a:r>
            <a:endParaRPr lang="en-US" sz="1300" dirty="0"/>
          </a:p>
        </p:txBody>
      </p:sp>
      <p:sp>
        <p:nvSpPr>
          <p:cNvPr id="30" name="Text 28"/>
          <p:cNvSpPr txBox="1"/>
          <p:nvPr/>
        </p:nvSpPr>
        <p:spPr>
          <a:xfrm>
            <a:off x="841248" y="4096512"/>
            <a:ext cx="10424160" cy="384048"/>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The model that turns text into numbers runs locally, so stored memories are never sent to an API. Only the current message and the few memories retrieved for it are sent.</a:t>
            </a:r>
            <a:endParaRPr lang="en-US" sz="1200" dirty="0"/>
          </a:p>
        </p:txBody>
      </p:sp>
      <p:sp>
        <p:nvSpPr>
          <p:cNvPr id="31" name="Shape 29"/>
          <p:cNvSpPr/>
          <p:nvPr/>
        </p:nvSpPr>
        <p:spPr>
          <a:xfrm>
            <a:off x="566928" y="4626864"/>
            <a:ext cx="118872" cy="118872"/>
          </a:xfrm>
          <a:prstGeom prst="ellipse">
            <a:avLst/>
          </a:prstGeom>
          <a:solidFill>
            <a:srgbClr val="1E2761"/>
          </a:solidFill>
          <a:ln w="12700">
            <a:solidFill>
              <a:srgbClr val="1E2761"/>
            </a:solidFill>
            <a:prstDash val="solid"/>
          </a:ln>
        </p:spPr>
      </p:sp>
      <p:sp>
        <p:nvSpPr>
          <p:cNvPr id="32" name="Text 30"/>
          <p:cNvSpPr txBox="1"/>
          <p:nvPr/>
        </p:nvSpPr>
        <p:spPr>
          <a:xfrm>
            <a:off x="841248" y="4553712"/>
            <a:ext cx="1042416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store is asked to filter, not just to search</a:t>
            </a:r>
            <a:endParaRPr lang="en-US" sz="1300" dirty="0"/>
          </a:p>
        </p:txBody>
      </p:sp>
      <p:sp>
        <p:nvSpPr>
          <p:cNvPr id="33" name="Text 31"/>
          <p:cNvSpPr txBox="1"/>
          <p:nvPr/>
        </p:nvSpPr>
        <p:spPr>
          <a:xfrm>
            <a:off x="841248" y="4828032"/>
            <a:ext cx="10424160" cy="384048"/>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Replaced facts are excluded by the database during the search, so they are never candidates in the first place.</a:t>
            </a:r>
            <a:endParaRPr lang="en-US" sz="1200" dirty="0"/>
          </a:p>
        </p:txBody>
      </p:sp>
      <p:sp>
        <p:nvSpPr>
          <p:cNvPr id="34" name="Shape 32"/>
          <p:cNvSpPr/>
          <p:nvPr/>
        </p:nvSpPr>
        <p:spPr>
          <a:xfrm>
            <a:off x="566928" y="5358384"/>
            <a:ext cx="118872" cy="118872"/>
          </a:xfrm>
          <a:prstGeom prst="ellipse">
            <a:avLst/>
          </a:prstGeom>
          <a:solidFill>
            <a:srgbClr val="1E2761"/>
          </a:solidFill>
          <a:ln w="12700">
            <a:solidFill>
              <a:srgbClr val="1E2761"/>
            </a:solidFill>
            <a:prstDash val="solid"/>
          </a:ln>
        </p:spPr>
      </p:sp>
      <p:sp>
        <p:nvSpPr>
          <p:cNvPr id="35" name="Text 33"/>
          <p:cNvSpPr txBox="1"/>
          <p:nvPr/>
        </p:nvSpPr>
        <p:spPr>
          <a:xfrm>
            <a:off x="841248" y="5285232"/>
            <a:ext cx="1042416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database can be swapped</a:t>
            </a:r>
            <a:endParaRPr lang="en-US" sz="1300" dirty="0"/>
          </a:p>
        </p:txBody>
      </p:sp>
      <p:sp>
        <p:nvSpPr>
          <p:cNvPr id="36" name="Text 34"/>
          <p:cNvSpPr txBox="1"/>
          <p:nvPr/>
        </p:nvSpPr>
        <p:spPr>
          <a:xfrm>
            <a:off x="841248" y="5559552"/>
            <a:ext cx="10424160" cy="384048"/>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ChromaDB sits behind a small interface, so moving to another vector database later means adding one file.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MEMORY DESIGN</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layers, each with a different job</a:t>
            </a:r>
            <a:endParaRPr lang="en-US" sz="3200" dirty="0"/>
          </a:p>
        </p:txBody>
      </p:sp>
      <p:sp>
        <p:nvSpPr>
          <p:cNvPr id="4" name="Shape 2"/>
          <p:cNvSpPr/>
          <p:nvPr/>
        </p:nvSpPr>
        <p:spPr>
          <a:xfrm>
            <a:off x="566928" y="1627632"/>
            <a:ext cx="3529584" cy="3200400"/>
          </a:xfrm>
          <a:prstGeom prst="roundRect">
            <a:avLst>
              <a:gd name="adj" fmla="val 2857"/>
            </a:avLst>
          </a:prstGeom>
          <a:solidFill>
            <a:srgbClr val="F7F9FC"/>
          </a:solidFill>
          <a:ln w="9525">
            <a:solidFill>
              <a:srgbClr val="DDE3ED"/>
            </a:solidFill>
            <a:prstDash val="solid"/>
          </a:ln>
        </p:spPr>
      </p:sp>
      <p:sp>
        <p:nvSpPr>
          <p:cNvPr id="5" name="Shape 3"/>
          <p:cNvSpPr/>
          <p:nvPr/>
        </p:nvSpPr>
        <p:spPr>
          <a:xfrm>
            <a:off x="822960" y="1865376"/>
            <a:ext cx="384048" cy="384048"/>
          </a:xfrm>
          <a:prstGeom prst="ellipse">
            <a:avLst/>
          </a:prstGeom>
          <a:solidFill>
            <a:srgbClr val="1E2761"/>
          </a:solidFill>
          <a:ln w="12700">
            <a:solidFill>
              <a:srgbClr val="1E2761"/>
            </a:solidFill>
            <a:prstDash val="solid"/>
          </a:ln>
        </p:spPr>
      </p:sp>
      <p:sp>
        <p:nvSpPr>
          <p:cNvPr id="6" name="Text 4"/>
          <p:cNvSpPr txBox="1"/>
          <p:nvPr/>
        </p:nvSpPr>
        <p:spPr>
          <a:xfrm>
            <a:off x="822960" y="18653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316736" y="1847088"/>
            <a:ext cx="2523744"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Working memory</a:t>
            </a:r>
            <a:endParaRPr lang="en-US" sz="1700" dirty="0"/>
          </a:p>
        </p:txBody>
      </p:sp>
      <p:sp>
        <p:nvSpPr>
          <p:cNvPr id="8" name="Text 6"/>
          <p:cNvSpPr txBox="1"/>
          <p:nvPr/>
        </p:nvSpPr>
        <p:spPr>
          <a:xfrm>
            <a:off x="822960" y="2395728"/>
            <a:ext cx="3017520" cy="548640"/>
          </a:xfrm>
          <a:prstGeom prst="rect">
            <a:avLst/>
          </a:prstGeom>
          <a:noFill/>
          <a:ln/>
        </p:spPr>
        <p:txBody>
          <a:bodyPr wrap="square" lIns="0" tIns="0" rIns="0" bIns="0" rtlCol="0" anchor="t"/>
          <a:lstStyle/>
          <a:p>
            <a:pPr indent="0" marL="0">
              <a:lnSpc>
                <a:spcPts val="1800"/>
              </a:lnSpc>
              <a:buNone/>
            </a:pPr>
            <a:r>
              <a:rPr lang="en-US" sz="1300" b="1" dirty="0">
                <a:solidFill>
                  <a:srgbClr val="1A1D23"/>
                </a:solidFill>
                <a:latin typeface="Calibri" pitchFamily="34" charset="0"/>
                <a:ea typeface="Calibri" pitchFamily="34" charset="-122"/>
                <a:cs typeface="Calibri" pitchFamily="34" charset="-120"/>
              </a:rPr>
              <a:t>The last six messages, kept word for word.</a:t>
            </a:r>
            <a:endParaRPr lang="en-US" sz="1300" dirty="0"/>
          </a:p>
        </p:txBody>
      </p:sp>
      <p:sp>
        <p:nvSpPr>
          <p:cNvPr id="9" name="Text 7"/>
          <p:cNvSpPr txBox="1"/>
          <p:nvPr/>
        </p:nvSpPr>
        <p:spPr>
          <a:xfrm>
            <a:off x="822960" y="3017520"/>
            <a:ext cx="3017520" cy="1554480"/>
          </a:xfrm>
          <a:prstGeom prst="rect">
            <a:avLst/>
          </a:prstGeom>
          <a:noFill/>
          <a:ln/>
        </p:spPr>
        <p:txBody>
          <a:bodyPr wrap="square" lIns="0" tIns="0" rIns="0" bIns="0" rtlCol="0" anchor="t"/>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Lives in the running program only. Cleared when a new session starts, which is what proves later recall came from the database.</a:t>
            </a:r>
            <a:endParaRPr lang="en-US" sz="1200" dirty="0"/>
          </a:p>
        </p:txBody>
      </p:sp>
      <p:sp>
        <p:nvSpPr>
          <p:cNvPr id="10" name="Shape 8"/>
          <p:cNvSpPr/>
          <p:nvPr/>
        </p:nvSpPr>
        <p:spPr>
          <a:xfrm>
            <a:off x="4315968" y="1627632"/>
            <a:ext cx="3529584" cy="3200400"/>
          </a:xfrm>
          <a:prstGeom prst="roundRect">
            <a:avLst>
              <a:gd name="adj" fmla="val 2857"/>
            </a:avLst>
          </a:prstGeom>
          <a:solidFill>
            <a:srgbClr val="F7F9FC"/>
          </a:solidFill>
          <a:ln w="9525">
            <a:solidFill>
              <a:srgbClr val="DDE3ED"/>
            </a:solidFill>
            <a:prstDash val="solid"/>
          </a:ln>
        </p:spPr>
      </p:sp>
      <p:sp>
        <p:nvSpPr>
          <p:cNvPr id="11" name="Shape 9"/>
          <p:cNvSpPr/>
          <p:nvPr/>
        </p:nvSpPr>
        <p:spPr>
          <a:xfrm>
            <a:off x="4572000" y="1865376"/>
            <a:ext cx="384048" cy="384048"/>
          </a:xfrm>
          <a:prstGeom prst="ellipse">
            <a:avLst/>
          </a:prstGeom>
          <a:solidFill>
            <a:srgbClr val="2E3D7A"/>
          </a:solidFill>
          <a:ln w="12700">
            <a:solidFill>
              <a:srgbClr val="2E3D7A"/>
            </a:solidFill>
            <a:prstDash val="solid"/>
          </a:ln>
        </p:spPr>
      </p:sp>
      <p:sp>
        <p:nvSpPr>
          <p:cNvPr id="12" name="Text 10"/>
          <p:cNvSpPr txBox="1"/>
          <p:nvPr/>
        </p:nvSpPr>
        <p:spPr>
          <a:xfrm>
            <a:off x="4572000" y="18653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5065776" y="1847088"/>
            <a:ext cx="2523744" cy="384048"/>
          </a:xfrm>
          <a:prstGeom prst="rect">
            <a:avLst/>
          </a:prstGeom>
          <a:noFill/>
          <a:ln/>
        </p:spPr>
        <p:txBody>
          <a:bodyPr wrap="square" lIns="0" tIns="0" rIns="0" bIns="0" rtlCol="0" anchor="ctr"/>
          <a:lstStyle/>
          <a:p>
            <a:pPr indent="0" marL="0">
              <a:buNone/>
            </a:pPr>
            <a:r>
              <a:rPr lang="en-US" sz="1700" b="1" dirty="0">
                <a:solidFill>
                  <a:srgbClr val="2E3D7A"/>
                </a:solidFill>
                <a:latin typeface="Cambria" pitchFamily="34" charset="0"/>
                <a:ea typeface="Cambria" pitchFamily="34" charset="-122"/>
                <a:cs typeface="Cambria" pitchFamily="34" charset="-120"/>
              </a:rPr>
              <a:t>Episodic memory</a:t>
            </a:r>
            <a:endParaRPr lang="en-US" sz="1700" dirty="0"/>
          </a:p>
        </p:txBody>
      </p:sp>
      <p:sp>
        <p:nvSpPr>
          <p:cNvPr id="14" name="Text 12"/>
          <p:cNvSpPr txBox="1"/>
          <p:nvPr/>
        </p:nvSpPr>
        <p:spPr>
          <a:xfrm>
            <a:off x="4572000" y="2395728"/>
            <a:ext cx="3017520" cy="548640"/>
          </a:xfrm>
          <a:prstGeom prst="rect">
            <a:avLst/>
          </a:prstGeom>
          <a:noFill/>
          <a:ln/>
        </p:spPr>
        <p:txBody>
          <a:bodyPr wrap="square" lIns="0" tIns="0" rIns="0" bIns="0" rtlCol="0" anchor="t"/>
          <a:lstStyle/>
          <a:p>
            <a:pPr indent="0" marL="0">
              <a:lnSpc>
                <a:spcPts val="1800"/>
              </a:lnSpc>
              <a:buNone/>
            </a:pPr>
            <a:r>
              <a:rPr lang="en-US" sz="1300" b="1" dirty="0">
                <a:solidFill>
                  <a:srgbClr val="1A1D23"/>
                </a:solidFill>
                <a:latin typeface="Calibri" pitchFamily="34" charset="0"/>
                <a:ea typeface="Calibri" pitchFamily="34" charset="-122"/>
                <a:cs typeface="Calibri" pitchFamily="34" charset="-120"/>
              </a:rPr>
              <a:t>The raw messages the user typed.</a:t>
            </a:r>
            <a:endParaRPr lang="en-US" sz="1300" dirty="0"/>
          </a:p>
        </p:txBody>
      </p:sp>
      <p:sp>
        <p:nvSpPr>
          <p:cNvPr id="15" name="Text 13"/>
          <p:cNvSpPr txBox="1"/>
          <p:nvPr/>
        </p:nvSpPr>
        <p:spPr>
          <a:xfrm>
            <a:off x="4572000" y="3017520"/>
            <a:ext cx="3017520" cy="1554480"/>
          </a:xfrm>
          <a:prstGeom prst="rect">
            <a:avLst/>
          </a:prstGeom>
          <a:noFill/>
          <a:ln/>
        </p:spPr>
        <p:txBody>
          <a:bodyPr wrap="square" lIns="0" tIns="0" rIns="0" bIns="0" rtlCol="0" anchor="t"/>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Stored and searchable. Useful for questions about the conversation itself. Trimmed when the store grows too large.</a:t>
            </a:r>
            <a:endParaRPr lang="en-US" sz="1200" dirty="0"/>
          </a:p>
        </p:txBody>
      </p:sp>
      <p:sp>
        <p:nvSpPr>
          <p:cNvPr id="16" name="Shape 14"/>
          <p:cNvSpPr/>
          <p:nvPr/>
        </p:nvSpPr>
        <p:spPr>
          <a:xfrm>
            <a:off x="8065008" y="1627632"/>
            <a:ext cx="3529584" cy="3200400"/>
          </a:xfrm>
          <a:prstGeom prst="roundRect">
            <a:avLst>
              <a:gd name="adj" fmla="val 2857"/>
            </a:avLst>
          </a:prstGeom>
          <a:solidFill>
            <a:srgbClr val="F7F9FC"/>
          </a:solidFill>
          <a:ln w="9525">
            <a:solidFill>
              <a:srgbClr val="DDE3ED"/>
            </a:solidFill>
            <a:prstDash val="solid"/>
          </a:ln>
        </p:spPr>
      </p:sp>
      <p:sp>
        <p:nvSpPr>
          <p:cNvPr id="17" name="Shape 15"/>
          <p:cNvSpPr/>
          <p:nvPr/>
        </p:nvSpPr>
        <p:spPr>
          <a:xfrm>
            <a:off x="8321040" y="1865376"/>
            <a:ext cx="384048" cy="384048"/>
          </a:xfrm>
          <a:prstGeom prst="ellipse">
            <a:avLst/>
          </a:prstGeom>
          <a:solidFill>
            <a:srgbClr val="047857"/>
          </a:solidFill>
          <a:ln w="12700">
            <a:solidFill>
              <a:srgbClr val="047857"/>
            </a:solidFill>
            <a:prstDash val="solid"/>
          </a:ln>
        </p:spPr>
      </p:sp>
      <p:sp>
        <p:nvSpPr>
          <p:cNvPr id="18" name="Text 16"/>
          <p:cNvSpPr txBox="1"/>
          <p:nvPr/>
        </p:nvSpPr>
        <p:spPr>
          <a:xfrm>
            <a:off x="8321040" y="18653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7"/>
          <p:cNvSpPr txBox="1"/>
          <p:nvPr/>
        </p:nvSpPr>
        <p:spPr>
          <a:xfrm>
            <a:off x="8814816" y="1847088"/>
            <a:ext cx="2523744" cy="384048"/>
          </a:xfrm>
          <a:prstGeom prst="rect">
            <a:avLst/>
          </a:prstGeom>
          <a:noFill/>
          <a:ln/>
        </p:spPr>
        <p:txBody>
          <a:bodyPr wrap="square" lIns="0" tIns="0" rIns="0" bIns="0" rtlCol="0" anchor="ctr"/>
          <a:lstStyle/>
          <a:p>
            <a:pPr indent="0" marL="0">
              <a:buNone/>
            </a:pPr>
            <a:r>
              <a:rPr lang="en-US" sz="1700" b="1" dirty="0">
                <a:solidFill>
                  <a:srgbClr val="047857"/>
                </a:solidFill>
                <a:latin typeface="Cambria" pitchFamily="34" charset="0"/>
                <a:ea typeface="Cambria" pitchFamily="34" charset="-122"/>
                <a:cs typeface="Cambria" pitchFamily="34" charset="-120"/>
              </a:rPr>
              <a:t>Semantic memory</a:t>
            </a:r>
            <a:endParaRPr lang="en-US" sz="1700" dirty="0"/>
          </a:p>
        </p:txBody>
      </p:sp>
      <p:sp>
        <p:nvSpPr>
          <p:cNvPr id="20" name="Text 18"/>
          <p:cNvSpPr txBox="1"/>
          <p:nvPr/>
        </p:nvSpPr>
        <p:spPr>
          <a:xfrm>
            <a:off x="8321040" y="2395728"/>
            <a:ext cx="3017520" cy="548640"/>
          </a:xfrm>
          <a:prstGeom prst="rect">
            <a:avLst/>
          </a:prstGeom>
          <a:noFill/>
          <a:ln/>
        </p:spPr>
        <p:txBody>
          <a:bodyPr wrap="square" lIns="0" tIns="0" rIns="0" bIns="0" rtlCol="0" anchor="t"/>
          <a:lstStyle/>
          <a:p>
            <a:pPr indent="0" marL="0">
              <a:lnSpc>
                <a:spcPts val="1800"/>
              </a:lnSpc>
              <a:buNone/>
            </a:pPr>
            <a:r>
              <a:rPr lang="en-US" sz="1300" b="1" dirty="0">
                <a:solidFill>
                  <a:srgbClr val="1A1D23"/>
                </a:solidFill>
                <a:latin typeface="Calibri" pitchFamily="34" charset="0"/>
                <a:ea typeface="Calibri" pitchFamily="34" charset="-122"/>
                <a:cs typeface="Calibri" pitchFamily="34" charset="-120"/>
              </a:rPr>
              <a:t>Short facts such as city: Mumbai.</a:t>
            </a:r>
            <a:endParaRPr lang="en-US" sz="1300" dirty="0"/>
          </a:p>
        </p:txBody>
      </p:sp>
      <p:sp>
        <p:nvSpPr>
          <p:cNvPr id="21" name="Text 19"/>
          <p:cNvSpPr txBox="1"/>
          <p:nvPr/>
        </p:nvSpPr>
        <p:spPr>
          <a:xfrm>
            <a:off x="8321040" y="3017520"/>
            <a:ext cx="3017520" cy="1554480"/>
          </a:xfrm>
          <a:prstGeom prst="rect">
            <a:avLst/>
          </a:prstGeom>
          <a:noFill/>
          <a:ln/>
        </p:spPr>
        <p:txBody>
          <a:bodyPr wrap="square" lIns="0" tIns="0" rIns="0" bIns="0" rtlCol="0" anchor="t"/>
          <a:lstStyle/>
          <a:p>
            <a:pPr indent="0" marL="0">
              <a:lnSpc>
                <a:spcPts val="1700"/>
              </a:lnSpc>
              <a:buNone/>
            </a:pPr>
            <a:r>
              <a:rPr lang="en-US" sz="1200" dirty="0">
                <a:solidFill>
                  <a:srgbClr val="5B6472"/>
                </a:solidFill>
                <a:latin typeface="Calibri" pitchFamily="34" charset="0"/>
                <a:ea typeface="Calibri" pitchFamily="34" charset="-122"/>
                <a:cs typeface="Calibri" pitchFamily="34" charset="-120"/>
              </a:rPr>
              <a:t>Each fact is dated and versioned. A newer fact replaces an older one instead of sitting beside it. This is the layer that resolves contradictions.</a:t>
            </a:r>
            <a:endParaRPr lang="en-US" sz="1200" dirty="0"/>
          </a:p>
        </p:txBody>
      </p:sp>
      <p:sp>
        <p:nvSpPr>
          <p:cNvPr id="22" name="Shape 20"/>
          <p:cNvSpPr/>
          <p:nvPr/>
        </p:nvSpPr>
        <p:spPr>
          <a:xfrm>
            <a:off x="566928" y="5010912"/>
            <a:ext cx="10881360" cy="914400"/>
          </a:xfrm>
          <a:prstGeom prst="roundRect">
            <a:avLst>
              <a:gd name="adj" fmla="val 10000"/>
            </a:avLst>
          </a:prstGeom>
          <a:solidFill>
            <a:srgbClr val="EEF2FB"/>
          </a:solidFill>
          <a:ln w="9525">
            <a:solidFill>
              <a:srgbClr val="DDE3ED"/>
            </a:solidFill>
            <a:prstDash val="solid"/>
          </a:ln>
        </p:spPr>
      </p:sp>
      <p:sp>
        <p:nvSpPr>
          <p:cNvPr id="23" name="Text 21"/>
          <p:cNvSpPr txBox="1"/>
          <p:nvPr/>
        </p:nvSpPr>
        <p:spPr>
          <a:xfrm>
            <a:off x="841248" y="5193792"/>
            <a:ext cx="10332720" cy="566928"/>
          </a:xfrm>
          <a:prstGeom prst="rect">
            <a:avLst/>
          </a:prstGeom>
          <a:noFill/>
          <a:ln/>
        </p:spPr>
        <p:txBody>
          <a:bodyPr wrap="square" lIns="0" tIns="0" rIns="0" bIns="0" rtlCol="0" anchor="t"/>
          <a:lstStyle/>
          <a:p>
            <a:pPr indent="0" marL="0">
              <a:lnSpc>
                <a:spcPts val="1800"/>
              </a:lnSpc>
              <a:buNone/>
            </a:pPr>
            <a:r>
              <a:rPr lang="en-US" sz="1300" dirty="0">
                <a:solidFill>
                  <a:srgbClr val="1A1D23"/>
                </a:solidFill>
                <a:latin typeface="Calibri" pitchFamily="34" charset="0"/>
                <a:ea typeface="Calibri" pitchFamily="34" charset="-122"/>
                <a:cs typeface="Calibri" pitchFamily="34" charset="-120"/>
              </a:rPr>
              <a:t>The split matters. Raw messages are bulky and repetitive, so they are capped and trimmed. Facts are small and already condensed, so they are kept for good.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2, RETRIEVAL</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Searching by meaning instead of by words</a:t>
            </a:r>
            <a:endParaRPr lang="en-US" sz="3200" dirty="0"/>
          </a:p>
        </p:txBody>
      </p:sp>
      <p:sp>
        <p:nvSpPr>
          <p:cNvPr id="4" name="Text 2"/>
          <p:cNvSpPr txBox="1"/>
          <p:nvPr/>
        </p:nvSpPr>
        <p:spPr>
          <a:xfrm>
            <a:off x="566928" y="1481328"/>
            <a:ext cx="5806440" cy="1097280"/>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Every memory is turned into a list of 384 numbers by a model that runs on this machine. Sentences with a similar meaning end up with similar numbers, so we can compare meaning by measuring the angle between two lists.</a:t>
            </a:r>
            <a:endParaRPr lang="en-US" sz="1400" dirty="0"/>
          </a:p>
        </p:txBody>
      </p:sp>
      <p:sp>
        <p:nvSpPr>
          <p:cNvPr id="5" name="Shape 3"/>
          <p:cNvSpPr/>
          <p:nvPr/>
        </p:nvSpPr>
        <p:spPr>
          <a:xfrm>
            <a:off x="566928" y="2724912"/>
            <a:ext cx="5806440" cy="1481328"/>
          </a:xfrm>
          <a:prstGeom prst="roundRect">
            <a:avLst>
              <a:gd name="adj" fmla="val 6173"/>
            </a:avLst>
          </a:prstGeom>
          <a:solidFill>
            <a:srgbClr val="EEF2FB"/>
          </a:solidFill>
          <a:ln w="9525">
            <a:solidFill>
              <a:srgbClr val="DDE3ED"/>
            </a:solidFill>
            <a:prstDash val="solid"/>
          </a:ln>
        </p:spPr>
      </p:sp>
      <p:sp>
        <p:nvSpPr>
          <p:cNvPr id="6" name="Text 4"/>
          <p:cNvSpPr txBox="1"/>
          <p:nvPr/>
        </p:nvSpPr>
        <p:spPr>
          <a:xfrm>
            <a:off x="822960" y="2871216"/>
            <a:ext cx="5303520"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Measured on our own system</a:t>
            </a:r>
            <a:endParaRPr lang="en-US" sz="1100" dirty="0"/>
          </a:p>
        </p:txBody>
      </p:sp>
      <p:sp>
        <p:nvSpPr>
          <p:cNvPr id="7" name="Text 5"/>
          <p:cNvSpPr txBox="1"/>
          <p:nvPr/>
        </p:nvSpPr>
        <p:spPr>
          <a:xfrm>
            <a:off x="822960" y="3145536"/>
            <a:ext cx="5303520" cy="960120"/>
          </a:xfrm>
          <a:prstGeom prst="rect">
            <a:avLst/>
          </a:prstGeom>
          <a:noFill/>
          <a:ln/>
        </p:spPr>
        <p:txBody>
          <a:bodyPr wrap="square" lIns="0" tIns="0" rIns="0" bIns="0" rtlCol="0" anchor="t"/>
          <a:lstStyle/>
          <a:p>
            <a:pPr indent="0" marL="0">
              <a:lnSpc>
                <a:spcPts val="1600"/>
              </a:lnSpc>
              <a:buNone/>
            </a:pPr>
            <a:r>
              <a:rPr lang="en-US" sz="1100" dirty="0">
                <a:solidFill>
                  <a:srgbClr val="1A1D23"/>
                </a:solidFill>
                <a:latin typeface="Consolas" pitchFamily="34" charset="0"/>
                <a:ea typeface="Consolas" pitchFamily="34" charset="-122"/>
                <a:cs typeface="Consolas" pitchFamily="34" charset="-120"/>
              </a:rPr>
              <a:t>I live in Pune</a:t>
            </a:r>
            <a:pPr indent="0" marL="0">
              <a:lnSpc>
                <a:spcPts val="1600"/>
              </a:lnSpc>
              <a:buNone/>
            </a:pPr>
            <a:r>
              <a:rPr lang="en-US" sz="1100" dirty="0">
                <a:solidFill>
                  <a:srgbClr val="5B6472"/>
                </a:solidFill>
                <a:latin typeface="Calibri" pitchFamily="34" charset="0"/>
                <a:ea typeface="Calibri" pitchFamily="34" charset="-122"/>
                <a:cs typeface="Calibri" pitchFamily="34" charset="-120"/>
              </a:rPr>
              <a:t>  and  </a:t>
            </a:r>
            <a:pPr indent="0" marL="0">
              <a:lnSpc>
                <a:spcPts val="1600"/>
              </a:lnSpc>
              <a:buNone/>
            </a:pPr>
            <a:r>
              <a:rPr lang="en-US" sz="1100" dirty="0">
                <a:solidFill>
                  <a:srgbClr val="1A1D23"/>
                </a:solidFill>
                <a:latin typeface="Consolas" pitchFamily="34" charset="0"/>
                <a:ea typeface="Consolas" pitchFamily="34" charset="-122"/>
                <a:cs typeface="Consolas" pitchFamily="34" charset="-120"/>
              </a:rPr>
              <a:t>My home city is Pune</a:t>
            </a:r>
            <a:endParaRPr lang="en-US" sz="1100" dirty="0"/>
          </a:p>
          <a:p>
            <a:pPr indent="0" marL="0">
              <a:lnSpc>
                <a:spcPts val="1600"/>
              </a:lnSpc>
              <a:buNone/>
            </a:pPr>
            <a:r>
              <a:rPr lang="en-US" sz="1300" b="1" dirty="0">
                <a:solidFill>
                  <a:srgbClr val="047857"/>
                </a:solidFill>
                <a:latin typeface="Calibri" pitchFamily="34" charset="0"/>
                <a:ea typeface="Calibri" pitchFamily="34" charset="-122"/>
                <a:cs typeface="Calibri" pitchFamily="34" charset="-120"/>
              </a:rPr>
              <a:t>score 0.821</a:t>
            </a:r>
            <a:endParaRPr lang="en-US" sz="1100" dirty="0"/>
          </a:p>
          <a:p>
            <a:pPr indent="0" marL="0">
              <a:lnSpc>
                <a:spcPts val="1600"/>
              </a:lnSpc>
              <a:buNone/>
            </a:pPr>
            <a:r>
              <a:rPr lang="en-US" sz="1100" dirty="0">
                <a:solidFill>
                  <a:srgbClr val="5B6472"/>
                </a:solidFill>
                <a:latin typeface="Calibri" pitchFamily="34" charset="0"/>
                <a:ea typeface="Calibri" pitchFamily="34" charset="-122"/>
                <a:cs typeface="Calibri" pitchFamily="34" charset="-120"/>
              </a:rPr>
              <a:t>The same sentence against </a:t>
            </a:r>
            <a:pPr indent="0" marL="0">
              <a:lnSpc>
                <a:spcPts val="1600"/>
              </a:lnSpc>
              <a:buNone/>
            </a:pPr>
            <a:r>
              <a:rPr lang="en-US" sz="1100" dirty="0">
                <a:solidFill>
                  <a:srgbClr val="1A1D23"/>
                </a:solidFill>
                <a:latin typeface="Consolas" pitchFamily="34" charset="0"/>
                <a:ea typeface="Consolas" pitchFamily="34" charset="-122"/>
                <a:cs typeface="Consolas" pitchFamily="34" charset="-120"/>
              </a:rPr>
              <a:t>I enjoy playing cricket</a:t>
            </a:r>
            <a:endParaRPr lang="en-US" sz="1100" dirty="0"/>
          </a:p>
          <a:p>
            <a:pPr indent="0" marL="0">
              <a:lnSpc>
                <a:spcPts val="1600"/>
              </a:lnSpc>
              <a:buNone/>
            </a:pPr>
            <a:r>
              <a:rPr lang="en-US" sz="1300" b="1" dirty="0">
                <a:solidFill>
                  <a:srgbClr val="5B6472"/>
                </a:solidFill>
                <a:latin typeface="Calibri" pitchFamily="34" charset="0"/>
                <a:ea typeface="Calibri" pitchFamily="34" charset="-122"/>
                <a:cs typeface="Calibri" pitchFamily="34" charset="-120"/>
              </a:rPr>
              <a:t>score 0.351</a:t>
            </a:r>
            <a:endParaRPr lang="en-US" sz="1100" dirty="0"/>
          </a:p>
        </p:txBody>
      </p:sp>
      <p:sp>
        <p:nvSpPr>
          <p:cNvPr id="8" name="Text 6"/>
          <p:cNvSpPr txBox="1"/>
          <p:nvPr/>
        </p:nvSpPr>
        <p:spPr>
          <a:xfrm>
            <a:off x="566928" y="4370832"/>
            <a:ext cx="5806440" cy="1280160"/>
          </a:xfrm>
          <a:prstGeom prst="rect">
            <a:avLst/>
          </a:prstGeom>
          <a:noFill/>
          <a:ln/>
        </p:spPr>
        <p:txBody>
          <a:bodyPr wrap="square" lIns="0" tIns="0" rIns="0" bIns="0" rtlCol="0" anchor="t"/>
          <a:lstStyle/>
          <a:p>
            <a:pPr indent="0" marL="0">
              <a:lnSpc>
                <a:spcPts val="2100"/>
              </a:lnSpc>
              <a:buNone/>
            </a:pPr>
            <a:r>
              <a:rPr lang="en-US" sz="1350" dirty="0">
                <a:solidFill>
                  <a:srgbClr val="1A1D23"/>
                </a:solidFill>
                <a:latin typeface="Calibri" pitchFamily="34" charset="0"/>
                <a:ea typeface="Calibri" pitchFamily="34" charset="-122"/>
                <a:cs typeface="Calibri" pitchFamily="34" charset="-120"/>
              </a:rPr>
              <a:t>Similarity alone is not enough, because it has no sense of time. Two memories can match a question equally well while one of them is months out of date. So the final score adds a small bonus for being recent, and a small bonus for being a tidy fact rather than a raw sentence.</a:t>
            </a:r>
            <a:endParaRPr lang="en-US" sz="1350" dirty="0"/>
          </a:p>
        </p:txBody>
      </p:sp>
      <p:pic>
        <p:nvPicPr>
          <p:cNvPr id="9" name="Image 0" descr="D:\Project\Long-Term\docs\assets\01a_retrieval_panel.png">    </p:cNvPr>
          <p:cNvPicPr>
            <a:picLocks noChangeAspect="1"/>
          </p:cNvPicPr>
          <p:nvPr/>
        </p:nvPicPr>
        <p:blipFill>
          <a:blip r:embed="rId1"/>
          <a:stretch>
            <a:fillRect/>
          </a:stretch>
        </p:blipFill>
        <p:spPr>
          <a:xfrm>
            <a:off x="6711696" y="1572768"/>
            <a:ext cx="4919472" cy="2542032"/>
          </a:xfrm>
          <a:prstGeom prst="rect">
            <a:avLst/>
          </a:prstGeom>
        </p:spPr>
      </p:pic>
      <p:sp>
        <p:nvSpPr>
          <p:cNvPr id="10" name="Text 7"/>
          <p:cNvSpPr txBox="1"/>
          <p:nvPr/>
        </p:nvSpPr>
        <p:spPr>
          <a:xfrm>
            <a:off x="6711696" y="4187952"/>
            <a:ext cx="4919472"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Live from the running system. Every retrieved memory shows its similarity, its recency and the final score.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3, ACROSS SESSIONS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Remembering after the program restarts</a:t>
            </a:r>
            <a:endParaRPr lang="en-US" sz="3200" dirty="0"/>
          </a:p>
        </p:txBody>
      </p:sp>
      <p:sp>
        <p:nvSpPr>
          <p:cNvPr id="4" name="Text 2"/>
          <p:cNvSpPr txBox="1"/>
          <p:nvPr/>
        </p:nvSpPr>
        <p:spPr>
          <a:xfrm>
            <a:off x="566928" y="1481328"/>
            <a:ext cx="4206240" cy="914400"/>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Chat history alone is not memory. To show the difference, the demo starts a new session, which empties the list of recent messages completely.</a:t>
            </a:r>
            <a:endParaRPr lang="en-US" sz="1400" dirty="0"/>
          </a:p>
        </p:txBody>
      </p:sp>
      <p:sp>
        <p:nvSpPr>
          <p:cNvPr id="5" name="Text 3"/>
          <p:cNvSpPr txBox="1"/>
          <p:nvPr/>
        </p:nvSpPr>
        <p:spPr>
          <a:xfrm>
            <a:off x="566928" y="2487168"/>
            <a:ext cx="4206240" cy="914400"/>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From that point there is nothing in the running program to answer from. Anything the assistant recalls has to come out of the database on disk.</a:t>
            </a:r>
            <a:endParaRPr lang="en-US" sz="1400" dirty="0"/>
          </a:p>
        </p:txBody>
      </p:sp>
      <p:sp>
        <p:nvSpPr>
          <p:cNvPr id="6" name="Shape 4"/>
          <p:cNvSpPr/>
          <p:nvPr/>
        </p:nvSpPr>
        <p:spPr>
          <a:xfrm>
            <a:off x="566928" y="3529584"/>
            <a:ext cx="4206240" cy="1828800"/>
          </a:xfrm>
          <a:prstGeom prst="roundRect">
            <a:avLst>
              <a:gd name="adj" fmla="val 5000"/>
            </a:avLst>
          </a:prstGeom>
          <a:solidFill>
            <a:srgbClr val="ECFDF5"/>
          </a:solidFill>
          <a:ln w="9525">
            <a:solidFill>
              <a:srgbClr val="DDE3ED"/>
            </a:solidFill>
            <a:prstDash val="solid"/>
          </a:ln>
        </p:spPr>
      </p:sp>
      <p:sp>
        <p:nvSpPr>
          <p:cNvPr id="7" name="Text 5"/>
          <p:cNvSpPr txBox="1"/>
          <p:nvPr/>
        </p:nvSpPr>
        <p:spPr>
          <a:xfrm>
            <a:off x="804672" y="3694176"/>
            <a:ext cx="3749040" cy="256032"/>
          </a:xfrm>
          <a:prstGeom prst="rect">
            <a:avLst/>
          </a:prstGeom>
          <a:noFill/>
          <a:ln/>
        </p:spPr>
        <p:txBody>
          <a:bodyPr wrap="square" lIns="0" tIns="0" rIns="0" bIns="0" rtlCol="0" anchor="ctr"/>
          <a:lstStyle/>
          <a:p>
            <a:pPr indent="0" marL="0">
              <a:buNone/>
            </a:pPr>
            <a:r>
              <a:rPr lang="en-US" sz="1150" b="1" dirty="0">
                <a:solidFill>
                  <a:srgbClr val="047857"/>
                </a:solidFill>
                <a:latin typeface="Calibri" pitchFamily="34" charset="0"/>
                <a:ea typeface="Calibri" pitchFamily="34" charset="-122"/>
                <a:cs typeface="Calibri" pitchFamily="34" charset="-120"/>
              </a:rPr>
              <a:t>What the screenshot shows</a:t>
            </a:r>
            <a:endParaRPr lang="en-US" sz="1150" dirty="0"/>
          </a:p>
        </p:txBody>
      </p:sp>
      <p:sp>
        <p:nvSpPr>
          <p:cNvPr id="8" name="Text 6"/>
          <p:cNvSpPr txBox="1"/>
          <p:nvPr/>
        </p:nvSpPr>
        <p:spPr>
          <a:xfrm>
            <a:off x="804672" y="3986784"/>
            <a:ext cx="3749040" cy="1225296"/>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1A1D23"/>
                </a:solidFill>
                <a:latin typeface="Calibri" pitchFamily="34" charset="0"/>
                <a:ea typeface="Calibri" pitchFamily="34" charset="-122"/>
                <a:cs typeface="Calibri" pitchFamily="34" charset="-120"/>
              </a:rPr>
              <a:t>Working memory is empty</a:t>
            </a:r>
            <a:endParaRPr lang="en-US" sz="1250" dirty="0"/>
          </a:p>
          <a:p>
            <a:pPr marL="177800" indent="-177800">
              <a:spcAft>
                <a:spcPts val="900"/>
              </a:spcAft>
              <a:buSzPct val="100000"/>
              <a:buChar char="•"/>
            </a:pPr>
            <a:r>
              <a:rPr lang="en-US" sz="1250" dirty="0">
                <a:solidFill>
                  <a:srgbClr val="1A1D23"/>
                </a:solidFill>
                <a:latin typeface="Calibri" pitchFamily="34" charset="0"/>
                <a:ea typeface="Calibri" pitchFamily="34" charset="-122"/>
                <a:cs typeface="Calibri" pitchFamily="34" charset="-120"/>
              </a:rPr>
              <a:t>The question is asked fresh</a:t>
            </a:r>
            <a:endParaRPr lang="en-US" sz="1250" dirty="0"/>
          </a:p>
          <a:p>
            <a:pPr marL="177800" indent="-177800">
              <a:spcAft>
                <a:spcPts val="900"/>
              </a:spcAft>
              <a:buSzPct val="100000"/>
              <a:buChar char="•"/>
            </a:pPr>
            <a:r>
              <a:rPr lang="en-US" sz="1250" dirty="0">
                <a:solidFill>
                  <a:srgbClr val="1A1D23"/>
                </a:solidFill>
                <a:latin typeface="Calibri" pitchFamily="34" charset="0"/>
                <a:ea typeface="Calibri" pitchFamily="34" charset="-122"/>
                <a:cs typeface="Calibri" pitchFamily="34" charset="-120"/>
              </a:rPr>
              <a:t>The answer still names Pune</a:t>
            </a:r>
            <a:endParaRPr lang="en-US" sz="1250" dirty="0"/>
          </a:p>
        </p:txBody>
      </p:sp>
      <p:pic>
        <p:nvPicPr>
          <p:cNvPr id="9" name="Image 0" descr="D:\Project\Long-Term\docs\assets\02_cross_session_recall.png">    </p:cNvPr>
          <p:cNvPicPr>
            <a:picLocks noChangeAspect="1"/>
          </p:cNvPicPr>
          <p:nvPr/>
        </p:nvPicPr>
        <p:blipFill>
          <a:blip r:embed="rId1"/>
          <a:stretch>
            <a:fillRect/>
          </a:stretch>
        </p:blipFill>
        <p:spPr>
          <a:xfrm>
            <a:off x="5120640" y="1554480"/>
            <a:ext cx="6510528" cy="4078224"/>
          </a:xfrm>
          <a:prstGeom prst="rect">
            <a:avLst/>
          </a:prstGeom>
        </p:spPr>
      </p:pic>
      <p:sp>
        <p:nvSpPr>
          <p:cNvPr id="10" name="Text 7"/>
          <p:cNvSpPr txBox="1"/>
          <p:nvPr/>
        </p:nvSpPr>
        <p:spPr>
          <a:xfrm>
            <a:off x="5120640" y="5705856"/>
            <a:ext cx="6510528"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Session 2, started with recent messages cleared.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4, CONFLICTING FACTS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newer fact retires the older one</a:t>
            </a:r>
            <a:endParaRPr lang="en-US" sz="3200" dirty="0"/>
          </a:p>
        </p:txBody>
      </p:sp>
      <p:sp>
        <p:nvSpPr>
          <p:cNvPr id="4" name="Text 2"/>
          <p:cNvSpPr txBox="1"/>
          <p:nvPr/>
        </p:nvSpPr>
        <p:spPr>
          <a:xfrm>
            <a:off x="566928" y="1481328"/>
            <a:ext cx="5669280" cy="1371600"/>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When the user says something that contradicts a stored fact, the old record is not deleted and the two are not kept as equals. The old one is marked as replaced and stays in the database as history. Searches only look at current records, so the outdated value can never be returned again.</a:t>
            </a:r>
            <a:endParaRPr lang="en-US" sz="1400" dirty="0"/>
          </a:p>
        </p:txBody>
      </p:sp>
      <p:sp>
        <p:nvSpPr>
          <p:cNvPr id="5" name="Text 3"/>
          <p:cNvSpPr txBox="1"/>
          <p:nvPr/>
        </p:nvSpPr>
        <p:spPr>
          <a:xfrm>
            <a:off x="566928" y="3072384"/>
            <a:ext cx="777240" cy="274320"/>
          </a:xfrm>
          <a:prstGeom prst="rect">
            <a:avLst/>
          </a:prstGeom>
          <a:noFill/>
          <a:ln/>
        </p:spPr>
        <p:txBody>
          <a:bodyPr wrap="square" lIns="0" tIns="0" rIns="0" bIns="0" rtlCol="0" anchor="ctr"/>
          <a:lstStyle/>
          <a:p>
            <a:pPr indent="0" marL="0">
              <a:buNone/>
            </a:pPr>
            <a:r>
              <a:rPr lang="en-US" sz="1000" b="1" spc="80" kern="0" dirty="0">
                <a:solidFill>
                  <a:srgbClr val="8B94A3"/>
                </a:solidFill>
                <a:latin typeface="Calibri" pitchFamily="34" charset="0"/>
                <a:ea typeface="Calibri" pitchFamily="34" charset="-122"/>
                <a:cs typeface="Calibri" pitchFamily="34" charset="-120"/>
              </a:rPr>
              <a:t>BEFORE</a:t>
            </a:r>
            <a:endParaRPr lang="en-US" sz="1000" dirty="0"/>
          </a:p>
        </p:txBody>
      </p:sp>
      <p:sp>
        <p:nvSpPr>
          <p:cNvPr id="6" name="Shape 4"/>
          <p:cNvSpPr/>
          <p:nvPr/>
        </p:nvSpPr>
        <p:spPr>
          <a:xfrm>
            <a:off x="1389888" y="3017520"/>
            <a:ext cx="4846320" cy="475488"/>
          </a:xfrm>
          <a:prstGeom prst="roundRect">
            <a:avLst>
              <a:gd name="adj" fmla="val 15385"/>
            </a:avLst>
          </a:prstGeom>
          <a:solidFill>
            <a:srgbClr val="ECFDF5"/>
          </a:solidFill>
          <a:ln w="9525">
            <a:solidFill>
              <a:srgbClr val="047857"/>
            </a:solidFill>
            <a:prstDash val="solid"/>
          </a:ln>
        </p:spPr>
      </p:sp>
      <p:sp>
        <p:nvSpPr>
          <p:cNvPr id="7" name="Text 5"/>
          <p:cNvSpPr txBox="1"/>
          <p:nvPr/>
        </p:nvSpPr>
        <p:spPr>
          <a:xfrm>
            <a:off x="1536192" y="3017520"/>
            <a:ext cx="2834640" cy="475488"/>
          </a:xfrm>
          <a:prstGeom prst="rect">
            <a:avLst/>
          </a:prstGeom>
          <a:noFill/>
          <a:ln/>
        </p:spPr>
        <p:txBody>
          <a:bodyPr wrap="square" lIns="0" tIns="0" rIns="0" bIns="0" rtlCol="0" anchor="ctr"/>
          <a:lstStyle/>
          <a:p>
            <a:pPr indent="0" marL="0">
              <a:buNone/>
            </a:pPr>
            <a:r>
              <a:rPr lang="en-US" sz="1200" dirty="0">
                <a:solidFill>
                  <a:srgbClr val="1A1D23"/>
                </a:solidFill>
                <a:latin typeface="Consolas" pitchFamily="34" charset="0"/>
                <a:ea typeface="Consolas" pitchFamily="34" charset="-122"/>
                <a:cs typeface="Consolas" pitchFamily="34" charset="-120"/>
              </a:rPr>
              <a:t>city: Pune</a:t>
            </a:r>
            <a:endParaRPr lang="en-US" sz="1200" dirty="0"/>
          </a:p>
        </p:txBody>
      </p:sp>
      <p:sp>
        <p:nvSpPr>
          <p:cNvPr id="8" name="Text 6"/>
          <p:cNvSpPr txBox="1"/>
          <p:nvPr/>
        </p:nvSpPr>
        <p:spPr>
          <a:xfrm>
            <a:off x="4407408" y="3017520"/>
            <a:ext cx="1691640" cy="475488"/>
          </a:xfrm>
          <a:prstGeom prst="rect">
            <a:avLst/>
          </a:prstGeom>
          <a:noFill/>
          <a:ln/>
        </p:spPr>
        <p:txBody>
          <a:bodyPr wrap="square" lIns="0" tIns="0" rIns="0" bIns="0" rtlCol="0" anchor="ctr"/>
          <a:lstStyle/>
          <a:p>
            <a:pPr algn="r" indent="0" marL="0">
              <a:buNone/>
            </a:pPr>
            <a:r>
              <a:rPr lang="en-US" sz="1100" b="1" dirty="0">
                <a:solidFill>
                  <a:srgbClr val="047857"/>
                </a:solidFill>
                <a:latin typeface="Calibri" pitchFamily="34" charset="0"/>
                <a:ea typeface="Calibri" pitchFamily="34" charset="-122"/>
                <a:cs typeface="Calibri" pitchFamily="34" charset="-120"/>
              </a:rPr>
              <a:t>current</a:t>
            </a:r>
            <a:endParaRPr lang="en-US" sz="1100" dirty="0"/>
          </a:p>
        </p:txBody>
      </p:sp>
      <p:sp>
        <p:nvSpPr>
          <p:cNvPr id="9" name="Text 7"/>
          <p:cNvSpPr txBox="1"/>
          <p:nvPr/>
        </p:nvSpPr>
        <p:spPr>
          <a:xfrm>
            <a:off x="566928" y="3675888"/>
            <a:ext cx="777240" cy="274320"/>
          </a:xfrm>
          <a:prstGeom prst="rect">
            <a:avLst/>
          </a:prstGeom>
          <a:noFill/>
          <a:ln/>
        </p:spPr>
        <p:txBody>
          <a:bodyPr wrap="square" lIns="0" tIns="0" rIns="0" bIns="0" rtlCol="0" anchor="ctr"/>
          <a:lstStyle/>
          <a:p>
            <a:pPr indent="0" marL="0">
              <a:buNone/>
            </a:pPr>
            <a:r>
              <a:rPr lang="en-US" sz="1000" b="1" spc="80" kern="0" dirty="0">
                <a:solidFill>
                  <a:srgbClr val="8B94A3"/>
                </a:solidFill>
                <a:latin typeface="Calibri" pitchFamily="34" charset="0"/>
                <a:ea typeface="Calibri" pitchFamily="34" charset="-122"/>
                <a:cs typeface="Calibri" pitchFamily="34" charset="-120"/>
              </a:rPr>
              <a:t>AFTER</a:t>
            </a:r>
            <a:endParaRPr lang="en-US" sz="1000" dirty="0"/>
          </a:p>
        </p:txBody>
      </p:sp>
      <p:sp>
        <p:nvSpPr>
          <p:cNvPr id="10" name="Shape 8"/>
          <p:cNvSpPr/>
          <p:nvPr/>
        </p:nvSpPr>
        <p:spPr>
          <a:xfrm>
            <a:off x="1389888" y="3621024"/>
            <a:ext cx="4846320" cy="475488"/>
          </a:xfrm>
          <a:prstGeom prst="roundRect">
            <a:avLst>
              <a:gd name="adj" fmla="val 15385"/>
            </a:avLst>
          </a:prstGeom>
          <a:solidFill>
            <a:srgbClr val="FFFBEB"/>
          </a:solidFill>
          <a:ln w="9525">
            <a:solidFill>
              <a:srgbClr val="B45309"/>
            </a:solidFill>
            <a:prstDash val="solid"/>
          </a:ln>
        </p:spPr>
      </p:sp>
      <p:sp>
        <p:nvSpPr>
          <p:cNvPr id="11" name="Text 9"/>
          <p:cNvSpPr txBox="1"/>
          <p:nvPr/>
        </p:nvSpPr>
        <p:spPr>
          <a:xfrm>
            <a:off x="1536192" y="3621024"/>
            <a:ext cx="2834640" cy="475488"/>
          </a:xfrm>
          <a:prstGeom prst="rect">
            <a:avLst/>
          </a:prstGeom>
          <a:noFill/>
          <a:ln/>
        </p:spPr>
        <p:txBody>
          <a:bodyPr wrap="square" lIns="0" tIns="0" rIns="0" bIns="0" rtlCol="0" anchor="ctr"/>
          <a:lstStyle/>
          <a:p>
            <a:pPr indent="0" marL="0">
              <a:buNone/>
            </a:pPr>
            <a:r>
              <a:rPr lang="en-US" sz="1200" dirty="0">
                <a:solidFill>
                  <a:srgbClr val="1A1D23"/>
                </a:solidFill>
                <a:latin typeface="Consolas" pitchFamily="34" charset="0"/>
                <a:ea typeface="Consolas" pitchFamily="34" charset="-122"/>
                <a:cs typeface="Consolas" pitchFamily="34" charset="-120"/>
              </a:rPr>
              <a:t>city: Pune</a:t>
            </a:r>
            <a:endParaRPr lang="en-US" sz="1200" dirty="0"/>
          </a:p>
        </p:txBody>
      </p:sp>
      <p:sp>
        <p:nvSpPr>
          <p:cNvPr id="12" name="Text 10"/>
          <p:cNvSpPr txBox="1"/>
          <p:nvPr/>
        </p:nvSpPr>
        <p:spPr>
          <a:xfrm>
            <a:off x="4407408" y="3621024"/>
            <a:ext cx="1691640" cy="475488"/>
          </a:xfrm>
          <a:prstGeom prst="rect">
            <a:avLst/>
          </a:prstGeom>
          <a:noFill/>
          <a:ln/>
        </p:spPr>
        <p:txBody>
          <a:bodyPr wrap="square" lIns="0" tIns="0" rIns="0" bIns="0" rtlCol="0" anchor="ctr"/>
          <a:lstStyle/>
          <a:p>
            <a:pPr algn="r" indent="0" marL="0">
              <a:buNone/>
            </a:pPr>
            <a:r>
              <a:rPr lang="en-US" sz="1100" b="1" dirty="0">
                <a:solidFill>
                  <a:srgbClr val="B45309"/>
                </a:solidFill>
                <a:latin typeface="Calibri" pitchFamily="34" charset="0"/>
                <a:ea typeface="Calibri" pitchFamily="34" charset="-122"/>
                <a:cs typeface="Calibri" pitchFamily="34" charset="-120"/>
              </a:rPr>
              <a:t>replaced</a:t>
            </a:r>
            <a:endParaRPr lang="en-US" sz="1100" dirty="0"/>
          </a:p>
        </p:txBody>
      </p:sp>
      <p:sp>
        <p:nvSpPr>
          <p:cNvPr id="13" name="Shape 11"/>
          <p:cNvSpPr/>
          <p:nvPr/>
        </p:nvSpPr>
        <p:spPr>
          <a:xfrm>
            <a:off x="1389888" y="4224528"/>
            <a:ext cx="4846320" cy="475488"/>
          </a:xfrm>
          <a:prstGeom prst="roundRect">
            <a:avLst>
              <a:gd name="adj" fmla="val 15385"/>
            </a:avLst>
          </a:prstGeom>
          <a:solidFill>
            <a:srgbClr val="ECFDF5"/>
          </a:solidFill>
          <a:ln w="9525">
            <a:solidFill>
              <a:srgbClr val="047857"/>
            </a:solidFill>
            <a:prstDash val="solid"/>
          </a:ln>
        </p:spPr>
      </p:sp>
      <p:sp>
        <p:nvSpPr>
          <p:cNvPr id="14" name="Text 12"/>
          <p:cNvSpPr txBox="1"/>
          <p:nvPr/>
        </p:nvSpPr>
        <p:spPr>
          <a:xfrm>
            <a:off x="1536192" y="4224528"/>
            <a:ext cx="2834640" cy="475488"/>
          </a:xfrm>
          <a:prstGeom prst="rect">
            <a:avLst/>
          </a:prstGeom>
          <a:noFill/>
          <a:ln/>
        </p:spPr>
        <p:txBody>
          <a:bodyPr wrap="square" lIns="0" tIns="0" rIns="0" bIns="0" rtlCol="0" anchor="ctr"/>
          <a:lstStyle/>
          <a:p>
            <a:pPr indent="0" marL="0">
              <a:buNone/>
            </a:pPr>
            <a:r>
              <a:rPr lang="en-US" sz="1200" dirty="0">
                <a:solidFill>
                  <a:srgbClr val="1A1D23"/>
                </a:solidFill>
                <a:latin typeface="Consolas" pitchFamily="34" charset="0"/>
                <a:ea typeface="Consolas" pitchFamily="34" charset="-122"/>
                <a:cs typeface="Consolas" pitchFamily="34" charset="-120"/>
              </a:rPr>
              <a:t>city: Mumbai</a:t>
            </a:r>
            <a:endParaRPr lang="en-US" sz="1200" dirty="0"/>
          </a:p>
        </p:txBody>
      </p:sp>
      <p:sp>
        <p:nvSpPr>
          <p:cNvPr id="15" name="Text 13"/>
          <p:cNvSpPr txBox="1"/>
          <p:nvPr/>
        </p:nvSpPr>
        <p:spPr>
          <a:xfrm>
            <a:off x="4407408" y="4224528"/>
            <a:ext cx="1691640" cy="475488"/>
          </a:xfrm>
          <a:prstGeom prst="rect">
            <a:avLst/>
          </a:prstGeom>
          <a:noFill/>
          <a:ln/>
        </p:spPr>
        <p:txBody>
          <a:bodyPr wrap="square" lIns="0" tIns="0" rIns="0" bIns="0" rtlCol="0" anchor="ctr"/>
          <a:lstStyle/>
          <a:p>
            <a:pPr algn="r" indent="0" marL="0">
              <a:buNone/>
            </a:pPr>
            <a:r>
              <a:rPr lang="en-US" sz="1100" b="1" dirty="0">
                <a:solidFill>
                  <a:srgbClr val="047857"/>
                </a:solidFill>
                <a:latin typeface="Calibri" pitchFamily="34" charset="0"/>
                <a:ea typeface="Calibri" pitchFamily="34" charset="-122"/>
                <a:cs typeface="Calibri" pitchFamily="34" charset="-120"/>
              </a:rPr>
              <a:t>current</a:t>
            </a:r>
            <a:endParaRPr lang="en-US" sz="1100" dirty="0"/>
          </a:p>
        </p:txBody>
      </p:sp>
      <p:sp>
        <p:nvSpPr>
          <p:cNvPr id="16" name="Text 14"/>
          <p:cNvSpPr txBox="1"/>
          <p:nvPr/>
        </p:nvSpPr>
        <p:spPr>
          <a:xfrm>
            <a:off x="566928" y="4974336"/>
            <a:ext cx="5669280" cy="822960"/>
          </a:xfrm>
          <a:prstGeom prst="rect">
            <a:avLst/>
          </a:prstGeom>
          <a:noFill/>
          <a:ln/>
        </p:spPr>
        <p:txBody>
          <a:bodyPr wrap="square" lIns="0" tIns="0" rIns="0" bIns="0" rtlCol="0" anchor="t"/>
          <a:lstStyle/>
          <a:p>
            <a:pPr indent="0" marL="0">
              <a:lnSpc>
                <a:spcPts val="2100"/>
              </a:lnSpc>
              <a:buNone/>
            </a:pPr>
            <a:r>
              <a:rPr lang="en-US" sz="1300" dirty="0">
                <a:solidFill>
                  <a:srgbClr val="1A1D23"/>
                </a:solidFill>
                <a:latin typeface="Calibri" pitchFamily="34" charset="0"/>
                <a:ea typeface="Calibri" pitchFamily="34" charset="-122"/>
                <a:cs typeface="Calibri" pitchFamily="34" charset="-120"/>
              </a:rPr>
              <a:t>Keeping the old record rather than overwriting it means the history of a fact can still be read back, which matters if anyone ever needs to check why the assistant believes something.</a:t>
            </a:r>
            <a:endParaRPr lang="en-US" sz="1300" dirty="0"/>
          </a:p>
        </p:txBody>
      </p:sp>
      <p:pic>
        <p:nvPicPr>
          <p:cNvPr id="17" name="Image 0" descr="D:\Project\Long-Term\docs\assets\03a_contradiction_panel.png">    </p:cNvPr>
          <p:cNvPicPr>
            <a:picLocks noChangeAspect="1"/>
          </p:cNvPicPr>
          <p:nvPr/>
        </p:nvPicPr>
        <p:blipFill>
          <a:blip r:embed="rId1"/>
          <a:stretch>
            <a:fillRect/>
          </a:stretch>
        </p:blipFill>
        <p:spPr>
          <a:xfrm>
            <a:off x="6583680" y="1874520"/>
            <a:ext cx="5047488" cy="1216152"/>
          </a:xfrm>
          <a:prstGeom prst="rect">
            <a:avLst/>
          </a:prstGeom>
        </p:spPr>
      </p:pic>
      <p:sp>
        <p:nvSpPr>
          <p:cNvPr id="18" name="Text 15"/>
          <p:cNvSpPr txBox="1"/>
          <p:nvPr/>
        </p:nvSpPr>
        <p:spPr>
          <a:xfrm>
            <a:off x="6583680" y="3200400"/>
            <a:ext cx="5047488"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The panel names both records, so the change is auditable during the demo.</a:t>
            </a:r>
            <a:endParaRPr lang="en-US" sz="1050" dirty="0"/>
          </a:p>
        </p:txBody>
      </p:sp>
      <p:pic>
        <p:nvPicPr>
          <p:cNvPr id="19" name="Image 1" descr="D:\Project\Long-Term\docs\assets\03c_statistics.png">    </p:cNvPr>
          <p:cNvPicPr>
            <a:picLocks noChangeAspect="1"/>
          </p:cNvPicPr>
          <p:nvPr/>
        </p:nvPicPr>
        <p:blipFill>
          <a:blip r:embed="rId2"/>
          <a:stretch>
            <a:fillRect/>
          </a:stretch>
        </p:blipFill>
        <p:spPr>
          <a:xfrm>
            <a:off x="6583680" y="3749040"/>
            <a:ext cx="5047488" cy="1773936"/>
          </a:xfrm>
          <a:prstGeom prst="rect">
            <a:avLst/>
          </a:prstGeom>
        </p:spPr>
      </p:pic>
      <p:sp>
        <p:nvSpPr>
          <p:cNvPr id="20" name="Text 16"/>
          <p:cNvSpPr txBox="1"/>
          <p:nvPr/>
        </p:nvSpPr>
        <p:spPr>
          <a:xfrm>
            <a:off x="6583680" y="5596128"/>
            <a:ext cx="5047488"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Replaced facts are counted separately from current ones.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EVIDENCE</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Why similarity on its own gets this wrong</a:t>
            </a:r>
            <a:endParaRPr lang="en-US" sz="3200" dirty="0"/>
          </a:p>
        </p:txBody>
      </p:sp>
      <p:sp>
        <p:nvSpPr>
          <p:cNvPr id="4" name="Text 2"/>
          <p:cNvSpPr txBox="1"/>
          <p:nvPr/>
        </p:nvSpPr>
        <p:spPr>
          <a:xfrm>
            <a:off x="566928" y="1463040"/>
            <a:ext cx="10881360" cy="548640"/>
          </a:xfrm>
          <a:prstGeom prst="rect">
            <a:avLst/>
          </a:prstGeom>
          <a:noFill/>
          <a:ln/>
        </p:spPr>
        <p:txBody>
          <a:bodyPr wrap="square" lIns="0" tIns="0" rIns="0" bIns="0" rtlCol="0" anchor="t"/>
          <a:lstStyle/>
          <a:p>
            <a:pPr indent="0" marL="0">
              <a:lnSpc>
                <a:spcPts val="2100"/>
              </a:lnSpc>
              <a:buNone/>
            </a:pPr>
            <a:r>
              <a:rPr lang="en-US" sz="1450" dirty="0">
                <a:solidFill>
                  <a:srgbClr val="1A1D23"/>
                </a:solidFill>
                <a:latin typeface="Calibri" pitchFamily="34" charset="0"/>
                <a:ea typeface="Calibri" pitchFamily="34" charset="-122"/>
                <a:cs typeface="Calibri" pitchFamily="34" charset="-120"/>
              </a:rPr>
              <a:t>We tested this rather than assuming it. The same four questions were asked twice, once with replaced facts filtered out and once with them left in.</a:t>
            </a:r>
            <a:endParaRPr lang="en-US" sz="1450" dirty="0"/>
          </a:p>
        </p:txBody>
      </p:sp>
      <p:sp>
        <p:nvSpPr>
          <p:cNvPr id="5" name="Shape 3"/>
          <p:cNvSpPr/>
          <p:nvPr/>
        </p:nvSpPr>
        <p:spPr>
          <a:xfrm>
            <a:off x="566928" y="2194560"/>
            <a:ext cx="10881360" cy="457200"/>
          </a:xfrm>
          <a:prstGeom prst="roundRect">
            <a:avLst>
              <a:gd name="adj" fmla="val 14000"/>
            </a:avLst>
          </a:prstGeom>
          <a:solidFill>
            <a:srgbClr val="1E2761"/>
          </a:solidFill>
          <a:ln w="12700">
            <a:solidFill>
              <a:srgbClr val="1E2761"/>
            </a:solidFill>
            <a:prstDash val="solid"/>
          </a:ln>
        </p:spPr>
      </p:sp>
      <p:sp>
        <p:nvSpPr>
          <p:cNvPr id="6" name="Text 4"/>
          <p:cNvSpPr txBox="1"/>
          <p:nvPr/>
        </p:nvSpPr>
        <p:spPr>
          <a:xfrm>
            <a:off x="768096" y="2194560"/>
            <a:ext cx="4297680" cy="457200"/>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QUESTION ASKED</a:t>
            </a:r>
            <a:endParaRPr lang="en-US" sz="1050" dirty="0"/>
          </a:p>
        </p:txBody>
      </p:sp>
      <p:sp>
        <p:nvSpPr>
          <p:cNvPr id="7" name="Text 5"/>
          <p:cNvSpPr txBox="1"/>
          <p:nvPr/>
        </p:nvSpPr>
        <p:spPr>
          <a:xfrm>
            <a:off x="5248656" y="2194560"/>
            <a:ext cx="2926080" cy="457200"/>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OUTDATED FACT RETURNED</a:t>
            </a:r>
            <a:endParaRPr lang="en-US" sz="1050" dirty="0"/>
          </a:p>
        </p:txBody>
      </p:sp>
      <p:sp>
        <p:nvSpPr>
          <p:cNvPr id="8" name="Text 6"/>
          <p:cNvSpPr txBox="1"/>
          <p:nvPr/>
        </p:nvSpPr>
        <p:spPr>
          <a:xfrm>
            <a:off x="8357616" y="2194560"/>
            <a:ext cx="2377440" cy="457200"/>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SIMILARITY SCORE</a:t>
            </a:r>
            <a:endParaRPr lang="en-US" sz="1050" dirty="0"/>
          </a:p>
        </p:txBody>
      </p:sp>
      <p:sp>
        <p:nvSpPr>
          <p:cNvPr id="9" name="Shape 7"/>
          <p:cNvSpPr/>
          <p:nvPr/>
        </p:nvSpPr>
        <p:spPr>
          <a:xfrm>
            <a:off x="566928" y="2706624"/>
            <a:ext cx="10881360" cy="475488"/>
          </a:xfrm>
          <a:prstGeom prst="roundRect">
            <a:avLst>
              <a:gd name="adj" fmla="val 11538"/>
            </a:avLst>
          </a:prstGeom>
          <a:solidFill>
            <a:srgbClr val="F7F9FC"/>
          </a:solidFill>
          <a:ln w="9525">
            <a:solidFill>
              <a:srgbClr val="DDE3ED"/>
            </a:solidFill>
            <a:prstDash val="solid"/>
          </a:ln>
        </p:spPr>
      </p:sp>
      <p:sp>
        <p:nvSpPr>
          <p:cNvPr id="10" name="Text 8"/>
          <p:cNvSpPr txBox="1"/>
          <p:nvPr/>
        </p:nvSpPr>
        <p:spPr>
          <a:xfrm>
            <a:off x="768096" y="2706624"/>
            <a:ext cx="4297680" cy="475488"/>
          </a:xfrm>
          <a:prstGeom prst="rect">
            <a:avLst/>
          </a:prstGeom>
          <a:noFill/>
          <a:ln/>
        </p:spPr>
        <p:txBody>
          <a:bodyPr wrap="square" lIns="0" tIns="0" rIns="0" bIns="0" rtlCol="0" anchor="ctr"/>
          <a:lstStyle/>
          <a:p>
            <a:pPr indent="0" marL="0">
              <a:buNone/>
            </a:pPr>
            <a:r>
              <a:rPr lang="en-US" sz="1300" dirty="0">
                <a:solidFill>
                  <a:srgbClr val="1A1D23"/>
                </a:solidFill>
                <a:latin typeface="Calibri" pitchFamily="34" charset="0"/>
                <a:ea typeface="Calibri" pitchFamily="34" charset="-122"/>
                <a:cs typeface="Calibri" pitchFamily="34" charset="-120"/>
              </a:rPr>
              <a:t>Which city am I living in?</a:t>
            </a:r>
            <a:endParaRPr lang="en-US" sz="1300" dirty="0"/>
          </a:p>
        </p:txBody>
      </p:sp>
      <p:sp>
        <p:nvSpPr>
          <p:cNvPr id="11" name="Text 9"/>
          <p:cNvSpPr txBox="1"/>
          <p:nvPr/>
        </p:nvSpPr>
        <p:spPr>
          <a:xfrm>
            <a:off x="5248656" y="2706624"/>
            <a:ext cx="2926080" cy="475488"/>
          </a:xfrm>
          <a:prstGeom prst="rect">
            <a:avLst/>
          </a:prstGeom>
          <a:noFill/>
          <a:ln/>
        </p:spPr>
        <p:txBody>
          <a:bodyPr wrap="square" lIns="0" tIns="0" rIns="0" bIns="0" rtlCol="0" anchor="ctr"/>
          <a:lstStyle/>
          <a:p>
            <a:pPr indent="0" marL="0">
              <a:buNone/>
            </a:pPr>
            <a:r>
              <a:rPr lang="en-US" sz="1200" dirty="0">
                <a:solidFill>
                  <a:srgbClr val="B45309"/>
                </a:solidFill>
                <a:latin typeface="Consolas" pitchFamily="34" charset="0"/>
                <a:ea typeface="Consolas" pitchFamily="34" charset="-122"/>
                <a:cs typeface="Consolas" pitchFamily="34" charset="-120"/>
              </a:rPr>
              <a:t>Pune</a:t>
            </a:r>
            <a:endParaRPr lang="en-US" sz="1200" dirty="0"/>
          </a:p>
        </p:txBody>
      </p:sp>
      <p:sp>
        <p:nvSpPr>
          <p:cNvPr id="12" name="Text 10"/>
          <p:cNvSpPr txBox="1"/>
          <p:nvPr/>
        </p:nvSpPr>
        <p:spPr>
          <a:xfrm>
            <a:off x="8357616" y="2706624"/>
            <a:ext cx="2377440" cy="475488"/>
          </a:xfrm>
          <a:prstGeom prst="rect">
            <a:avLst/>
          </a:prstGeom>
          <a:noFill/>
          <a:ln/>
        </p:spPr>
        <p:txBody>
          <a:bodyPr wrap="square" lIns="0" tIns="0" rIns="0" bIns="0" rtlCol="0" anchor="ctr"/>
          <a:lstStyle/>
          <a:p>
            <a:pPr indent="0" marL="0">
              <a:buNone/>
            </a:pPr>
            <a:r>
              <a:rPr lang="en-US" sz="1200" b="1" dirty="0">
                <a:solidFill>
                  <a:srgbClr val="1A1D23"/>
                </a:solidFill>
                <a:latin typeface="Consolas" pitchFamily="34" charset="0"/>
                <a:ea typeface="Consolas" pitchFamily="34" charset="-122"/>
                <a:cs typeface="Consolas" pitchFamily="34" charset="-120"/>
              </a:rPr>
              <a:t>0.424</a:t>
            </a:r>
            <a:endParaRPr lang="en-US" sz="1200" dirty="0"/>
          </a:p>
        </p:txBody>
      </p:sp>
      <p:sp>
        <p:nvSpPr>
          <p:cNvPr id="13" name="Shape 11"/>
          <p:cNvSpPr/>
          <p:nvPr/>
        </p:nvSpPr>
        <p:spPr>
          <a:xfrm>
            <a:off x="566928" y="3255264"/>
            <a:ext cx="10881360" cy="475488"/>
          </a:xfrm>
          <a:prstGeom prst="roundRect">
            <a:avLst>
              <a:gd name="adj" fmla="val 11538"/>
            </a:avLst>
          </a:prstGeom>
          <a:solidFill>
            <a:srgbClr val="F7F9FC"/>
          </a:solidFill>
          <a:ln w="9525">
            <a:solidFill>
              <a:srgbClr val="DDE3ED"/>
            </a:solidFill>
            <a:prstDash val="solid"/>
          </a:ln>
        </p:spPr>
      </p:sp>
      <p:sp>
        <p:nvSpPr>
          <p:cNvPr id="14" name="Text 12"/>
          <p:cNvSpPr txBox="1"/>
          <p:nvPr/>
        </p:nvSpPr>
        <p:spPr>
          <a:xfrm>
            <a:off x="768096" y="3255264"/>
            <a:ext cx="4297680" cy="475488"/>
          </a:xfrm>
          <a:prstGeom prst="rect">
            <a:avLst/>
          </a:prstGeom>
          <a:noFill/>
          <a:ln/>
        </p:spPr>
        <p:txBody>
          <a:bodyPr wrap="square" lIns="0" tIns="0" rIns="0" bIns="0" rtlCol="0" anchor="ctr"/>
          <a:lstStyle/>
          <a:p>
            <a:pPr indent="0" marL="0">
              <a:buNone/>
            </a:pPr>
            <a:r>
              <a:rPr lang="en-US" sz="1300" dirty="0">
                <a:solidFill>
                  <a:srgbClr val="1A1D23"/>
                </a:solidFill>
                <a:latin typeface="Calibri" pitchFamily="34" charset="0"/>
                <a:ea typeface="Calibri" pitchFamily="34" charset="-122"/>
                <a:cs typeface="Calibri" pitchFamily="34" charset="-120"/>
              </a:rPr>
              <a:t>Who do I work for?</a:t>
            </a:r>
            <a:endParaRPr lang="en-US" sz="1300" dirty="0"/>
          </a:p>
        </p:txBody>
      </p:sp>
      <p:sp>
        <p:nvSpPr>
          <p:cNvPr id="15" name="Text 13"/>
          <p:cNvSpPr txBox="1"/>
          <p:nvPr/>
        </p:nvSpPr>
        <p:spPr>
          <a:xfrm>
            <a:off x="5248656" y="3255264"/>
            <a:ext cx="2926080" cy="475488"/>
          </a:xfrm>
          <a:prstGeom prst="rect">
            <a:avLst/>
          </a:prstGeom>
          <a:noFill/>
          <a:ln/>
        </p:spPr>
        <p:txBody>
          <a:bodyPr wrap="square" lIns="0" tIns="0" rIns="0" bIns="0" rtlCol="0" anchor="ctr"/>
          <a:lstStyle/>
          <a:p>
            <a:pPr indent="0" marL="0">
              <a:buNone/>
            </a:pPr>
            <a:r>
              <a:rPr lang="en-US" sz="1200" dirty="0">
                <a:solidFill>
                  <a:srgbClr val="B45309"/>
                </a:solidFill>
                <a:latin typeface="Consolas" pitchFamily="34" charset="0"/>
                <a:ea typeface="Consolas" pitchFamily="34" charset="-122"/>
                <a:cs typeface="Consolas" pitchFamily="34" charset="-120"/>
              </a:rPr>
              <a:t>Infosys</a:t>
            </a:r>
            <a:endParaRPr lang="en-US" sz="1200" dirty="0"/>
          </a:p>
        </p:txBody>
      </p:sp>
      <p:sp>
        <p:nvSpPr>
          <p:cNvPr id="16" name="Text 14"/>
          <p:cNvSpPr txBox="1"/>
          <p:nvPr/>
        </p:nvSpPr>
        <p:spPr>
          <a:xfrm>
            <a:off x="8357616" y="3255264"/>
            <a:ext cx="2377440" cy="475488"/>
          </a:xfrm>
          <a:prstGeom prst="rect">
            <a:avLst/>
          </a:prstGeom>
          <a:noFill/>
          <a:ln/>
        </p:spPr>
        <p:txBody>
          <a:bodyPr wrap="square" lIns="0" tIns="0" rIns="0" bIns="0" rtlCol="0" anchor="ctr"/>
          <a:lstStyle/>
          <a:p>
            <a:pPr indent="0" marL="0">
              <a:buNone/>
            </a:pPr>
            <a:r>
              <a:rPr lang="en-US" sz="1200" b="1" dirty="0">
                <a:solidFill>
                  <a:srgbClr val="1A1D23"/>
                </a:solidFill>
                <a:latin typeface="Consolas" pitchFamily="34" charset="0"/>
                <a:ea typeface="Consolas" pitchFamily="34" charset="-122"/>
                <a:cs typeface="Consolas" pitchFamily="34" charset="-120"/>
              </a:rPr>
              <a:t>0.416</a:t>
            </a:r>
            <a:endParaRPr lang="en-US" sz="1200" dirty="0"/>
          </a:p>
        </p:txBody>
      </p:sp>
      <p:sp>
        <p:nvSpPr>
          <p:cNvPr id="17" name="Shape 15"/>
          <p:cNvSpPr/>
          <p:nvPr/>
        </p:nvSpPr>
        <p:spPr>
          <a:xfrm>
            <a:off x="566928" y="3803904"/>
            <a:ext cx="10881360" cy="475488"/>
          </a:xfrm>
          <a:prstGeom prst="roundRect">
            <a:avLst>
              <a:gd name="adj" fmla="val 11538"/>
            </a:avLst>
          </a:prstGeom>
          <a:solidFill>
            <a:srgbClr val="F7F9FC"/>
          </a:solidFill>
          <a:ln w="9525">
            <a:solidFill>
              <a:srgbClr val="DDE3ED"/>
            </a:solidFill>
            <a:prstDash val="solid"/>
          </a:ln>
        </p:spPr>
      </p:sp>
      <p:sp>
        <p:nvSpPr>
          <p:cNvPr id="18" name="Text 16"/>
          <p:cNvSpPr txBox="1"/>
          <p:nvPr/>
        </p:nvSpPr>
        <p:spPr>
          <a:xfrm>
            <a:off x="768096" y="3803904"/>
            <a:ext cx="4297680" cy="475488"/>
          </a:xfrm>
          <a:prstGeom prst="rect">
            <a:avLst/>
          </a:prstGeom>
          <a:noFill/>
          <a:ln/>
        </p:spPr>
        <p:txBody>
          <a:bodyPr wrap="square" lIns="0" tIns="0" rIns="0" bIns="0" rtlCol="0" anchor="ctr"/>
          <a:lstStyle/>
          <a:p>
            <a:pPr indent="0" marL="0">
              <a:buNone/>
            </a:pPr>
            <a:r>
              <a:rPr lang="en-US" sz="1300" dirty="0">
                <a:solidFill>
                  <a:srgbClr val="1A1D23"/>
                </a:solidFill>
                <a:latin typeface="Calibri" pitchFamily="34" charset="0"/>
                <a:ea typeface="Calibri" pitchFamily="34" charset="-122"/>
                <a:cs typeface="Calibri" pitchFamily="34" charset="-120"/>
              </a:rPr>
              <a:t>What sport do I like most?</a:t>
            </a:r>
            <a:endParaRPr lang="en-US" sz="1300" dirty="0"/>
          </a:p>
        </p:txBody>
      </p:sp>
      <p:sp>
        <p:nvSpPr>
          <p:cNvPr id="19" name="Text 17"/>
          <p:cNvSpPr txBox="1"/>
          <p:nvPr/>
        </p:nvSpPr>
        <p:spPr>
          <a:xfrm>
            <a:off x="5248656" y="3803904"/>
            <a:ext cx="2926080" cy="475488"/>
          </a:xfrm>
          <a:prstGeom prst="rect">
            <a:avLst/>
          </a:prstGeom>
          <a:noFill/>
          <a:ln/>
        </p:spPr>
        <p:txBody>
          <a:bodyPr wrap="square" lIns="0" tIns="0" rIns="0" bIns="0" rtlCol="0" anchor="ctr"/>
          <a:lstStyle/>
          <a:p>
            <a:pPr indent="0" marL="0">
              <a:buNone/>
            </a:pPr>
            <a:r>
              <a:rPr lang="en-US" sz="1200" dirty="0">
                <a:solidFill>
                  <a:srgbClr val="B45309"/>
                </a:solidFill>
                <a:latin typeface="Consolas" pitchFamily="34" charset="0"/>
                <a:ea typeface="Consolas" pitchFamily="34" charset="-122"/>
                <a:cs typeface="Consolas" pitchFamily="34" charset="-120"/>
              </a:rPr>
              <a:t>football</a:t>
            </a:r>
            <a:endParaRPr lang="en-US" sz="1200" dirty="0"/>
          </a:p>
        </p:txBody>
      </p:sp>
      <p:sp>
        <p:nvSpPr>
          <p:cNvPr id="20" name="Text 18"/>
          <p:cNvSpPr txBox="1"/>
          <p:nvPr/>
        </p:nvSpPr>
        <p:spPr>
          <a:xfrm>
            <a:off x="8357616" y="3803904"/>
            <a:ext cx="2377440" cy="475488"/>
          </a:xfrm>
          <a:prstGeom prst="rect">
            <a:avLst/>
          </a:prstGeom>
          <a:noFill/>
          <a:ln/>
        </p:spPr>
        <p:txBody>
          <a:bodyPr wrap="square" lIns="0" tIns="0" rIns="0" bIns="0" rtlCol="0" anchor="ctr"/>
          <a:lstStyle/>
          <a:p>
            <a:pPr indent="0" marL="0">
              <a:buNone/>
            </a:pPr>
            <a:r>
              <a:rPr lang="en-US" sz="1200" b="1" dirty="0">
                <a:solidFill>
                  <a:srgbClr val="1A1D23"/>
                </a:solidFill>
                <a:latin typeface="Consolas" pitchFamily="34" charset="0"/>
                <a:ea typeface="Consolas" pitchFamily="34" charset="-122"/>
                <a:cs typeface="Consolas" pitchFamily="34" charset="-120"/>
              </a:rPr>
              <a:t>0.651</a:t>
            </a:r>
            <a:endParaRPr lang="en-US" sz="1200" dirty="0"/>
          </a:p>
        </p:txBody>
      </p:sp>
      <p:sp>
        <p:nvSpPr>
          <p:cNvPr id="21" name="Shape 19"/>
          <p:cNvSpPr/>
          <p:nvPr/>
        </p:nvSpPr>
        <p:spPr>
          <a:xfrm>
            <a:off x="566928" y="4352544"/>
            <a:ext cx="10881360" cy="475488"/>
          </a:xfrm>
          <a:prstGeom prst="roundRect">
            <a:avLst>
              <a:gd name="adj" fmla="val 11538"/>
            </a:avLst>
          </a:prstGeom>
          <a:solidFill>
            <a:srgbClr val="F7F9FC"/>
          </a:solidFill>
          <a:ln w="9525">
            <a:solidFill>
              <a:srgbClr val="DDE3ED"/>
            </a:solidFill>
            <a:prstDash val="solid"/>
          </a:ln>
        </p:spPr>
      </p:sp>
      <p:sp>
        <p:nvSpPr>
          <p:cNvPr id="22" name="Text 20"/>
          <p:cNvSpPr txBox="1"/>
          <p:nvPr/>
        </p:nvSpPr>
        <p:spPr>
          <a:xfrm>
            <a:off x="768096" y="4352544"/>
            <a:ext cx="4297680" cy="475488"/>
          </a:xfrm>
          <a:prstGeom prst="rect">
            <a:avLst/>
          </a:prstGeom>
          <a:noFill/>
          <a:ln/>
        </p:spPr>
        <p:txBody>
          <a:bodyPr wrap="square" lIns="0" tIns="0" rIns="0" bIns="0" rtlCol="0" anchor="ctr"/>
          <a:lstStyle/>
          <a:p>
            <a:pPr indent="0" marL="0">
              <a:buNone/>
            </a:pPr>
            <a:r>
              <a:rPr lang="en-US" sz="1300" dirty="0">
                <a:solidFill>
                  <a:srgbClr val="1A1D23"/>
                </a:solidFill>
                <a:latin typeface="Calibri" pitchFamily="34" charset="0"/>
                <a:ea typeface="Calibri" pitchFamily="34" charset="-122"/>
                <a:cs typeface="Calibri" pitchFamily="34" charset="-120"/>
              </a:rPr>
              <a:t>What do I eat?</a:t>
            </a:r>
            <a:endParaRPr lang="en-US" sz="1300" dirty="0"/>
          </a:p>
        </p:txBody>
      </p:sp>
      <p:sp>
        <p:nvSpPr>
          <p:cNvPr id="23" name="Text 21"/>
          <p:cNvSpPr txBox="1"/>
          <p:nvPr/>
        </p:nvSpPr>
        <p:spPr>
          <a:xfrm>
            <a:off x="5248656" y="4352544"/>
            <a:ext cx="2926080" cy="475488"/>
          </a:xfrm>
          <a:prstGeom prst="rect">
            <a:avLst/>
          </a:prstGeom>
          <a:noFill/>
          <a:ln/>
        </p:spPr>
        <p:txBody>
          <a:bodyPr wrap="square" lIns="0" tIns="0" rIns="0" bIns="0" rtlCol="0" anchor="ctr"/>
          <a:lstStyle/>
          <a:p>
            <a:pPr indent="0" marL="0">
              <a:buNone/>
            </a:pPr>
            <a:r>
              <a:rPr lang="en-US" sz="1200" dirty="0">
                <a:solidFill>
                  <a:srgbClr val="B45309"/>
                </a:solidFill>
                <a:latin typeface="Consolas" pitchFamily="34" charset="0"/>
                <a:ea typeface="Consolas" pitchFamily="34" charset="-122"/>
                <a:cs typeface="Consolas" pitchFamily="34" charset="-120"/>
              </a:rPr>
              <a:t>vegetarian</a:t>
            </a:r>
            <a:endParaRPr lang="en-US" sz="1200" dirty="0"/>
          </a:p>
        </p:txBody>
      </p:sp>
      <p:sp>
        <p:nvSpPr>
          <p:cNvPr id="24" name="Text 22"/>
          <p:cNvSpPr txBox="1"/>
          <p:nvPr/>
        </p:nvSpPr>
        <p:spPr>
          <a:xfrm>
            <a:off x="8357616" y="4352544"/>
            <a:ext cx="2377440" cy="475488"/>
          </a:xfrm>
          <a:prstGeom prst="rect">
            <a:avLst/>
          </a:prstGeom>
          <a:noFill/>
          <a:ln/>
        </p:spPr>
        <p:txBody>
          <a:bodyPr wrap="square" lIns="0" tIns="0" rIns="0" bIns="0" rtlCol="0" anchor="ctr"/>
          <a:lstStyle/>
          <a:p>
            <a:pPr indent="0" marL="0">
              <a:buNone/>
            </a:pPr>
            <a:r>
              <a:rPr lang="en-US" sz="1200" b="1" dirty="0">
                <a:solidFill>
                  <a:srgbClr val="1A1D23"/>
                </a:solidFill>
                <a:latin typeface="Consolas" pitchFamily="34" charset="0"/>
                <a:ea typeface="Consolas" pitchFamily="34" charset="-122"/>
                <a:cs typeface="Consolas" pitchFamily="34" charset="-120"/>
              </a:rPr>
              <a:t>0.381</a:t>
            </a:r>
            <a:endParaRPr lang="en-US" sz="1200" dirty="0"/>
          </a:p>
        </p:txBody>
      </p:sp>
      <p:sp>
        <p:nvSpPr>
          <p:cNvPr id="25" name="Shape 23"/>
          <p:cNvSpPr/>
          <p:nvPr/>
        </p:nvSpPr>
        <p:spPr>
          <a:xfrm>
            <a:off x="566928" y="5029200"/>
            <a:ext cx="5330952" cy="1170432"/>
          </a:xfrm>
          <a:prstGeom prst="roundRect">
            <a:avLst>
              <a:gd name="adj" fmla="val 7813"/>
            </a:avLst>
          </a:prstGeom>
          <a:solidFill>
            <a:srgbClr val="FFFBEB"/>
          </a:solidFill>
          <a:ln w="9525">
            <a:solidFill>
              <a:srgbClr val="DDE3ED"/>
            </a:solidFill>
            <a:prstDash val="solid"/>
          </a:ln>
        </p:spPr>
      </p:sp>
      <p:sp>
        <p:nvSpPr>
          <p:cNvPr id="26" name="Text 24"/>
          <p:cNvSpPr txBox="1"/>
          <p:nvPr/>
        </p:nvSpPr>
        <p:spPr>
          <a:xfrm>
            <a:off x="822960" y="5175504"/>
            <a:ext cx="4754880"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Filter switched off</a:t>
            </a:r>
            <a:endParaRPr lang="en-US" sz="1200" dirty="0"/>
          </a:p>
        </p:txBody>
      </p:sp>
      <p:sp>
        <p:nvSpPr>
          <p:cNvPr id="27" name="Text 25"/>
          <p:cNvSpPr txBox="1"/>
          <p:nvPr/>
        </p:nvSpPr>
        <p:spPr>
          <a:xfrm>
            <a:off x="822960" y="5449824"/>
            <a:ext cx="4846320" cy="566928"/>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4 of 4 questions were given an outdated fact as though it were true.</a:t>
            </a:r>
            <a:endParaRPr lang="en-US" sz="1250" dirty="0"/>
          </a:p>
        </p:txBody>
      </p:sp>
      <p:sp>
        <p:nvSpPr>
          <p:cNvPr id="28" name="Shape 26"/>
          <p:cNvSpPr/>
          <p:nvPr/>
        </p:nvSpPr>
        <p:spPr>
          <a:xfrm>
            <a:off x="6117336" y="5029200"/>
            <a:ext cx="5330952" cy="1170432"/>
          </a:xfrm>
          <a:prstGeom prst="roundRect">
            <a:avLst>
              <a:gd name="adj" fmla="val 7813"/>
            </a:avLst>
          </a:prstGeom>
          <a:solidFill>
            <a:srgbClr val="ECFDF5"/>
          </a:solidFill>
          <a:ln w="9525">
            <a:solidFill>
              <a:srgbClr val="DDE3ED"/>
            </a:solidFill>
            <a:prstDash val="solid"/>
          </a:ln>
        </p:spPr>
      </p:sp>
      <p:sp>
        <p:nvSpPr>
          <p:cNvPr id="29" name="Text 27"/>
          <p:cNvSpPr txBox="1"/>
          <p:nvPr/>
        </p:nvSpPr>
        <p:spPr>
          <a:xfrm>
            <a:off x="6373368" y="5175504"/>
            <a:ext cx="4754880" cy="274320"/>
          </a:xfrm>
          <a:prstGeom prst="rect">
            <a:avLst/>
          </a:prstGeom>
          <a:noFill/>
          <a:ln/>
        </p:spPr>
        <p:txBody>
          <a:bodyPr wrap="square" lIns="0" tIns="0" rIns="0" bIns="0"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Filter switched on</a:t>
            </a:r>
            <a:endParaRPr lang="en-US" sz="1200" dirty="0"/>
          </a:p>
        </p:txBody>
      </p:sp>
      <p:sp>
        <p:nvSpPr>
          <p:cNvPr id="30" name="Text 28"/>
          <p:cNvSpPr txBox="1"/>
          <p:nvPr/>
        </p:nvSpPr>
        <p:spPr>
          <a:xfrm>
            <a:off x="6373368" y="5449824"/>
            <a:ext cx="4846320" cy="566928"/>
          </a:xfrm>
          <a:prstGeom prst="rect">
            <a:avLst/>
          </a:prstGeom>
          <a:noFill/>
          <a:ln/>
        </p:spPr>
        <p:txBody>
          <a:bodyPr wrap="square" lIns="0" tIns="0" rIns="0" bIns="0" rtlCol="0" anchor="t"/>
          <a:lstStyle/>
          <a:p>
            <a:pPr indent="0" marL="0">
              <a:lnSpc>
                <a:spcPts val="1600"/>
              </a:lnSpc>
              <a:buNone/>
            </a:pPr>
            <a:r>
              <a:rPr lang="en-US" sz="1250" dirty="0">
                <a:solidFill>
                  <a:srgbClr val="1A1D23"/>
                </a:solidFill>
                <a:latin typeface="Calibri" pitchFamily="34" charset="0"/>
                <a:ea typeface="Calibri" pitchFamily="34" charset="-122"/>
                <a:cs typeface="Calibri" pitchFamily="34" charset="-120"/>
              </a:rPr>
              <a:t>0 of 4. The correct current fact was returned every time.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4, MEMORY GROWTH</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Keeping the store from growing without limit</a:t>
            </a:r>
            <a:endParaRPr lang="en-US" sz="3200" dirty="0"/>
          </a:p>
        </p:txBody>
      </p:sp>
      <p:sp>
        <p:nvSpPr>
          <p:cNvPr id="4" name="Shape 2"/>
          <p:cNvSpPr/>
          <p:nvPr/>
        </p:nvSpPr>
        <p:spPr>
          <a:xfrm>
            <a:off x="566928" y="1691640"/>
            <a:ext cx="3529584" cy="2286000"/>
          </a:xfrm>
          <a:prstGeom prst="roundRect">
            <a:avLst>
              <a:gd name="adj" fmla="val 4000"/>
            </a:avLst>
          </a:prstGeom>
          <a:solidFill>
            <a:srgbClr val="F7F9FC"/>
          </a:solidFill>
          <a:ln w="9525">
            <a:solidFill>
              <a:srgbClr val="DDE3ED"/>
            </a:solidFill>
            <a:prstDash val="solid"/>
          </a:ln>
        </p:spPr>
      </p:sp>
      <p:sp>
        <p:nvSpPr>
          <p:cNvPr id="5" name="Shape 3"/>
          <p:cNvSpPr/>
          <p:nvPr/>
        </p:nvSpPr>
        <p:spPr>
          <a:xfrm>
            <a:off x="822960" y="1938528"/>
            <a:ext cx="146304" cy="146304"/>
          </a:xfrm>
          <a:prstGeom prst="ellipse">
            <a:avLst/>
          </a:prstGeom>
          <a:solidFill>
            <a:srgbClr val="047857"/>
          </a:solidFill>
          <a:ln w="12700">
            <a:solidFill>
              <a:srgbClr val="047857"/>
            </a:solidFill>
            <a:prstDash val="solid"/>
          </a:ln>
        </p:spPr>
      </p:sp>
      <p:sp>
        <p:nvSpPr>
          <p:cNvPr id="6" name="Text 4"/>
          <p:cNvSpPr txBox="1"/>
          <p:nvPr/>
        </p:nvSpPr>
        <p:spPr>
          <a:xfrm>
            <a:off x="1078992" y="1847088"/>
            <a:ext cx="2761488" cy="347472"/>
          </a:xfrm>
          <a:prstGeom prst="rect">
            <a:avLst/>
          </a:prstGeom>
          <a:noFill/>
          <a:ln/>
        </p:spPr>
        <p:txBody>
          <a:bodyPr wrap="square" lIns="0" tIns="0" rIns="0" bIns="0" rtlCol="0" anchor="ctr"/>
          <a:lstStyle/>
          <a:p>
            <a:pPr indent="0" marL="0">
              <a:buNone/>
            </a:pPr>
            <a:r>
              <a:rPr lang="en-US" sz="1450" b="1" dirty="0">
                <a:solidFill>
                  <a:srgbClr val="047857"/>
                </a:solidFill>
                <a:latin typeface="Calibri" pitchFamily="34" charset="0"/>
                <a:ea typeface="Calibri" pitchFamily="34" charset="-122"/>
                <a:cs typeface="Calibri" pitchFamily="34" charset="-120"/>
              </a:rPr>
              <a:t>Facts are kept</a:t>
            </a:r>
            <a:endParaRPr lang="en-US" sz="1450" dirty="0"/>
          </a:p>
        </p:txBody>
      </p:sp>
      <p:sp>
        <p:nvSpPr>
          <p:cNvPr id="7" name="Text 5"/>
          <p:cNvSpPr txBox="1"/>
          <p:nvPr/>
        </p:nvSpPr>
        <p:spPr>
          <a:xfrm>
            <a:off x="822960" y="2286000"/>
            <a:ext cx="3017520" cy="1463040"/>
          </a:xfrm>
          <a:prstGeom prst="rect">
            <a:avLst/>
          </a:prstGeom>
          <a:noFill/>
          <a:ln/>
        </p:spPr>
        <p:txBody>
          <a:bodyPr wrap="square" lIns="0" tIns="0" rIns="0" bIns="0" rtlCol="0" anchor="t"/>
          <a:lstStyle/>
          <a:p>
            <a:pPr indent="0" marL="0">
              <a:lnSpc>
                <a:spcPts val="1700"/>
              </a:lnSpc>
              <a:buNone/>
            </a:pPr>
            <a:r>
              <a:rPr lang="en-US" sz="1250" dirty="0">
                <a:solidFill>
                  <a:srgbClr val="1A1D23"/>
                </a:solidFill>
                <a:latin typeface="Calibri" pitchFamily="34" charset="0"/>
                <a:ea typeface="Calibri" pitchFamily="34" charset="-122"/>
                <a:cs typeface="Calibri" pitchFamily="34" charset="-120"/>
              </a:rPr>
              <a:t>Extracted facts are small and already condensed, so they are never removed by trimming. They are the useful part of everything that was said.</a:t>
            </a:r>
            <a:endParaRPr lang="en-US" sz="1250" dirty="0"/>
          </a:p>
        </p:txBody>
      </p:sp>
      <p:sp>
        <p:nvSpPr>
          <p:cNvPr id="8" name="Shape 6"/>
          <p:cNvSpPr/>
          <p:nvPr/>
        </p:nvSpPr>
        <p:spPr>
          <a:xfrm>
            <a:off x="4315968" y="1691640"/>
            <a:ext cx="3529584" cy="2286000"/>
          </a:xfrm>
          <a:prstGeom prst="roundRect">
            <a:avLst>
              <a:gd name="adj" fmla="val 4000"/>
            </a:avLst>
          </a:prstGeom>
          <a:solidFill>
            <a:srgbClr val="F7F9FC"/>
          </a:solidFill>
          <a:ln w="9525">
            <a:solidFill>
              <a:srgbClr val="DDE3ED"/>
            </a:solidFill>
            <a:prstDash val="solid"/>
          </a:ln>
        </p:spPr>
      </p:sp>
      <p:sp>
        <p:nvSpPr>
          <p:cNvPr id="9" name="Shape 7"/>
          <p:cNvSpPr/>
          <p:nvPr/>
        </p:nvSpPr>
        <p:spPr>
          <a:xfrm>
            <a:off x="4572000" y="1938528"/>
            <a:ext cx="146304" cy="146304"/>
          </a:xfrm>
          <a:prstGeom prst="ellipse">
            <a:avLst/>
          </a:prstGeom>
          <a:solidFill>
            <a:srgbClr val="1E2761"/>
          </a:solidFill>
          <a:ln w="12700">
            <a:solidFill>
              <a:srgbClr val="1E2761"/>
            </a:solidFill>
            <a:prstDash val="solid"/>
          </a:ln>
        </p:spPr>
      </p:sp>
      <p:sp>
        <p:nvSpPr>
          <p:cNvPr id="10" name="Text 8"/>
          <p:cNvSpPr txBox="1"/>
          <p:nvPr/>
        </p:nvSpPr>
        <p:spPr>
          <a:xfrm>
            <a:off x="4828032" y="1847088"/>
            <a:ext cx="2761488" cy="34747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Raw messages are capped</a:t>
            </a:r>
            <a:endParaRPr lang="en-US" sz="1450" dirty="0"/>
          </a:p>
        </p:txBody>
      </p:sp>
      <p:sp>
        <p:nvSpPr>
          <p:cNvPr id="11" name="Text 9"/>
          <p:cNvSpPr txBox="1"/>
          <p:nvPr/>
        </p:nvSpPr>
        <p:spPr>
          <a:xfrm>
            <a:off x="4572000" y="2286000"/>
            <a:ext cx="3017520" cy="1463040"/>
          </a:xfrm>
          <a:prstGeom prst="rect">
            <a:avLst/>
          </a:prstGeom>
          <a:noFill/>
          <a:ln/>
        </p:spPr>
        <p:txBody>
          <a:bodyPr wrap="square" lIns="0" tIns="0" rIns="0" bIns="0" rtlCol="0" anchor="t"/>
          <a:lstStyle/>
          <a:p>
            <a:pPr indent="0" marL="0">
              <a:lnSpc>
                <a:spcPts val="1700"/>
              </a:lnSpc>
              <a:buNone/>
            </a:pPr>
            <a:r>
              <a:rPr lang="en-US" sz="1250" dirty="0">
                <a:solidFill>
                  <a:srgbClr val="1A1D23"/>
                </a:solidFill>
                <a:latin typeface="Calibri" pitchFamily="34" charset="0"/>
                <a:ea typeface="Calibri" pitchFamily="34" charset="-122"/>
                <a:cs typeface="Calibri" pitchFamily="34" charset="-120"/>
              </a:rPr>
              <a:t>Once the store holds more than one hundred raw messages, the least useful are dropped first: least often retrieved, then oldest.</a:t>
            </a:r>
            <a:endParaRPr lang="en-US" sz="1250" dirty="0"/>
          </a:p>
        </p:txBody>
      </p:sp>
      <p:sp>
        <p:nvSpPr>
          <p:cNvPr id="12" name="Shape 10"/>
          <p:cNvSpPr/>
          <p:nvPr/>
        </p:nvSpPr>
        <p:spPr>
          <a:xfrm>
            <a:off x="8065008" y="1691640"/>
            <a:ext cx="3529584" cy="2286000"/>
          </a:xfrm>
          <a:prstGeom prst="roundRect">
            <a:avLst>
              <a:gd name="adj" fmla="val 4000"/>
            </a:avLst>
          </a:prstGeom>
          <a:solidFill>
            <a:srgbClr val="F7F9FC"/>
          </a:solidFill>
          <a:ln w="9525">
            <a:solidFill>
              <a:srgbClr val="DDE3ED"/>
            </a:solidFill>
            <a:prstDash val="solid"/>
          </a:ln>
        </p:spPr>
      </p:sp>
      <p:sp>
        <p:nvSpPr>
          <p:cNvPr id="13" name="Shape 11"/>
          <p:cNvSpPr/>
          <p:nvPr/>
        </p:nvSpPr>
        <p:spPr>
          <a:xfrm>
            <a:off x="8321040" y="1938528"/>
            <a:ext cx="146304" cy="146304"/>
          </a:xfrm>
          <a:prstGeom prst="ellipse">
            <a:avLst/>
          </a:prstGeom>
          <a:solidFill>
            <a:srgbClr val="B45309"/>
          </a:solidFill>
          <a:ln w="12700">
            <a:solidFill>
              <a:srgbClr val="B45309"/>
            </a:solidFill>
            <a:prstDash val="solid"/>
          </a:ln>
        </p:spPr>
      </p:sp>
      <p:sp>
        <p:nvSpPr>
          <p:cNvPr id="14" name="Text 12"/>
          <p:cNvSpPr txBox="1"/>
          <p:nvPr/>
        </p:nvSpPr>
        <p:spPr>
          <a:xfrm>
            <a:off x="8577072" y="1847088"/>
            <a:ext cx="2761488" cy="347472"/>
          </a:xfrm>
          <a:prstGeom prst="rect">
            <a:avLst/>
          </a:prstGeom>
          <a:noFill/>
          <a:ln/>
        </p:spPr>
        <p:txBody>
          <a:bodyPr wrap="square" lIns="0" tIns="0" rIns="0" bIns="0" rtlCol="0" anchor="ctr"/>
          <a:lstStyle/>
          <a:p>
            <a:pPr indent="0" marL="0">
              <a:buNone/>
            </a:pPr>
            <a:r>
              <a:rPr lang="en-US" sz="1450" b="1" dirty="0">
                <a:solidFill>
                  <a:srgbClr val="B45309"/>
                </a:solidFill>
                <a:latin typeface="Calibri" pitchFamily="34" charset="0"/>
                <a:ea typeface="Calibri" pitchFamily="34" charset="-122"/>
                <a:cs typeface="Calibri" pitchFamily="34" charset="-120"/>
              </a:rPr>
              <a:t>Bigger is not better</a:t>
            </a:r>
            <a:endParaRPr lang="en-US" sz="1450" dirty="0"/>
          </a:p>
        </p:txBody>
      </p:sp>
      <p:sp>
        <p:nvSpPr>
          <p:cNvPr id="15" name="Text 13"/>
          <p:cNvSpPr txBox="1"/>
          <p:nvPr/>
        </p:nvSpPr>
        <p:spPr>
          <a:xfrm>
            <a:off x="8321040" y="2286000"/>
            <a:ext cx="3017520" cy="1463040"/>
          </a:xfrm>
          <a:prstGeom prst="rect">
            <a:avLst/>
          </a:prstGeom>
          <a:noFill/>
          <a:ln/>
        </p:spPr>
        <p:txBody>
          <a:bodyPr wrap="square" lIns="0" tIns="0" rIns="0" bIns="0" rtlCol="0" anchor="t"/>
          <a:lstStyle/>
          <a:p>
            <a:pPr indent="0" marL="0">
              <a:lnSpc>
                <a:spcPts val="1700"/>
              </a:lnSpc>
              <a:buNone/>
            </a:pPr>
            <a:r>
              <a:rPr lang="en-US" sz="1250" dirty="0">
                <a:solidFill>
                  <a:srgbClr val="1A1D23"/>
                </a:solidFill>
                <a:latin typeface="Calibri" pitchFamily="34" charset="0"/>
                <a:ea typeface="Calibri" pitchFamily="34" charset="-122"/>
                <a:cs typeface="Calibri" pitchFamily="34" charset="-120"/>
              </a:rPr>
              <a:t>Every extra memory is another candidate competing for the same few slots in the results, so an oversized store retrieves less accurately, not more.</a:t>
            </a:r>
            <a:endParaRPr lang="en-US" sz="1250" dirty="0"/>
          </a:p>
        </p:txBody>
      </p:sp>
      <p:sp>
        <p:nvSpPr>
          <p:cNvPr id="16" name="Shape 14"/>
          <p:cNvSpPr/>
          <p:nvPr/>
        </p:nvSpPr>
        <p:spPr>
          <a:xfrm>
            <a:off x="566928" y="4224528"/>
            <a:ext cx="10881360" cy="1691640"/>
          </a:xfrm>
          <a:prstGeom prst="roundRect">
            <a:avLst>
              <a:gd name="adj" fmla="val 5405"/>
            </a:avLst>
          </a:prstGeom>
          <a:solidFill>
            <a:srgbClr val="EEF2FB"/>
          </a:solidFill>
          <a:ln w="9525">
            <a:solidFill>
              <a:srgbClr val="DDE3ED"/>
            </a:solidFill>
            <a:prstDash val="solid"/>
          </a:ln>
        </p:spPr>
      </p:sp>
      <p:sp>
        <p:nvSpPr>
          <p:cNvPr id="17" name="Text 15"/>
          <p:cNvSpPr txBox="1"/>
          <p:nvPr/>
        </p:nvSpPr>
        <p:spPr>
          <a:xfrm>
            <a:off x="877824" y="4425696"/>
            <a:ext cx="1024128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Replacing is not the same as deleting</a:t>
            </a:r>
            <a:endParaRPr lang="en-US" sz="1400" dirty="0"/>
          </a:p>
        </p:txBody>
      </p:sp>
      <p:sp>
        <p:nvSpPr>
          <p:cNvPr id="18" name="Text 16"/>
          <p:cNvSpPr txBox="1"/>
          <p:nvPr/>
        </p:nvSpPr>
        <p:spPr>
          <a:xfrm>
            <a:off x="877824" y="4754880"/>
            <a:ext cx="10241280" cy="960120"/>
          </a:xfrm>
          <a:prstGeom prst="rect">
            <a:avLst/>
          </a:prstGeom>
          <a:noFill/>
          <a:ln/>
        </p:spPr>
        <p:txBody>
          <a:bodyPr wrap="square" lIns="0" tIns="0" rIns="0" bIns="0" rtlCol="0" anchor="t"/>
          <a:lstStyle/>
          <a:p>
            <a:pPr indent="0" marL="0">
              <a:lnSpc>
                <a:spcPts val="1800"/>
              </a:lnSpc>
              <a:buNone/>
            </a:pPr>
            <a:r>
              <a:rPr lang="en-US" sz="1300" dirty="0">
                <a:solidFill>
                  <a:srgbClr val="1A1D23"/>
                </a:solidFill>
                <a:latin typeface="Calibri" pitchFamily="34" charset="0"/>
                <a:ea typeface="Calibri" pitchFamily="34" charset="-122"/>
                <a:cs typeface="Calibri" pitchFamily="34" charset="-120"/>
              </a:rPr>
              <a:t>When a fact changes, the old version is marked as replaced and stays in the database so the history can be read. When the user asks the assistant to forget a topic, those records are removed from the database completely. The two are deliberately different operations, because a request to delete personal data has to actually delete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STEP 5, PRIVACY</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Personal details are removed before saving</a:t>
            </a:r>
            <a:endParaRPr lang="en-US" sz="3200" dirty="0"/>
          </a:p>
        </p:txBody>
      </p:sp>
      <p:sp>
        <p:nvSpPr>
          <p:cNvPr id="4" name="Text 2"/>
          <p:cNvSpPr txBox="1"/>
          <p:nvPr/>
        </p:nvSpPr>
        <p:spPr>
          <a:xfrm>
            <a:off x="566928" y="1481328"/>
            <a:ext cx="5486400" cy="1143000"/>
          </a:xfrm>
          <a:prstGeom prst="rect">
            <a:avLst/>
          </a:prstGeom>
          <a:noFill/>
          <a:ln/>
        </p:spPr>
        <p:txBody>
          <a:bodyPr wrap="square" lIns="0" tIns="0" rIns="0" bIns="0" rtlCol="0" anchor="t"/>
          <a:lstStyle/>
          <a:p>
            <a:pPr indent="0" marL="0">
              <a:lnSpc>
                <a:spcPts val="2100"/>
              </a:lnSpc>
              <a:buNone/>
            </a:pPr>
            <a:r>
              <a:rPr lang="en-US" sz="1400" dirty="0">
                <a:solidFill>
                  <a:srgbClr val="1A1D23"/>
                </a:solidFill>
                <a:latin typeface="Calibri" pitchFamily="34" charset="0"/>
                <a:ea typeface="Calibri" pitchFamily="34" charset="-122"/>
                <a:cs typeface="Calibri" pitchFamily="34" charset="-120"/>
              </a:rPr>
              <a:t>Redaction happens on the way in, not on the way out. Email addresses, phone numbers and identity numbers are replaced with a label before the record is written, so the real value never reaches the database file at all.</a:t>
            </a:r>
            <a:endParaRPr lang="en-US" sz="1400" dirty="0"/>
          </a:p>
        </p:txBody>
      </p:sp>
      <p:sp>
        <p:nvSpPr>
          <p:cNvPr id="5" name="Shape 3"/>
          <p:cNvSpPr/>
          <p:nvPr/>
        </p:nvSpPr>
        <p:spPr>
          <a:xfrm>
            <a:off x="566928" y="2862072"/>
            <a:ext cx="128016" cy="128016"/>
          </a:xfrm>
          <a:prstGeom prst="ellipse">
            <a:avLst/>
          </a:prstGeom>
          <a:solidFill>
            <a:srgbClr val="047857"/>
          </a:solidFill>
          <a:ln w="12700">
            <a:solidFill>
              <a:srgbClr val="047857"/>
            </a:solidFill>
            <a:prstDash val="solid"/>
          </a:ln>
        </p:spPr>
      </p:sp>
      <p:sp>
        <p:nvSpPr>
          <p:cNvPr id="6" name="Text 4"/>
          <p:cNvSpPr txBox="1"/>
          <p:nvPr/>
        </p:nvSpPr>
        <p:spPr>
          <a:xfrm>
            <a:off x="859536" y="2798064"/>
            <a:ext cx="521208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Nothing is sent away to be indexed</a:t>
            </a:r>
            <a:endParaRPr lang="en-US" sz="1300" dirty="0"/>
          </a:p>
        </p:txBody>
      </p:sp>
      <p:sp>
        <p:nvSpPr>
          <p:cNvPr id="7" name="Text 5"/>
          <p:cNvSpPr txBox="1"/>
          <p:nvPr/>
        </p:nvSpPr>
        <p:spPr>
          <a:xfrm>
            <a:off x="859536" y="3072384"/>
            <a:ext cx="5212080" cy="603504"/>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The model that creates the vectors runs on this machine, so stored memories never travel to an API.</a:t>
            </a:r>
            <a:endParaRPr lang="en-US" sz="1200" dirty="0"/>
          </a:p>
        </p:txBody>
      </p:sp>
      <p:sp>
        <p:nvSpPr>
          <p:cNvPr id="8" name="Shape 6"/>
          <p:cNvSpPr/>
          <p:nvPr/>
        </p:nvSpPr>
        <p:spPr>
          <a:xfrm>
            <a:off x="566928" y="3867912"/>
            <a:ext cx="128016" cy="128016"/>
          </a:xfrm>
          <a:prstGeom prst="ellipse">
            <a:avLst/>
          </a:prstGeom>
          <a:solidFill>
            <a:srgbClr val="047857"/>
          </a:solidFill>
          <a:ln w="12700">
            <a:solidFill>
              <a:srgbClr val="047857"/>
            </a:solidFill>
            <a:prstDash val="solid"/>
          </a:ln>
        </p:spPr>
      </p:sp>
      <p:sp>
        <p:nvSpPr>
          <p:cNvPr id="9" name="Text 7"/>
          <p:cNvSpPr txBox="1"/>
          <p:nvPr/>
        </p:nvSpPr>
        <p:spPr>
          <a:xfrm>
            <a:off x="859536" y="3803904"/>
            <a:ext cx="521208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user can ask for deletion</a:t>
            </a:r>
            <a:endParaRPr lang="en-US" sz="1300" dirty="0"/>
          </a:p>
        </p:txBody>
      </p:sp>
      <p:sp>
        <p:nvSpPr>
          <p:cNvPr id="10" name="Text 8"/>
          <p:cNvSpPr txBox="1"/>
          <p:nvPr/>
        </p:nvSpPr>
        <p:spPr>
          <a:xfrm>
            <a:off x="859536" y="4078224"/>
            <a:ext cx="5212080" cy="603504"/>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A forget command removes every record about a topic from the database permanently.</a:t>
            </a:r>
            <a:endParaRPr lang="en-US" sz="1200" dirty="0"/>
          </a:p>
        </p:txBody>
      </p:sp>
      <p:sp>
        <p:nvSpPr>
          <p:cNvPr id="11" name="Shape 9"/>
          <p:cNvSpPr/>
          <p:nvPr/>
        </p:nvSpPr>
        <p:spPr>
          <a:xfrm>
            <a:off x="566928" y="4873752"/>
            <a:ext cx="128016" cy="128016"/>
          </a:xfrm>
          <a:prstGeom prst="ellipse">
            <a:avLst/>
          </a:prstGeom>
          <a:solidFill>
            <a:srgbClr val="047857"/>
          </a:solidFill>
          <a:ln w="12700">
            <a:solidFill>
              <a:srgbClr val="047857"/>
            </a:solidFill>
            <a:prstDash val="solid"/>
          </a:ln>
        </p:spPr>
      </p:sp>
      <p:sp>
        <p:nvSpPr>
          <p:cNvPr id="12" name="Text 10"/>
          <p:cNvSpPr txBox="1"/>
          <p:nvPr/>
        </p:nvSpPr>
        <p:spPr>
          <a:xfrm>
            <a:off x="859536" y="4809744"/>
            <a:ext cx="521208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An honest boundary</a:t>
            </a:r>
            <a:endParaRPr lang="en-US" sz="1300" dirty="0"/>
          </a:p>
        </p:txBody>
      </p:sp>
      <p:sp>
        <p:nvSpPr>
          <p:cNvPr id="13" name="Text 11"/>
          <p:cNvSpPr txBox="1"/>
          <p:nvPr/>
        </p:nvSpPr>
        <p:spPr>
          <a:xfrm>
            <a:off x="859536" y="5084064"/>
            <a:ext cx="5212080" cy="603504"/>
          </a:xfrm>
          <a:prstGeom prst="rect">
            <a:avLst/>
          </a:prstGeom>
          <a:noFill/>
          <a:ln/>
        </p:spPr>
        <p:txBody>
          <a:bodyPr wrap="square" lIns="0" tIns="0" rIns="0" bIns="0" rtlCol="0" anchor="t"/>
          <a:lstStyle/>
          <a:p>
            <a:pPr indent="0" marL="0">
              <a:lnSpc>
                <a:spcPts val="1600"/>
              </a:lnSpc>
              <a:buNone/>
            </a:pPr>
            <a:r>
              <a:rPr lang="en-US" sz="1200" dirty="0">
                <a:solidFill>
                  <a:srgbClr val="5B6472"/>
                </a:solidFill>
                <a:latin typeface="Calibri" pitchFamily="34" charset="0"/>
                <a:ea typeface="Calibri" pitchFamily="34" charset="-122"/>
                <a:cs typeface="Calibri" pitchFamily="34" charset="-120"/>
              </a:rPr>
              <a:t>Redaction protects what is stored. The message the user has just typed is still sent so the assistant can reply to it.</a:t>
            </a:r>
            <a:endParaRPr lang="en-US" sz="1200" dirty="0"/>
          </a:p>
        </p:txBody>
      </p:sp>
      <p:pic>
        <p:nvPicPr>
          <p:cNvPr id="14" name="Image 0" descr="D:\Project\Long-Term\docs\assets\04a_privacy_store.png">    </p:cNvPr>
          <p:cNvPicPr>
            <a:picLocks noChangeAspect="1"/>
          </p:cNvPicPr>
          <p:nvPr/>
        </p:nvPicPr>
        <p:blipFill>
          <a:blip r:embed="rId1"/>
          <a:stretch>
            <a:fillRect/>
          </a:stretch>
        </p:blipFill>
        <p:spPr>
          <a:xfrm>
            <a:off x="6492240" y="1572768"/>
            <a:ext cx="5138928" cy="4242816"/>
          </a:xfrm>
          <a:prstGeom prst="rect">
            <a:avLst/>
          </a:prstGeom>
        </p:spPr>
      </p:pic>
      <p:sp>
        <p:nvSpPr>
          <p:cNvPr id="15" name="Text 12"/>
          <p:cNvSpPr txBox="1"/>
          <p:nvPr/>
        </p:nvSpPr>
        <p:spPr>
          <a:xfrm>
            <a:off x="6492240" y="5888736"/>
            <a:ext cx="5138928" cy="274320"/>
          </a:xfrm>
          <a:prstGeom prst="rect">
            <a:avLst/>
          </a:prstGeom>
          <a:noFill/>
          <a:ln/>
        </p:spPr>
        <p:txBody>
          <a:bodyPr wrap="square" lIns="0" tIns="0" rIns="0" bIns="0" rtlCol="0" anchor="ctr"/>
          <a:lstStyle/>
          <a:p>
            <a:pPr indent="0" marL="0">
              <a:buNone/>
            </a:pPr>
            <a:r>
              <a:rPr lang="en-US" sz="1050" i="1" dirty="0">
                <a:solidFill>
                  <a:srgbClr val="8B94A3"/>
                </a:solidFill>
                <a:latin typeface="Calibri" pitchFamily="34" charset="0"/>
                <a:ea typeface="Calibri" pitchFamily="34" charset="-122"/>
                <a:cs typeface="Calibri" pitchFamily="34" charset="-120"/>
              </a:rPr>
              <a:t>The stored records, with the email and phone number already replaced.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EVALUATION</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Results</a:t>
            </a:r>
            <a:endParaRPr lang="en-US" sz="3200" dirty="0"/>
          </a:p>
        </p:txBody>
      </p:sp>
      <p:sp>
        <p:nvSpPr>
          <p:cNvPr id="4" name="Text 2"/>
          <p:cNvSpPr txBox="1"/>
          <p:nvPr/>
        </p:nvSpPr>
        <p:spPr>
          <a:xfrm>
            <a:off x="566928" y="1444752"/>
            <a:ext cx="10881360" cy="786384"/>
          </a:xfrm>
          <a:prstGeom prst="rect">
            <a:avLst/>
          </a:prstGeom>
          <a:noFill/>
          <a:ln/>
        </p:spPr>
        <p:txBody>
          <a:bodyPr wrap="square" lIns="0" tIns="0" rIns="0" bIns="0" rtlCol="0" anchor="t"/>
          <a:lstStyle/>
          <a:p>
            <a:pPr indent="0" marL="0">
              <a:lnSpc>
                <a:spcPts val="2100"/>
              </a:lnSpc>
              <a:buNone/>
            </a:pPr>
            <a:r>
              <a:rPr lang="en-US" sz="1350" dirty="0">
                <a:solidFill>
                  <a:srgbClr val="1A1D23"/>
                </a:solidFill>
                <a:latin typeface="Calibri" pitchFamily="34" charset="0"/>
                <a:ea typeface="Calibri" pitchFamily="34" charset="-122"/>
                <a:cs typeface="Calibri" pitchFamily="34" charset="-120"/>
              </a:rPr>
              <a:t>Twenty two questions, with the correct answer for each decided before any test was run. Twelve are worded plainly and ten the way people actually talk. Accuracy is not reported, because almost every stored memory is irrelevant to any one question, so a system that returned nothing at all would still score well on it.</a:t>
            </a:r>
            <a:endParaRPr lang="en-US" sz="1350" dirty="0"/>
          </a:p>
        </p:txBody>
      </p:sp>
      <p:sp>
        <p:nvSpPr>
          <p:cNvPr id="5" name="Shape 3"/>
          <p:cNvSpPr/>
          <p:nvPr/>
        </p:nvSpPr>
        <p:spPr>
          <a:xfrm>
            <a:off x="566928" y="2286000"/>
            <a:ext cx="10881360" cy="402336"/>
          </a:xfrm>
          <a:prstGeom prst="roundRect">
            <a:avLst>
              <a:gd name="adj" fmla="val 15909"/>
            </a:avLst>
          </a:prstGeom>
          <a:solidFill>
            <a:srgbClr val="1E2761"/>
          </a:solidFill>
          <a:ln w="12700">
            <a:solidFill>
              <a:srgbClr val="1E2761"/>
            </a:solidFill>
            <a:prstDash val="solid"/>
          </a:ln>
        </p:spPr>
      </p:sp>
      <p:sp>
        <p:nvSpPr>
          <p:cNvPr id="6" name="Text 4"/>
          <p:cNvSpPr txBox="1"/>
          <p:nvPr/>
        </p:nvSpPr>
        <p:spPr>
          <a:xfrm>
            <a:off x="804672" y="2286000"/>
            <a:ext cx="2834640" cy="402336"/>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MEASURE</a:t>
            </a:r>
            <a:endParaRPr lang="en-US" sz="1050" dirty="0"/>
          </a:p>
        </p:txBody>
      </p:sp>
      <p:sp>
        <p:nvSpPr>
          <p:cNvPr id="7" name="Text 5"/>
          <p:cNvSpPr txBox="1"/>
          <p:nvPr/>
        </p:nvSpPr>
        <p:spPr>
          <a:xfrm>
            <a:off x="3767328" y="2286000"/>
            <a:ext cx="1920240" cy="402336"/>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RESULT</a:t>
            </a:r>
            <a:endParaRPr lang="en-US" sz="1050" dirty="0"/>
          </a:p>
        </p:txBody>
      </p:sp>
      <p:sp>
        <p:nvSpPr>
          <p:cNvPr id="8" name="Text 6"/>
          <p:cNvSpPr txBox="1"/>
          <p:nvPr/>
        </p:nvSpPr>
        <p:spPr>
          <a:xfrm>
            <a:off x="5779008" y="2286000"/>
            <a:ext cx="5394960" cy="402336"/>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WHAT IT MEANS</a:t>
            </a:r>
            <a:endParaRPr lang="en-US" sz="1050" dirty="0"/>
          </a:p>
        </p:txBody>
      </p:sp>
      <p:sp>
        <p:nvSpPr>
          <p:cNvPr id="9" name="Shape 7"/>
          <p:cNvSpPr/>
          <p:nvPr/>
        </p:nvSpPr>
        <p:spPr>
          <a:xfrm>
            <a:off x="566928" y="2743200"/>
            <a:ext cx="10881360" cy="457200"/>
          </a:xfrm>
          <a:prstGeom prst="roundRect">
            <a:avLst>
              <a:gd name="adj" fmla="val 12000"/>
            </a:avLst>
          </a:prstGeom>
          <a:solidFill>
            <a:srgbClr val="F7F9FC"/>
          </a:solidFill>
          <a:ln w="9525">
            <a:solidFill>
              <a:srgbClr val="DDE3ED"/>
            </a:solidFill>
            <a:prstDash val="solid"/>
          </a:ln>
        </p:spPr>
      </p:sp>
      <p:sp>
        <p:nvSpPr>
          <p:cNvPr id="10" name="Text 8"/>
          <p:cNvSpPr txBox="1"/>
          <p:nvPr/>
        </p:nvSpPr>
        <p:spPr>
          <a:xfrm>
            <a:off x="804672" y="2743200"/>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Recall at 4</a:t>
            </a:r>
            <a:endParaRPr lang="en-US" sz="1250" dirty="0"/>
          </a:p>
        </p:txBody>
      </p:sp>
      <p:sp>
        <p:nvSpPr>
          <p:cNvPr id="11" name="Text 9"/>
          <p:cNvSpPr txBox="1"/>
          <p:nvPr/>
        </p:nvSpPr>
        <p:spPr>
          <a:xfrm>
            <a:off x="3767328" y="2743200"/>
            <a:ext cx="1920240" cy="457200"/>
          </a:xfrm>
          <a:prstGeom prst="rect">
            <a:avLst/>
          </a:prstGeom>
          <a:noFill/>
          <a:ln/>
        </p:spPr>
        <p:txBody>
          <a:bodyPr wrap="square" lIns="0" tIns="0" rIns="0" bIns="0" rtlCol="0" anchor="ctr"/>
          <a:lstStyle/>
          <a:p>
            <a:pPr indent="0" marL="0">
              <a:buNone/>
            </a:pPr>
            <a:r>
              <a:rPr lang="en-US" sz="1250" b="1" dirty="0">
                <a:solidFill>
                  <a:srgbClr val="047857"/>
                </a:solidFill>
                <a:latin typeface="Consolas" pitchFamily="34" charset="0"/>
                <a:ea typeface="Consolas" pitchFamily="34" charset="-122"/>
                <a:cs typeface="Consolas" pitchFamily="34" charset="-120"/>
              </a:rPr>
              <a:t>1.000</a:t>
            </a:r>
            <a:endParaRPr lang="en-US" sz="1250" dirty="0"/>
          </a:p>
        </p:txBody>
      </p:sp>
      <p:sp>
        <p:nvSpPr>
          <p:cNvPr id="12" name="Text 10"/>
          <p:cNvSpPr txBox="1"/>
          <p:nvPr/>
        </p:nvSpPr>
        <p:spPr>
          <a:xfrm>
            <a:off x="5779008" y="2743200"/>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Every question found its memory</a:t>
            </a:r>
            <a:endParaRPr lang="en-US" sz="1200" dirty="0"/>
          </a:p>
        </p:txBody>
      </p:sp>
      <p:sp>
        <p:nvSpPr>
          <p:cNvPr id="13" name="Shape 11"/>
          <p:cNvSpPr/>
          <p:nvPr/>
        </p:nvSpPr>
        <p:spPr>
          <a:xfrm>
            <a:off x="566928" y="3255264"/>
            <a:ext cx="10881360" cy="457200"/>
          </a:xfrm>
          <a:prstGeom prst="roundRect">
            <a:avLst>
              <a:gd name="adj" fmla="val 12000"/>
            </a:avLst>
          </a:prstGeom>
          <a:solidFill>
            <a:srgbClr val="FFFFFF"/>
          </a:solidFill>
          <a:ln w="9525">
            <a:solidFill>
              <a:srgbClr val="DDE3ED"/>
            </a:solidFill>
            <a:prstDash val="solid"/>
          </a:ln>
        </p:spPr>
      </p:sp>
      <p:sp>
        <p:nvSpPr>
          <p:cNvPr id="14" name="Text 12"/>
          <p:cNvSpPr txBox="1"/>
          <p:nvPr/>
        </p:nvSpPr>
        <p:spPr>
          <a:xfrm>
            <a:off x="804672" y="3255264"/>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MRR</a:t>
            </a:r>
            <a:endParaRPr lang="en-US" sz="1250" dirty="0"/>
          </a:p>
        </p:txBody>
      </p:sp>
      <p:sp>
        <p:nvSpPr>
          <p:cNvPr id="15" name="Text 13"/>
          <p:cNvSpPr txBox="1"/>
          <p:nvPr/>
        </p:nvSpPr>
        <p:spPr>
          <a:xfrm>
            <a:off x="3767328" y="3255264"/>
            <a:ext cx="1920240" cy="457200"/>
          </a:xfrm>
          <a:prstGeom prst="rect">
            <a:avLst/>
          </a:prstGeom>
          <a:noFill/>
          <a:ln/>
        </p:spPr>
        <p:txBody>
          <a:bodyPr wrap="square" lIns="0" tIns="0" rIns="0" bIns="0" rtlCol="0" anchor="ctr"/>
          <a:lstStyle/>
          <a:p>
            <a:pPr indent="0" marL="0">
              <a:buNone/>
            </a:pPr>
            <a:r>
              <a:rPr lang="en-US" sz="1250" b="1" dirty="0">
                <a:solidFill>
                  <a:srgbClr val="047857"/>
                </a:solidFill>
                <a:latin typeface="Consolas" pitchFamily="34" charset="0"/>
                <a:ea typeface="Consolas" pitchFamily="34" charset="-122"/>
                <a:cs typeface="Consolas" pitchFamily="34" charset="-120"/>
              </a:rPr>
              <a:t>1.000</a:t>
            </a:r>
            <a:endParaRPr lang="en-US" sz="1250" dirty="0"/>
          </a:p>
        </p:txBody>
      </p:sp>
      <p:sp>
        <p:nvSpPr>
          <p:cNvPr id="16" name="Text 14"/>
          <p:cNvSpPr txBox="1"/>
          <p:nvPr/>
        </p:nvSpPr>
        <p:spPr>
          <a:xfrm>
            <a:off x="5779008" y="3255264"/>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The correct memory was always first</a:t>
            </a:r>
            <a:endParaRPr lang="en-US" sz="1200" dirty="0"/>
          </a:p>
        </p:txBody>
      </p:sp>
      <p:sp>
        <p:nvSpPr>
          <p:cNvPr id="17" name="Shape 15"/>
          <p:cNvSpPr/>
          <p:nvPr/>
        </p:nvSpPr>
        <p:spPr>
          <a:xfrm>
            <a:off x="566928" y="3767328"/>
            <a:ext cx="10881360" cy="457200"/>
          </a:xfrm>
          <a:prstGeom prst="roundRect">
            <a:avLst>
              <a:gd name="adj" fmla="val 12000"/>
            </a:avLst>
          </a:prstGeom>
          <a:solidFill>
            <a:srgbClr val="F7F9FC"/>
          </a:solidFill>
          <a:ln w="9525">
            <a:solidFill>
              <a:srgbClr val="DDE3ED"/>
            </a:solidFill>
            <a:prstDash val="solid"/>
          </a:ln>
        </p:spPr>
      </p:sp>
      <p:sp>
        <p:nvSpPr>
          <p:cNvPr id="18" name="Text 16"/>
          <p:cNvSpPr txBox="1"/>
          <p:nvPr/>
        </p:nvSpPr>
        <p:spPr>
          <a:xfrm>
            <a:off x="804672" y="3767328"/>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Correct at rank 1</a:t>
            </a:r>
            <a:endParaRPr lang="en-US" sz="1250" dirty="0"/>
          </a:p>
        </p:txBody>
      </p:sp>
      <p:sp>
        <p:nvSpPr>
          <p:cNvPr id="19" name="Text 17"/>
          <p:cNvSpPr txBox="1"/>
          <p:nvPr/>
        </p:nvSpPr>
        <p:spPr>
          <a:xfrm>
            <a:off x="3767328" y="3767328"/>
            <a:ext cx="1920240" cy="457200"/>
          </a:xfrm>
          <a:prstGeom prst="rect">
            <a:avLst/>
          </a:prstGeom>
          <a:noFill/>
          <a:ln/>
        </p:spPr>
        <p:txBody>
          <a:bodyPr wrap="square" lIns="0" tIns="0" rIns="0" bIns="0" rtlCol="0" anchor="ctr"/>
          <a:lstStyle/>
          <a:p>
            <a:pPr indent="0" marL="0">
              <a:buNone/>
            </a:pPr>
            <a:r>
              <a:rPr lang="en-US" sz="1250" b="1" dirty="0">
                <a:solidFill>
                  <a:srgbClr val="047857"/>
                </a:solidFill>
                <a:latin typeface="Consolas" pitchFamily="34" charset="0"/>
                <a:ea typeface="Consolas" pitchFamily="34" charset="-122"/>
                <a:cs typeface="Consolas" pitchFamily="34" charset="-120"/>
              </a:rPr>
              <a:t>22 of 22</a:t>
            </a:r>
            <a:endParaRPr lang="en-US" sz="1250" dirty="0"/>
          </a:p>
        </p:txBody>
      </p:sp>
      <p:sp>
        <p:nvSpPr>
          <p:cNvPr id="20" name="Text 18"/>
          <p:cNvSpPr txBox="1"/>
          <p:nvPr/>
        </p:nvSpPr>
        <p:spPr>
          <a:xfrm>
            <a:off x="5779008" y="3767328"/>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No question was answered from the wrong memory</a:t>
            </a:r>
            <a:endParaRPr lang="en-US" sz="1200" dirty="0"/>
          </a:p>
        </p:txBody>
      </p:sp>
      <p:sp>
        <p:nvSpPr>
          <p:cNvPr id="21" name="Shape 19"/>
          <p:cNvSpPr/>
          <p:nvPr/>
        </p:nvSpPr>
        <p:spPr>
          <a:xfrm>
            <a:off x="566928" y="4279392"/>
            <a:ext cx="10881360" cy="457200"/>
          </a:xfrm>
          <a:prstGeom prst="roundRect">
            <a:avLst>
              <a:gd name="adj" fmla="val 12000"/>
            </a:avLst>
          </a:prstGeom>
          <a:solidFill>
            <a:srgbClr val="FFFFFF"/>
          </a:solidFill>
          <a:ln w="9525">
            <a:solidFill>
              <a:srgbClr val="DDE3ED"/>
            </a:solidFill>
            <a:prstDash val="solid"/>
          </a:ln>
        </p:spPr>
      </p:sp>
      <p:sp>
        <p:nvSpPr>
          <p:cNvPr id="22" name="Text 20"/>
          <p:cNvSpPr txBox="1"/>
          <p:nvPr/>
        </p:nvSpPr>
        <p:spPr>
          <a:xfrm>
            <a:off x="804672" y="4279392"/>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Contradictions</a:t>
            </a:r>
            <a:endParaRPr lang="en-US" sz="1250" dirty="0"/>
          </a:p>
        </p:txBody>
      </p:sp>
      <p:sp>
        <p:nvSpPr>
          <p:cNvPr id="23" name="Text 21"/>
          <p:cNvSpPr txBox="1"/>
          <p:nvPr/>
        </p:nvSpPr>
        <p:spPr>
          <a:xfrm>
            <a:off x="3767328" y="4279392"/>
            <a:ext cx="1920240" cy="457200"/>
          </a:xfrm>
          <a:prstGeom prst="rect">
            <a:avLst/>
          </a:prstGeom>
          <a:noFill/>
          <a:ln/>
        </p:spPr>
        <p:txBody>
          <a:bodyPr wrap="square" lIns="0" tIns="0" rIns="0" bIns="0" rtlCol="0" anchor="ctr"/>
          <a:lstStyle/>
          <a:p>
            <a:pPr indent="0" marL="0">
              <a:buNone/>
            </a:pPr>
            <a:r>
              <a:rPr lang="en-US" sz="1250" b="1" dirty="0">
                <a:solidFill>
                  <a:srgbClr val="047857"/>
                </a:solidFill>
                <a:latin typeface="Consolas" pitchFamily="34" charset="0"/>
                <a:ea typeface="Consolas" pitchFamily="34" charset="-122"/>
                <a:cs typeface="Consolas" pitchFamily="34" charset="-120"/>
              </a:rPr>
              <a:t>4 of 4</a:t>
            </a:r>
            <a:endParaRPr lang="en-US" sz="1250" dirty="0"/>
          </a:p>
        </p:txBody>
      </p:sp>
      <p:sp>
        <p:nvSpPr>
          <p:cNvPr id="24" name="Text 22"/>
          <p:cNvSpPr txBox="1"/>
          <p:nvPr/>
        </p:nvSpPr>
        <p:spPr>
          <a:xfrm>
            <a:off x="5779008" y="4279392"/>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New value returned, old value never</a:t>
            </a:r>
            <a:endParaRPr lang="en-US" sz="1200" dirty="0"/>
          </a:p>
        </p:txBody>
      </p:sp>
      <p:sp>
        <p:nvSpPr>
          <p:cNvPr id="25" name="Shape 23"/>
          <p:cNvSpPr/>
          <p:nvPr/>
        </p:nvSpPr>
        <p:spPr>
          <a:xfrm>
            <a:off x="566928" y="4791456"/>
            <a:ext cx="10881360" cy="457200"/>
          </a:xfrm>
          <a:prstGeom prst="roundRect">
            <a:avLst>
              <a:gd name="adj" fmla="val 12000"/>
            </a:avLst>
          </a:prstGeom>
          <a:solidFill>
            <a:srgbClr val="F7F9FC"/>
          </a:solidFill>
          <a:ln w="9525">
            <a:solidFill>
              <a:srgbClr val="DDE3ED"/>
            </a:solidFill>
            <a:prstDash val="solid"/>
          </a:ln>
        </p:spPr>
      </p:sp>
      <p:sp>
        <p:nvSpPr>
          <p:cNvPr id="26" name="Text 24"/>
          <p:cNvSpPr txBox="1"/>
          <p:nvPr/>
        </p:nvSpPr>
        <p:spPr>
          <a:xfrm>
            <a:off x="804672" y="4791456"/>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Conversational</a:t>
            </a:r>
            <a:endParaRPr lang="en-US" sz="1250" dirty="0"/>
          </a:p>
        </p:txBody>
      </p:sp>
      <p:sp>
        <p:nvSpPr>
          <p:cNvPr id="27" name="Text 25"/>
          <p:cNvSpPr txBox="1"/>
          <p:nvPr/>
        </p:nvSpPr>
        <p:spPr>
          <a:xfrm>
            <a:off x="3767328" y="4791456"/>
            <a:ext cx="1920240" cy="457200"/>
          </a:xfrm>
          <a:prstGeom prst="rect">
            <a:avLst/>
          </a:prstGeom>
          <a:noFill/>
          <a:ln/>
        </p:spPr>
        <p:txBody>
          <a:bodyPr wrap="square" lIns="0" tIns="0" rIns="0" bIns="0" rtlCol="0" anchor="ctr"/>
          <a:lstStyle/>
          <a:p>
            <a:pPr indent="0" marL="0">
              <a:buNone/>
            </a:pPr>
            <a:r>
              <a:rPr lang="en-US" sz="1250" b="1" dirty="0">
                <a:solidFill>
                  <a:srgbClr val="047857"/>
                </a:solidFill>
                <a:latin typeface="Consolas" pitchFamily="34" charset="0"/>
                <a:ea typeface="Consolas" pitchFamily="34" charset="-122"/>
                <a:cs typeface="Consolas" pitchFamily="34" charset="-120"/>
              </a:rPr>
              <a:t>0.900 to 1.000</a:t>
            </a:r>
            <a:endParaRPr lang="en-US" sz="1250" dirty="0"/>
          </a:p>
        </p:txBody>
      </p:sp>
      <p:sp>
        <p:nvSpPr>
          <p:cNvPr id="28" name="Text 26"/>
          <p:cNvSpPr txBox="1"/>
          <p:nvPr/>
        </p:nvSpPr>
        <p:spPr>
          <a:xfrm>
            <a:off x="5779008" y="4791456"/>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padding is stripped from the question</a:t>
            </a:r>
            <a:endParaRPr lang="en-US" sz="1200" dirty="0"/>
          </a:p>
        </p:txBody>
      </p:sp>
      <p:sp>
        <p:nvSpPr>
          <p:cNvPr id="29" name="Shape 27"/>
          <p:cNvSpPr/>
          <p:nvPr/>
        </p:nvSpPr>
        <p:spPr>
          <a:xfrm>
            <a:off x="566928" y="5303520"/>
            <a:ext cx="10881360" cy="457200"/>
          </a:xfrm>
          <a:prstGeom prst="roundRect">
            <a:avLst>
              <a:gd name="adj" fmla="val 12000"/>
            </a:avLst>
          </a:prstGeom>
          <a:solidFill>
            <a:srgbClr val="FFFFFF"/>
          </a:solidFill>
          <a:ln w="9525">
            <a:solidFill>
              <a:srgbClr val="DDE3ED"/>
            </a:solidFill>
            <a:prstDash val="solid"/>
          </a:ln>
        </p:spPr>
      </p:sp>
      <p:sp>
        <p:nvSpPr>
          <p:cNvPr id="30" name="Text 28"/>
          <p:cNvSpPr txBox="1"/>
          <p:nvPr/>
        </p:nvSpPr>
        <p:spPr>
          <a:xfrm>
            <a:off x="804672" y="5303520"/>
            <a:ext cx="2834640" cy="457200"/>
          </a:xfrm>
          <a:prstGeom prst="rect">
            <a:avLst/>
          </a:prstGeom>
          <a:noFill/>
          <a:ln/>
        </p:spPr>
        <p:txBody>
          <a:bodyPr wrap="square" lIns="0" tIns="0" rIns="0" bIns="0" rtlCol="0" anchor="ctr"/>
          <a:lstStyle/>
          <a:p>
            <a:pPr indent="0" marL="0">
              <a:buNone/>
            </a:pPr>
            <a:r>
              <a:rPr lang="en-US" sz="1250" dirty="0">
                <a:solidFill>
                  <a:srgbClr val="1A1D23"/>
                </a:solidFill>
                <a:latin typeface="Calibri" pitchFamily="34" charset="0"/>
                <a:ea typeface="Calibri" pitchFamily="34" charset="-122"/>
                <a:cs typeface="Calibri" pitchFamily="34" charset="-120"/>
              </a:rPr>
              <a:t>Precision at 4</a:t>
            </a:r>
            <a:endParaRPr lang="en-US" sz="1250" dirty="0"/>
          </a:p>
        </p:txBody>
      </p:sp>
      <p:sp>
        <p:nvSpPr>
          <p:cNvPr id="31" name="Text 29"/>
          <p:cNvSpPr txBox="1"/>
          <p:nvPr/>
        </p:nvSpPr>
        <p:spPr>
          <a:xfrm>
            <a:off x="3767328" y="5303520"/>
            <a:ext cx="1920240" cy="45720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0.694</a:t>
            </a:r>
            <a:endParaRPr lang="en-US" sz="1250" dirty="0"/>
          </a:p>
        </p:txBody>
      </p:sp>
      <p:sp>
        <p:nvSpPr>
          <p:cNvPr id="32" name="Text 30"/>
          <p:cNvSpPr txBox="1"/>
          <p:nvPr/>
        </p:nvSpPr>
        <p:spPr>
          <a:xfrm>
            <a:off x="5779008" y="5303520"/>
            <a:ext cx="53949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Capped by design, see the note below</a:t>
            </a:r>
            <a:endParaRPr lang="en-US" sz="1200" dirty="0"/>
          </a:p>
        </p:txBody>
      </p:sp>
      <p:sp>
        <p:nvSpPr>
          <p:cNvPr id="33" name="Shape 31"/>
          <p:cNvSpPr/>
          <p:nvPr/>
        </p:nvSpPr>
        <p:spPr>
          <a:xfrm>
            <a:off x="566928" y="5888736"/>
            <a:ext cx="10881360" cy="548640"/>
          </a:xfrm>
          <a:prstGeom prst="roundRect">
            <a:avLst>
              <a:gd name="adj" fmla="val 16667"/>
            </a:avLst>
          </a:prstGeom>
          <a:solidFill>
            <a:srgbClr val="EEF2FB"/>
          </a:solidFill>
          <a:ln w="9525">
            <a:solidFill>
              <a:srgbClr val="DDE3ED"/>
            </a:solidFill>
            <a:prstDash val="solid"/>
          </a:ln>
        </p:spPr>
      </p:sp>
      <p:sp>
        <p:nvSpPr>
          <p:cNvPr id="34" name="Text 32"/>
          <p:cNvSpPr txBox="1"/>
          <p:nvPr/>
        </p:nvSpPr>
        <p:spPr>
          <a:xfrm>
            <a:off x="859536" y="6016752"/>
            <a:ext cx="10332720" cy="384048"/>
          </a:xfrm>
          <a:prstGeom prst="rect">
            <a:avLst/>
          </a:prstGeom>
          <a:noFill/>
          <a:ln/>
        </p:spPr>
        <p:txBody>
          <a:bodyPr wrap="square" lIns="0" tIns="0" rIns="0" bIns="0" rtlCol="0" anchor="t"/>
          <a:lstStyle/>
          <a:p>
            <a:pPr indent="0" marL="0">
              <a:buNone/>
            </a:pPr>
            <a:r>
              <a:rPr lang="en-US" sz="1200" dirty="0">
                <a:solidFill>
                  <a:srgbClr val="1A1D23"/>
                </a:solidFill>
                <a:latin typeface="Calibri" pitchFamily="34" charset="0"/>
                <a:ea typeface="Calibri" pitchFamily="34" charset="-122"/>
                <a:cs typeface="Calibri" pitchFamily="34" charset="-120"/>
              </a:rPr>
              <a:t>Each question has one correct memory and we return four, which caps precision at 0.25 by definition. Rank one accuracy and MRR are the measures that fit this task.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LIMITATIONS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this system does not do well</a:t>
            </a:r>
            <a:endParaRPr lang="en-US" sz="3200" dirty="0"/>
          </a:p>
        </p:txBody>
      </p:sp>
      <p:sp>
        <p:nvSpPr>
          <p:cNvPr id="4" name="Shape 2"/>
          <p:cNvSpPr/>
          <p:nvPr/>
        </p:nvSpPr>
        <p:spPr>
          <a:xfrm>
            <a:off x="566928" y="1627632"/>
            <a:ext cx="5303520" cy="1243584"/>
          </a:xfrm>
          <a:prstGeom prst="roundRect">
            <a:avLst>
              <a:gd name="adj" fmla="val 7353"/>
            </a:avLst>
          </a:prstGeom>
          <a:solidFill>
            <a:srgbClr val="F7F9FC"/>
          </a:solidFill>
          <a:ln w="9525">
            <a:solidFill>
              <a:srgbClr val="DDE3ED"/>
            </a:solidFill>
            <a:prstDash val="solid"/>
          </a:ln>
        </p:spPr>
      </p:sp>
      <p:sp>
        <p:nvSpPr>
          <p:cNvPr id="5" name="Text 3"/>
          <p:cNvSpPr txBox="1"/>
          <p:nvPr/>
        </p:nvSpPr>
        <p:spPr>
          <a:xfrm>
            <a:off x="822960" y="1792224"/>
            <a:ext cx="4791456" cy="292608"/>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Wording changes the score</a:t>
            </a:r>
            <a:endParaRPr lang="en-US" sz="1350" dirty="0"/>
          </a:p>
        </p:txBody>
      </p:sp>
      <p:sp>
        <p:nvSpPr>
          <p:cNvPr id="6" name="Text 4"/>
          <p:cNvSpPr txBox="1"/>
          <p:nvPr/>
        </p:nvSpPr>
        <p:spPr>
          <a:xfrm>
            <a:off x="822960" y="2103120"/>
            <a:ext cx="4791456" cy="658368"/>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The same question phrased politely scores lower, because the extra words dilute the sentence vector. Stripping the padding recovers most of it, but the underlying weakness remains.</a:t>
            </a:r>
            <a:endParaRPr lang="en-US" sz="1150" dirty="0"/>
          </a:p>
        </p:txBody>
      </p:sp>
      <p:sp>
        <p:nvSpPr>
          <p:cNvPr id="7" name="Shape 5"/>
          <p:cNvSpPr/>
          <p:nvPr/>
        </p:nvSpPr>
        <p:spPr>
          <a:xfrm>
            <a:off x="566928" y="3044952"/>
            <a:ext cx="5303520" cy="1243584"/>
          </a:xfrm>
          <a:prstGeom prst="roundRect">
            <a:avLst>
              <a:gd name="adj" fmla="val 7353"/>
            </a:avLst>
          </a:prstGeom>
          <a:solidFill>
            <a:srgbClr val="F7F9FC"/>
          </a:solidFill>
          <a:ln w="9525">
            <a:solidFill>
              <a:srgbClr val="DDE3ED"/>
            </a:solidFill>
            <a:prstDash val="solid"/>
          </a:ln>
        </p:spPr>
      </p:sp>
      <p:sp>
        <p:nvSpPr>
          <p:cNvPr id="8" name="Text 6"/>
          <p:cNvSpPr txBox="1"/>
          <p:nvPr/>
        </p:nvSpPr>
        <p:spPr>
          <a:xfrm>
            <a:off x="822960" y="3209544"/>
            <a:ext cx="4791456" cy="292608"/>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Extraction depends on consistent naming</a:t>
            </a:r>
            <a:endParaRPr lang="en-US" sz="1350" dirty="0"/>
          </a:p>
        </p:txBody>
      </p:sp>
      <p:sp>
        <p:nvSpPr>
          <p:cNvPr id="9" name="Text 7"/>
          <p:cNvSpPr txBox="1"/>
          <p:nvPr/>
        </p:nvSpPr>
        <p:spPr>
          <a:xfrm>
            <a:off x="822960" y="3520440"/>
            <a:ext cx="4791456" cy="658368"/>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If the model records a detail as location one time and city the next, the two are never compared and a contradiction goes unnoticed.</a:t>
            </a:r>
            <a:endParaRPr lang="en-US" sz="1150" dirty="0"/>
          </a:p>
        </p:txBody>
      </p:sp>
      <p:sp>
        <p:nvSpPr>
          <p:cNvPr id="10" name="Shape 8"/>
          <p:cNvSpPr/>
          <p:nvPr/>
        </p:nvSpPr>
        <p:spPr>
          <a:xfrm>
            <a:off x="566928" y="4462272"/>
            <a:ext cx="5303520" cy="1243584"/>
          </a:xfrm>
          <a:prstGeom prst="roundRect">
            <a:avLst>
              <a:gd name="adj" fmla="val 7353"/>
            </a:avLst>
          </a:prstGeom>
          <a:solidFill>
            <a:srgbClr val="F7F9FC"/>
          </a:solidFill>
          <a:ln w="9525">
            <a:solidFill>
              <a:srgbClr val="DDE3ED"/>
            </a:solidFill>
            <a:prstDash val="solid"/>
          </a:ln>
        </p:spPr>
      </p:sp>
      <p:sp>
        <p:nvSpPr>
          <p:cNvPr id="11" name="Text 9"/>
          <p:cNvSpPr txBox="1"/>
          <p:nvPr/>
        </p:nvSpPr>
        <p:spPr>
          <a:xfrm>
            <a:off x="822960" y="4626864"/>
            <a:ext cx="4791456" cy="292608"/>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Redaction covers storage only</a:t>
            </a:r>
            <a:endParaRPr lang="en-US" sz="1350" dirty="0"/>
          </a:p>
        </p:txBody>
      </p:sp>
      <p:sp>
        <p:nvSpPr>
          <p:cNvPr id="12" name="Text 10"/>
          <p:cNvSpPr txBox="1"/>
          <p:nvPr/>
        </p:nvSpPr>
        <p:spPr>
          <a:xfrm>
            <a:off x="822960" y="4937760"/>
            <a:ext cx="4791456" cy="658368"/>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The message the user has just typed is still sent to the model, because the assistant has to read it in order to reply.</a:t>
            </a:r>
            <a:endParaRPr lang="en-US" sz="1150" dirty="0"/>
          </a:p>
        </p:txBody>
      </p:sp>
      <p:sp>
        <p:nvSpPr>
          <p:cNvPr id="13" name="Shape 11"/>
          <p:cNvSpPr/>
          <p:nvPr/>
        </p:nvSpPr>
        <p:spPr>
          <a:xfrm>
            <a:off x="6144768" y="1627632"/>
            <a:ext cx="5303520" cy="1243584"/>
          </a:xfrm>
          <a:prstGeom prst="roundRect">
            <a:avLst>
              <a:gd name="adj" fmla="val 7353"/>
            </a:avLst>
          </a:prstGeom>
          <a:solidFill>
            <a:srgbClr val="F7F9FC"/>
          </a:solidFill>
          <a:ln w="9525">
            <a:solidFill>
              <a:srgbClr val="DDE3ED"/>
            </a:solidFill>
            <a:prstDash val="solid"/>
          </a:ln>
        </p:spPr>
      </p:sp>
      <p:sp>
        <p:nvSpPr>
          <p:cNvPr id="14" name="Text 12"/>
          <p:cNvSpPr txBox="1"/>
          <p:nvPr/>
        </p:nvSpPr>
        <p:spPr>
          <a:xfrm>
            <a:off x="6400800" y="1792224"/>
            <a:ext cx="4791456" cy="292608"/>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One user at a time</a:t>
            </a:r>
            <a:endParaRPr lang="en-US" sz="1350" dirty="0"/>
          </a:p>
        </p:txBody>
      </p:sp>
      <p:sp>
        <p:nvSpPr>
          <p:cNvPr id="15" name="Text 13"/>
          <p:cNvSpPr txBox="1"/>
          <p:nvPr/>
        </p:nvSpPr>
        <p:spPr>
          <a:xfrm>
            <a:off x="6400800" y="2103120"/>
            <a:ext cx="4791456" cy="658368"/>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There is a single memory store. Separating memory per user is designed for but not yet built.</a:t>
            </a:r>
            <a:endParaRPr lang="en-US" sz="1150" dirty="0"/>
          </a:p>
        </p:txBody>
      </p:sp>
      <p:sp>
        <p:nvSpPr>
          <p:cNvPr id="16" name="Shape 14"/>
          <p:cNvSpPr/>
          <p:nvPr/>
        </p:nvSpPr>
        <p:spPr>
          <a:xfrm>
            <a:off x="6144768" y="3044952"/>
            <a:ext cx="5303520" cy="1243584"/>
          </a:xfrm>
          <a:prstGeom prst="roundRect">
            <a:avLst>
              <a:gd name="adj" fmla="val 7353"/>
            </a:avLst>
          </a:prstGeom>
          <a:solidFill>
            <a:srgbClr val="F7F9FC"/>
          </a:solidFill>
          <a:ln w="9525">
            <a:solidFill>
              <a:srgbClr val="DDE3ED"/>
            </a:solidFill>
            <a:prstDash val="solid"/>
          </a:ln>
        </p:spPr>
      </p:sp>
      <p:sp>
        <p:nvSpPr>
          <p:cNvPr id="17" name="Text 15"/>
          <p:cNvSpPr txBox="1"/>
          <p:nvPr/>
        </p:nvSpPr>
        <p:spPr>
          <a:xfrm>
            <a:off x="6400800" y="3209544"/>
            <a:ext cx="4791456" cy="292608"/>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A small test set</a:t>
            </a:r>
            <a:endParaRPr lang="en-US" sz="1350" dirty="0"/>
          </a:p>
        </p:txBody>
      </p:sp>
      <p:sp>
        <p:nvSpPr>
          <p:cNvPr id="18" name="Text 16"/>
          <p:cNvSpPr txBox="1"/>
          <p:nvPr/>
        </p:nvSpPr>
        <p:spPr>
          <a:xfrm>
            <a:off x="6400800" y="3520440"/>
            <a:ext cx="4791456" cy="658368"/>
          </a:xfrm>
          <a:prstGeom prst="rect">
            <a:avLst/>
          </a:prstGeom>
          <a:noFill/>
          <a:ln/>
        </p:spPr>
        <p:txBody>
          <a:bodyPr wrap="square" lIns="0" tIns="0" rIns="0" bIns="0" rtlCol="0" anchor="t"/>
          <a:lstStyle/>
          <a:p>
            <a:pPr indent="0" marL="0">
              <a:lnSpc>
                <a:spcPts val="1500"/>
              </a:lnSpc>
              <a:buNone/>
            </a:pPr>
            <a:r>
              <a:rPr lang="en-US" sz="1150" dirty="0">
                <a:solidFill>
                  <a:srgbClr val="5B6472"/>
                </a:solidFill>
                <a:latin typeface="Calibri" pitchFamily="34" charset="0"/>
                <a:ea typeface="Calibri" pitchFamily="34" charset="-122"/>
                <a:cs typeface="Calibri" pitchFamily="34" charset="-120"/>
              </a:rPr>
              <a:t>Twenty two questions is enough to find real faults but too few to claim a precise figure. The numbers show behaviour, not a benchmark.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150" b="1" spc="140" kern="0" dirty="0">
                <a:solidFill>
                  <a:srgbClr val="8B94A3"/>
                </a:solidFill>
                <a:latin typeface="Calibri" pitchFamily="34" charset="0"/>
                <a:ea typeface="Calibri" pitchFamily="34" charset="-122"/>
                <a:cs typeface="Calibri" pitchFamily="34" charset="-120"/>
              </a:rPr>
              <a:t>FOUNDATIONS</a:t>
            </a:r>
            <a:endParaRPr lang="en-US" sz="1150" dirty="0"/>
          </a:p>
        </p:txBody>
      </p:sp>
      <p:sp>
        <p:nvSpPr>
          <p:cNvPr id="3" name="Text 1"/>
          <p:cNvSpPr txBox="1"/>
          <p:nvPr/>
        </p:nvSpPr>
        <p:spPr>
          <a:xfrm>
            <a:off x="566928" y="640080"/>
            <a:ext cx="11057839" cy="621792"/>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this project is built on</a:t>
            </a:r>
            <a:endParaRPr lang="en-US" sz="3200" dirty="0"/>
          </a:p>
        </p:txBody>
      </p:sp>
      <p:sp>
        <p:nvSpPr>
          <p:cNvPr id="4" name="Shape 2"/>
          <p:cNvSpPr/>
          <p:nvPr/>
        </p:nvSpPr>
        <p:spPr>
          <a:xfrm>
            <a:off x="566928" y="1517904"/>
            <a:ext cx="10881360" cy="420624"/>
          </a:xfrm>
          <a:prstGeom prst="roundRect">
            <a:avLst>
              <a:gd name="adj" fmla="val 15217"/>
            </a:avLst>
          </a:prstGeom>
          <a:solidFill>
            <a:srgbClr val="1E2761"/>
          </a:solidFill>
          <a:ln w="12700">
            <a:solidFill>
              <a:srgbClr val="1E2761"/>
            </a:solidFill>
            <a:prstDash val="solid"/>
          </a:ln>
        </p:spPr>
      </p:sp>
      <p:sp>
        <p:nvSpPr>
          <p:cNvPr id="5" name="Text 3"/>
          <p:cNvSpPr txBox="1"/>
          <p:nvPr/>
        </p:nvSpPr>
        <p:spPr>
          <a:xfrm>
            <a:off x="786384" y="1517904"/>
            <a:ext cx="3840480" cy="420624"/>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CONCEPT</a:t>
            </a:r>
            <a:endParaRPr lang="en-US" sz="1050" dirty="0"/>
          </a:p>
        </p:txBody>
      </p:sp>
      <p:sp>
        <p:nvSpPr>
          <p:cNvPr id="6" name="Text 4"/>
          <p:cNvSpPr txBox="1"/>
          <p:nvPr/>
        </p:nvSpPr>
        <p:spPr>
          <a:xfrm>
            <a:off x="4864608" y="1517904"/>
            <a:ext cx="6400800" cy="420624"/>
          </a:xfrm>
          <a:prstGeom prst="rect">
            <a:avLst/>
          </a:prstGeom>
          <a:noFill/>
          <a:ln/>
        </p:spPr>
        <p:txBody>
          <a:bodyPr wrap="square" lIns="0" tIns="0" rIns="0" bIns="0" rtlCol="0" anchor="ctr"/>
          <a:lstStyle/>
          <a:p>
            <a:pPr indent="0" marL="0">
              <a:buNone/>
            </a:pPr>
            <a:r>
              <a:rPr lang="en-US" sz="1050" b="1" spc="70" kern="0" dirty="0">
                <a:solidFill>
                  <a:srgbClr val="FFFFFF"/>
                </a:solidFill>
                <a:latin typeface="Calibri" pitchFamily="34" charset="0"/>
                <a:ea typeface="Calibri" pitchFamily="34" charset="-122"/>
                <a:cs typeface="Calibri" pitchFamily="34" charset="-120"/>
              </a:rPr>
              <a:t>WHERE IT IS USED</a:t>
            </a:r>
            <a:endParaRPr lang="en-US" sz="1050" dirty="0"/>
          </a:p>
        </p:txBody>
      </p:sp>
      <p:sp>
        <p:nvSpPr>
          <p:cNvPr id="7" name="Shape 5"/>
          <p:cNvSpPr/>
          <p:nvPr/>
        </p:nvSpPr>
        <p:spPr>
          <a:xfrm>
            <a:off x="566928" y="2011680"/>
            <a:ext cx="10881360" cy="658368"/>
          </a:xfrm>
          <a:prstGeom prst="roundRect">
            <a:avLst>
              <a:gd name="adj" fmla="val 8333"/>
            </a:avLst>
          </a:prstGeom>
          <a:solidFill>
            <a:srgbClr val="F7F9FC"/>
          </a:solidFill>
          <a:ln w="9525">
            <a:solidFill>
              <a:srgbClr val="DDE3ED"/>
            </a:solidFill>
            <a:prstDash val="solid"/>
          </a:ln>
        </p:spPr>
      </p:sp>
      <p:sp>
        <p:nvSpPr>
          <p:cNvPr id="8" name="Text 6"/>
          <p:cNvSpPr txBox="1"/>
          <p:nvPr/>
        </p:nvSpPr>
        <p:spPr>
          <a:xfrm>
            <a:off x="786384" y="2011680"/>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Fixed context window of a transformer</a:t>
            </a:r>
            <a:endParaRPr lang="en-US" sz="1250" dirty="0"/>
          </a:p>
        </p:txBody>
      </p:sp>
      <p:sp>
        <p:nvSpPr>
          <p:cNvPr id="9" name="Text 7"/>
          <p:cNvSpPr txBox="1"/>
          <p:nvPr/>
        </p:nvSpPr>
        <p:spPr>
          <a:xfrm>
            <a:off x="4864608" y="2011680"/>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The reason the project exists. The model keeps no state between calls, so memory has to be built around it.</a:t>
            </a:r>
            <a:endParaRPr lang="en-US" sz="1150" dirty="0"/>
          </a:p>
        </p:txBody>
      </p:sp>
      <p:sp>
        <p:nvSpPr>
          <p:cNvPr id="10" name="Shape 8"/>
          <p:cNvSpPr/>
          <p:nvPr/>
        </p:nvSpPr>
        <p:spPr>
          <a:xfrm>
            <a:off x="566928" y="2724912"/>
            <a:ext cx="10881360" cy="658368"/>
          </a:xfrm>
          <a:prstGeom prst="roundRect">
            <a:avLst>
              <a:gd name="adj" fmla="val 8333"/>
            </a:avLst>
          </a:prstGeom>
          <a:solidFill>
            <a:srgbClr val="FFFFFF"/>
          </a:solidFill>
          <a:ln w="9525">
            <a:solidFill>
              <a:srgbClr val="DDE3ED"/>
            </a:solidFill>
            <a:prstDash val="solid"/>
          </a:ln>
        </p:spPr>
      </p:sp>
      <p:sp>
        <p:nvSpPr>
          <p:cNvPr id="11" name="Text 9"/>
          <p:cNvSpPr txBox="1"/>
          <p:nvPr/>
        </p:nvSpPr>
        <p:spPr>
          <a:xfrm>
            <a:off x="786384" y="2724912"/>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Text embeddings and vector space</a:t>
            </a:r>
            <a:endParaRPr lang="en-US" sz="1250" dirty="0"/>
          </a:p>
        </p:txBody>
      </p:sp>
      <p:sp>
        <p:nvSpPr>
          <p:cNvPr id="12" name="Text 10"/>
          <p:cNvSpPr txBox="1"/>
          <p:nvPr/>
        </p:nvSpPr>
        <p:spPr>
          <a:xfrm>
            <a:off x="4864608" y="2724912"/>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A local model turns each memory into 384 numbers so that meaning can be compared instead of words.</a:t>
            </a:r>
            <a:endParaRPr lang="en-US" sz="1150" dirty="0"/>
          </a:p>
        </p:txBody>
      </p:sp>
      <p:sp>
        <p:nvSpPr>
          <p:cNvPr id="13" name="Shape 11"/>
          <p:cNvSpPr/>
          <p:nvPr/>
        </p:nvSpPr>
        <p:spPr>
          <a:xfrm>
            <a:off x="566928" y="3438144"/>
            <a:ext cx="10881360" cy="658368"/>
          </a:xfrm>
          <a:prstGeom prst="roundRect">
            <a:avLst>
              <a:gd name="adj" fmla="val 8333"/>
            </a:avLst>
          </a:prstGeom>
          <a:solidFill>
            <a:srgbClr val="F7F9FC"/>
          </a:solidFill>
          <a:ln w="9525">
            <a:solidFill>
              <a:srgbClr val="DDE3ED"/>
            </a:solidFill>
            <a:prstDash val="solid"/>
          </a:ln>
        </p:spPr>
      </p:sp>
      <p:sp>
        <p:nvSpPr>
          <p:cNvPr id="14" name="Text 12"/>
          <p:cNvSpPr txBox="1"/>
          <p:nvPr/>
        </p:nvSpPr>
        <p:spPr>
          <a:xfrm>
            <a:off x="786384" y="3438144"/>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Cosine similarity search</a:t>
            </a:r>
            <a:endParaRPr lang="en-US" sz="1250" dirty="0"/>
          </a:p>
        </p:txBody>
      </p:sp>
      <p:sp>
        <p:nvSpPr>
          <p:cNvPr id="15" name="Text 13"/>
          <p:cNvSpPr txBox="1"/>
          <p:nvPr/>
        </p:nvSpPr>
        <p:spPr>
          <a:xfrm>
            <a:off x="4864608" y="3438144"/>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Retrieval ranks memories by the angle between vectors. Values are normalised, so the comparison is a dot product.</a:t>
            </a:r>
            <a:endParaRPr lang="en-US" sz="1150" dirty="0"/>
          </a:p>
        </p:txBody>
      </p:sp>
      <p:sp>
        <p:nvSpPr>
          <p:cNvPr id="16" name="Shape 14"/>
          <p:cNvSpPr/>
          <p:nvPr/>
        </p:nvSpPr>
        <p:spPr>
          <a:xfrm>
            <a:off x="566928" y="4151376"/>
            <a:ext cx="10881360" cy="658368"/>
          </a:xfrm>
          <a:prstGeom prst="roundRect">
            <a:avLst>
              <a:gd name="adj" fmla="val 8333"/>
            </a:avLst>
          </a:prstGeom>
          <a:solidFill>
            <a:srgbClr val="FFFFFF"/>
          </a:solidFill>
          <a:ln w="9525">
            <a:solidFill>
              <a:srgbClr val="DDE3ED"/>
            </a:solidFill>
            <a:prstDash val="solid"/>
          </a:ln>
        </p:spPr>
      </p:sp>
      <p:sp>
        <p:nvSpPr>
          <p:cNvPr id="17" name="Text 15"/>
          <p:cNvSpPr txBox="1"/>
          <p:nvPr/>
        </p:nvSpPr>
        <p:spPr>
          <a:xfrm>
            <a:off x="786384" y="4151376"/>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Retrieval augmented generation</a:t>
            </a:r>
            <a:endParaRPr lang="en-US" sz="1250" dirty="0"/>
          </a:p>
        </p:txBody>
      </p:sp>
      <p:sp>
        <p:nvSpPr>
          <p:cNvPr id="18" name="Text 16"/>
          <p:cNvSpPr txBox="1"/>
          <p:nvPr/>
        </p:nvSpPr>
        <p:spPr>
          <a:xfrm>
            <a:off x="4864608" y="4151376"/>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Retrieved memories are placed in the prompt before the model generates. The corpus searched is the user's own history.</a:t>
            </a:r>
            <a:endParaRPr lang="en-US" sz="1150" dirty="0"/>
          </a:p>
        </p:txBody>
      </p:sp>
      <p:sp>
        <p:nvSpPr>
          <p:cNvPr id="19" name="Shape 17"/>
          <p:cNvSpPr/>
          <p:nvPr/>
        </p:nvSpPr>
        <p:spPr>
          <a:xfrm>
            <a:off x="566928" y="4864608"/>
            <a:ext cx="10881360" cy="658368"/>
          </a:xfrm>
          <a:prstGeom prst="roundRect">
            <a:avLst>
              <a:gd name="adj" fmla="val 8333"/>
            </a:avLst>
          </a:prstGeom>
          <a:solidFill>
            <a:srgbClr val="F7F9FC"/>
          </a:solidFill>
          <a:ln w="9525">
            <a:solidFill>
              <a:srgbClr val="DDE3ED"/>
            </a:solidFill>
            <a:prstDash val="solid"/>
          </a:ln>
        </p:spPr>
      </p:sp>
      <p:sp>
        <p:nvSpPr>
          <p:cNvPr id="20" name="Text 18"/>
          <p:cNvSpPr txBox="1"/>
          <p:nvPr/>
        </p:nvSpPr>
        <p:spPr>
          <a:xfrm>
            <a:off x="786384" y="4864608"/>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Prompt design and system messages</a:t>
            </a:r>
            <a:endParaRPr lang="en-US" sz="1250" dirty="0"/>
          </a:p>
        </p:txBody>
      </p:sp>
      <p:sp>
        <p:nvSpPr>
          <p:cNvPr id="21" name="Text 19"/>
          <p:cNvSpPr txBox="1"/>
          <p:nvPr/>
        </p:nvSpPr>
        <p:spPr>
          <a:xfrm>
            <a:off x="4864608" y="4864608"/>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Memories go in the system message, kept separate from what the user actually said, so the two are never confused.</a:t>
            </a:r>
            <a:endParaRPr lang="en-US" sz="1150" dirty="0"/>
          </a:p>
        </p:txBody>
      </p:sp>
      <p:sp>
        <p:nvSpPr>
          <p:cNvPr id="22" name="Shape 20"/>
          <p:cNvSpPr/>
          <p:nvPr/>
        </p:nvSpPr>
        <p:spPr>
          <a:xfrm>
            <a:off x="566928" y="5577840"/>
            <a:ext cx="10881360" cy="658368"/>
          </a:xfrm>
          <a:prstGeom prst="roundRect">
            <a:avLst>
              <a:gd name="adj" fmla="val 8333"/>
            </a:avLst>
          </a:prstGeom>
          <a:solidFill>
            <a:srgbClr val="FFFFFF"/>
          </a:solidFill>
          <a:ln w="9525">
            <a:solidFill>
              <a:srgbClr val="DDE3ED"/>
            </a:solidFill>
            <a:prstDash val="solid"/>
          </a:ln>
        </p:spPr>
      </p:sp>
      <p:sp>
        <p:nvSpPr>
          <p:cNvPr id="23" name="Text 21"/>
          <p:cNvSpPr txBox="1"/>
          <p:nvPr/>
        </p:nvSpPr>
        <p:spPr>
          <a:xfrm>
            <a:off x="786384" y="5577840"/>
            <a:ext cx="3931920" cy="65836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Decoding controls</a:t>
            </a:r>
            <a:endParaRPr lang="en-US" sz="1250" dirty="0"/>
          </a:p>
        </p:txBody>
      </p:sp>
      <p:sp>
        <p:nvSpPr>
          <p:cNvPr id="24" name="Text 22"/>
          <p:cNvSpPr txBox="1"/>
          <p:nvPr/>
        </p:nvSpPr>
        <p:spPr>
          <a:xfrm>
            <a:off x="4864608" y="5577840"/>
            <a:ext cx="6309360" cy="658368"/>
          </a:xfrm>
          <a:prstGeom prst="rect">
            <a:avLst/>
          </a:prstGeom>
          <a:noFill/>
          <a:ln/>
        </p:spPr>
        <p:txBody>
          <a:bodyPr wrap="square" lIns="0" tIns="0" rIns="0" bIns="0" rtlCol="0" anchor="ctr"/>
          <a:lstStyle/>
          <a:p>
            <a:pPr indent="0" marL="0">
              <a:lnSpc>
                <a:spcPts val="1500"/>
              </a:lnSpc>
              <a:buNone/>
            </a:pPr>
            <a:r>
              <a:rPr lang="en-US" sz="1150" dirty="0">
                <a:solidFill>
                  <a:srgbClr val="1A1D23"/>
                </a:solidFill>
                <a:latin typeface="Calibri" pitchFamily="34" charset="0"/>
                <a:ea typeface="Calibri" pitchFamily="34" charset="-122"/>
                <a:cs typeface="Calibri" pitchFamily="34" charset="-120"/>
              </a:rPr>
              <a:t>Temperature is zero when extracting facts so the result is repeatable, and higher when writing a reply.</a:t>
            </a:r>
            <a:endParaRPr lang="en-US" sz="1150" dirty="0"/>
          </a:p>
        </p:txBody>
      </p:sp>
      <p:sp>
        <p:nvSpPr>
          <p:cNvPr id="25" name="Text 23"/>
          <p:cNvSpPr txBox="1"/>
          <p:nvPr/>
        </p:nvSpPr>
        <p:spPr>
          <a:xfrm>
            <a:off x="566928" y="6327648"/>
            <a:ext cx="10881360" cy="292608"/>
          </a:xfrm>
          <a:prstGeom prst="rect">
            <a:avLst/>
          </a:prstGeom>
          <a:noFill/>
          <a:ln/>
        </p:spPr>
        <p:txBody>
          <a:bodyPr wrap="square" lIns="0" tIns="0" rIns="0" bIns="0" rtlCol="0" anchor="ctr"/>
          <a:lstStyle/>
          <a:p>
            <a:pPr indent="0" marL="0">
              <a:buNone/>
            </a:pPr>
            <a:r>
              <a:rPr lang="en-US" sz="1100" i="1" dirty="0">
                <a:solidFill>
                  <a:srgbClr val="8B94A3"/>
                </a:solidFill>
                <a:latin typeface="Calibri" pitchFamily="34" charset="0"/>
                <a:ea typeface="Calibri" pitchFamily="34" charset="-122"/>
                <a:cs typeface="Calibri" pitchFamily="34" charset="-120"/>
              </a:rPr>
              <a:t>All six come from Unit 2, Transformers and Large Language Models.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with Long-Term Memory</dc:title>
  <dc:subject>PptxGenJS Presentation</dc:subject>
  <dc:creator>Group 03</dc:creator>
  <cp:lastModifiedBy>Group 03</cp:lastModifiedBy>
  <cp:revision>1</cp:revision>
  <dcterms:created xsi:type="dcterms:W3CDTF">2026-09-02T01:35:08Z</dcterms:created>
  <dcterms:modified xsi:type="dcterms:W3CDTF">2026-09-02T01:35:08Z</dcterms:modified>
</cp:coreProperties>
</file>