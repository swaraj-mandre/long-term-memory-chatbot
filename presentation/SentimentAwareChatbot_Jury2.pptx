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D23"/>
                </a:solidFill>
                <a:latin typeface="Calibri"/>
              </a:defRPr>
            </a:pPr>
            <a:r>
              <a:rPr sz="1400" b="0" i="0" u="none" strike="noStrike">
                <a:solidFill>
                  <a:srgbClr val="1A1D23"/>
                </a:solidFill>
                <a:latin typeface="Calibri"/>
              </a:rPr>
              <a:t>Accuracy (%) by reader</a:t>
            </a:r>
          </a:p>
        </c:rich>
      </c:tx>
      <c:layout/>
      <c:overlay val="0"/>
    </c:title>
    <c:autoTitleDeleted val="0"/>
    <c:plotArea>
      <c:layout/>
      <c:barChart>
        <c:barDir val="col"/>
        <c:grouping val="clustered"/>
        <c:varyColors val="0"/>
        <c:ser>
          <c:idx val="0"/>
          <c:order val="0"/>
          <c:tx>
            <c:strRef>
              <c:f>Sheet1!$B$1</c:f>
              <c:strCache>
                <c:ptCount val="1"/>
                <c:pt idx="0">
                  <c:v>All 42 messages</c:v>
                </c:pt>
              </c:strCache>
            </c:strRef>
          </c:tx>
          <c:spPr>
            <a:solidFill>
              <a:srgbClr val="1E2761"/>
            </a:solidFill>
            <a:effectLst/>
          </c:spPr>
          <c:invertIfNegative val="0"/>
          <c:dLbls>
            <c:numFmt formatCode="0.0" sourceLinked="0"/>
            <c:txPr>
              <a:bodyPr/>
              <a:lstStyle/>
              <a:p>
                <a:pPr>
                  <a:defRPr b="0" i="0" strike="noStrike" sz="1100" u="none">
                    <a:solidFill>
                      <a:srgbClr val="1A1D2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Local model alone</c:v>
                  </c:pt>
                  <c:pt idx="1">
                    <c:v>LLM alone</c:v>
                  </c:pt>
                  <c:pt idx="2">
                    <c:v>Combined (used by bot)</c:v>
                  </c:pt>
                </c:lvl>
              </c:multiLvlStrCache>
            </c:multiLvlStrRef>
          </c:cat>
          <c:val>
            <c:numRef>
              <c:f>Sheet1!$B$2:$B$4</c:f>
              <c:numCache>
                <c:formatCode>General</c:formatCode>
                <c:ptCount val="3"/>
                <c:pt idx="0">
                  <c:v>83.3</c:v>
                </c:pt>
                <c:pt idx="1">
                  <c:v>97.6</c:v>
                </c:pt>
                <c:pt idx="2">
                  <c:v>97.6</c:v>
                </c:pt>
              </c:numCache>
            </c:numRef>
          </c:val>
        </c:ser>
        <c:ser>
          <c:idx val="1"/>
          <c:order val="1"/>
          <c:tx>
            <c:strRef>
              <c:f>Sheet1!$C$1</c:f>
              <c:strCache>
                <c:ptCount val="1"/>
                <c:pt idx="0">
                  <c:v>7 hard messages</c:v>
                </c:pt>
              </c:strCache>
            </c:strRef>
          </c:tx>
          <c:spPr>
            <a:solidFill>
              <a:srgbClr val="8FA6E0"/>
            </a:solidFill>
            <a:effectLst/>
          </c:spPr>
          <c:invertIfNegative val="0"/>
          <c:dLbls>
            <c:numFmt formatCode="0.0" sourceLinked="0"/>
            <c:txPr>
              <a:bodyPr/>
              <a:lstStyle/>
              <a:p>
                <a:pPr>
                  <a:defRPr b="0" i="0" strike="noStrike" sz="1100" u="none">
                    <a:solidFill>
                      <a:srgbClr val="1A1D2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Local model alone</c:v>
                  </c:pt>
                  <c:pt idx="1">
                    <c:v>LLM alone</c:v>
                  </c:pt>
                  <c:pt idx="2">
                    <c:v>Combined (used by bot)</c:v>
                  </c:pt>
                </c:lvl>
              </c:multiLvlStrCache>
            </c:multiLvlStrRef>
          </c:cat>
          <c:val>
            <c:numRef>
              <c:f>Sheet1!$C$2:$C$4</c:f>
              <c:numCache>
                <c:formatCode>General</c:formatCode>
                <c:ptCount val="3"/>
                <c:pt idx="0">
                  <c:v>28.6</c:v>
                </c:pt>
                <c:pt idx="1">
                  <c:v>100</c:v>
                </c:pt>
                <c:pt idx="2">
                  <c:v>100</c:v>
                </c:pt>
              </c:numCache>
            </c:numRef>
          </c:val>
        </c:ser>
        <c:dLbls>
          <c:numFmt formatCode="0.0" sourceLinked="0"/>
          <c:txPr>
            <a:bodyPr/>
            <a:lstStyle/>
            <a:p>
              <a:pPr>
                <a:defRPr b="0" i="0" strike="noStrike" sz="1100" u="none">
                  <a:solidFill>
                    <a:srgbClr val="1A1D2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47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Jury 2 project is PS 96, a sentiment-aware chatbot. It reads how the user feels, changes the tone of its reply, and handles distress safely. We built it on top of our Jury 1 work, a chatbot with long-term memory, so it also remembers the user across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simple. A normal chatbot gives the same kind of reply whatever the user feels. On the right is the same message answered two ways. The top one is technically correct but feels cold. The bottom one is the actual output of our system. It notices the user is low and responds gently.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the six steps of PS 96 to what we built, so the panel can see that every step is covered. We will go through steps two, three and five in detail, then show the test results for step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start from zero. On the left is what we kept from Jury 1: long-term memory, search by meaning, fact replacement and the privacy filter. On the right is what is new for Jury 2. The memory is what makes our version different: the bot also remembers how the user 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follows this path. First, a crisis check using fixed rules. If it finds crisis wording, the bot skips the LLM and shows a fixed safe reply. Otherwise, two readers detect the emotion, we pick a safety level and a tone, search memory, and the LLM writes the reply in that tone. Emotion detection adds no delay, because the same LLM call that extracts facts also reads the emotion.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first jury question. We do not trust a single reader. A local emotion model scores every message against seven emotions. The LLM reads the same message with context. When they agree we are confident. When they disagree, we use the LLM and the screen shows the disagreement. The screenshot is a real sarcastic message. The local model said joy because of the word great. The LLM read the real feeling behind it, frustration, so the bot replied calmly instead of cheerfully.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know the emotion, a simple lookup table picks the tone. Each tone is one instruction, which we add to the system prompt. On the right are three real replies from one conversation: cheerful for good news, calm for a frustrating rejection, and gentle with a check-in when the user kept feeling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second jury question. There are three levels. Normal only changes the tone. Concern adds a gentle check-in. Crisis is different: fixed rules catch self-harm wording, the LLM is skipped completely, and a reviewed reply with helpline numbers is shown. We do this because a crisis reply must never depend on a model behaving well or a network being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crisis reply in the app. The helpline numbers are the largest thing on the card. On the right, the panel shows exactly what happened: the crisis rule matched, the LLM was skipped, and a fixed reply was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Jury 1 and Jury 2 meet. A normal sentiment bot only knows how you feel in this one message. Ours keeps a short mood history across sessions. It stores the emotion and a short reason, never the message itself, and for a crisis only a neutral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on 42 labelled messages, with the answers written down before testing. The combined system scores 97.6 percent. The local model alone scores 83.3 percent, and gets only 2 of the 7 hard messages right. With the LLM, all 7 are correct. The safety rules caught all 10 crisis messages and raised no false alarm on 8 everyday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 96 lists two likely questions, so here are our answers in one place. Reliability comes from two readers and an honest rule for disagreement, backed by measured results. Safety comes from fixed rules that run first and a reply that is never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the limits. The local model is English only, rules can miss indirect wording, and combining the readers does not raise accuracy above the LLM. Its value is a working fallback when the LLM is down. Next, we would add Indian language support, a larger independent test set, and professional review of the crisis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in one view. Two models run on our own machine, the emotion model and the embedding model, so stored memories never leave it. The LLM is DeepSeek v4 Flash, served through AtlasCloud.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can show the live demo now, or take questions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04088" y="160020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Sentiment-Aware Chatbot</a:t>
            </a:r>
            <a:endParaRPr lang="en-US" sz="4800" dirty="0"/>
          </a:p>
        </p:txBody>
      </p:sp>
      <p:sp>
        <p:nvSpPr>
          <p:cNvPr id="3" name="Text 1"/>
          <p:cNvSpPr txBox="1"/>
          <p:nvPr/>
        </p:nvSpPr>
        <p:spPr>
          <a:xfrm>
            <a:off x="704088" y="2606040"/>
            <a:ext cx="10058400" cy="45720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A chatbot that notices how the user feels, adapts its tone, and responds safely to distress</a:t>
            </a:r>
            <a:endParaRPr lang="en-US" sz="1900" dirty="0"/>
          </a:p>
        </p:txBody>
      </p:sp>
      <p:sp>
        <p:nvSpPr>
          <p:cNvPr id="4" name="Shape 2"/>
          <p:cNvSpPr/>
          <p:nvPr/>
        </p:nvSpPr>
        <p:spPr>
          <a:xfrm>
            <a:off x="704088" y="3337560"/>
            <a:ext cx="4663440" cy="457200"/>
          </a:xfrm>
          <a:prstGeom prst="roundRect">
            <a:avLst>
              <a:gd name="adj" fmla="val 50000"/>
            </a:avLst>
          </a:prstGeom>
          <a:solidFill>
            <a:srgbClr val="2E3D7A"/>
          </a:solidFill>
          <a:ln w="9525">
            <a:solidFill>
              <a:srgbClr val="3D4C8C"/>
            </a:solidFill>
            <a:prstDash val="solid"/>
          </a:ln>
        </p:spPr>
      </p:sp>
      <p:sp>
        <p:nvSpPr>
          <p:cNvPr id="5" name="Text 3"/>
          <p:cNvSpPr txBox="1"/>
          <p:nvPr/>
        </p:nvSpPr>
        <p:spPr>
          <a:xfrm>
            <a:off x="704088" y="3337560"/>
            <a:ext cx="4663440" cy="457200"/>
          </a:xfrm>
          <a:prstGeom prst="rect">
            <a:avLst/>
          </a:prstGeom>
          <a:noFill/>
          <a:ln/>
        </p:spPr>
        <p:txBody>
          <a:bodyPr wrap="square" lIns="0" tIns="0" rIns="0" bIns="0"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PS 96     |     Real-Time Scenario     |     Jury 2</a:t>
            </a:r>
            <a:endParaRPr lang="en-US" sz="1400" dirty="0"/>
          </a:p>
        </p:txBody>
      </p:sp>
      <p:sp>
        <p:nvSpPr>
          <p:cNvPr id="6" name="Text 4"/>
          <p:cNvSpPr txBox="1"/>
          <p:nvPr/>
        </p:nvSpPr>
        <p:spPr>
          <a:xfrm>
            <a:off x="704088" y="4343400"/>
            <a:ext cx="4114800" cy="109728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Swaraj Mandre</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Saumya Joshi</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Siddhant Pawar</a:t>
            </a:r>
            <a:endParaRPr lang="en-US" sz="1600" dirty="0"/>
          </a:p>
        </p:txBody>
      </p:sp>
      <p:sp>
        <p:nvSpPr>
          <p:cNvPr id="7" name="Text 5"/>
          <p:cNvSpPr txBox="1"/>
          <p:nvPr/>
        </p:nvSpPr>
        <p:spPr>
          <a:xfrm>
            <a:off x="5120640" y="4370832"/>
            <a:ext cx="4572000" cy="2743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Guided by</a:t>
            </a:r>
            <a:endParaRPr lang="en-US" sz="1200" dirty="0"/>
          </a:p>
        </p:txBody>
      </p:sp>
      <p:sp>
        <p:nvSpPr>
          <p:cNvPr id="8" name="Text 6"/>
          <p:cNvSpPr txBox="1"/>
          <p:nvPr/>
        </p:nvSpPr>
        <p:spPr>
          <a:xfrm>
            <a:off x="5120640" y="4617720"/>
            <a:ext cx="5486400" cy="3200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Prof. Dr. Snehalata Funde</a:t>
            </a:r>
            <a:endParaRPr lang="en-US" sz="1600" dirty="0"/>
          </a:p>
        </p:txBody>
      </p:sp>
      <p:sp>
        <p:nvSpPr>
          <p:cNvPr id="9" name="Text 7"/>
          <p:cNvSpPr txBox="1"/>
          <p:nvPr/>
        </p:nvSpPr>
        <p:spPr>
          <a:xfrm>
            <a:off x="5120640" y="5074920"/>
            <a:ext cx="5943600" cy="822960"/>
          </a:xfrm>
          <a:prstGeom prst="rect">
            <a:avLst/>
          </a:prstGeom>
          <a:noFill/>
          <a:ln/>
        </p:spPr>
        <p:txBody>
          <a:bodyPr wrap="square" lIns="0" tIns="0" rIns="0" bIns="0" rtlCol="0" anchor="t"/>
          <a:lstStyle/>
          <a:p>
            <a:pPr indent="0" marL="0">
              <a:spcAft>
                <a:spcPts val="200"/>
              </a:spcAft>
              <a:buNone/>
            </a:pPr>
            <a:r>
              <a:rPr lang="en-US" sz="1250" dirty="0">
                <a:solidFill>
                  <a:srgbClr val="CADCFC"/>
                </a:solidFill>
                <a:latin typeface="Calibri" pitchFamily="34" charset="0"/>
                <a:ea typeface="Calibri" pitchFamily="34" charset="-122"/>
                <a:cs typeface="Calibri" pitchFamily="34" charset="-120"/>
              </a:rPr>
              <a:t>Group 3, LY-AIA5</a:t>
            </a:r>
            <a:endParaRPr lang="en-US" sz="1250" dirty="0"/>
          </a:p>
          <a:p>
            <a:pPr indent="0" marL="0">
              <a:spcAft>
                <a:spcPts val="200"/>
              </a:spcAft>
              <a:buNone/>
            </a:pPr>
            <a:r>
              <a:rPr lang="en-US" sz="1250" dirty="0">
                <a:solidFill>
                  <a:srgbClr val="CADCFC"/>
                </a:solidFill>
                <a:latin typeface="Calibri" pitchFamily="34" charset="0"/>
                <a:ea typeface="Calibri" pitchFamily="34" charset="-122"/>
                <a:cs typeface="Calibri" pitchFamily="34" charset="-120"/>
              </a:rPr>
              <a:t>MIT School of Computing</a:t>
            </a:r>
            <a:endParaRPr lang="en-US" sz="1250" dirty="0"/>
          </a:p>
          <a:p>
            <a:pPr indent="0" marL="0">
              <a:spcAft>
                <a:spcPts val="200"/>
              </a:spcAft>
              <a:buNone/>
            </a:pPr>
            <a:r>
              <a:rPr lang="en-US" sz="1250" dirty="0">
                <a:solidFill>
                  <a:srgbClr val="CADCFC"/>
                </a:solidFill>
                <a:latin typeface="Calibri" pitchFamily="34" charset="0"/>
                <a:ea typeface="Calibri" pitchFamily="34" charset="-122"/>
                <a:cs typeface="Calibri" pitchFamily="34" charset="-120"/>
              </a:rPr>
              <a:t>MIT Art, Design and Technology University</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THE PROBLEM</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chatbot reads words, not feelings</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66928" y="1645920"/>
            <a:ext cx="5120640" cy="914400"/>
          </a:xfrm>
          <a:prstGeom prst="rect">
            <a:avLst/>
          </a:prstGeom>
          <a:noFill/>
          <a:ln/>
        </p:spPr>
        <p:txBody>
          <a:bodyPr wrap="square" lIns="0" tIns="0" rIns="0" bIns="0" rtlCol="0" anchor="t"/>
          <a:lstStyle/>
          <a:p>
            <a:pPr indent="0" marL="0">
              <a:buNone/>
            </a:pPr>
            <a:r>
              <a:rPr lang="en-US" sz="1600" dirty="0">
                <a:solidFill>
                  <a:srgbClr val="1A1D23"/>
                </a:solidFill>
                <a:latin typeface="Calibri" pitchFamily="34" charset="0"/>
                <a:ea typeface="Calibri" pitchFamily="34" charset="-122"/>
                <a:cs typeface="Calibri" pitchFamily="34" charset="-120"/>
              </a:rPr>
              <a:t>Most chatbots answer every message in the same voice. A user who is celebrating and a user who is struggling get the same style of reply.</a:t>
            </a:r>
            <a:endParaRPr lang="en-US" sz="1600" dirty="0"/>
          </a:p>
        </p:txBody>
      </p:sp>
      <p:sp>
        <p:nvSpPr>
          <p:cNvPr id="6" name="Shape 4"/>
          <p:cNvSpPr/>
          <p:nvPr/>
        </p:nvSpPr>
        <p:spPr>
          <a:xfrm>
            <a:off x="566928" y="2788920"/>
            <a:ext cx="384048" cy="384048"/>
          </a:xfrm>
          <a:prstGeom prst="ellipse">
            <a:avLst/>
          </a:prstGeom>
          <a:solidFill>
            <a:srgbClr val="1E2761"/>
          </a:solidFill>
          <a:ln w="12700">
            <a:solidFill>
              <a:srgbClr val="1E2761"/>
            </a:solidFill>
            <a:prstDash val="solid"/>
          </a:ln>
        </p:spPr>
      </p:sp>
      <p:sp>
        <p:nvSpPr>
          <p:cNvPr id="7" name="Text 5"/>
          <p:cNvSpPr txBox="1"/>
          <p:nvPr/>
        </p:nvSpPr>
        <p:spPr>
          <a:xfrm>
            <a:off x="566928" y="27889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txBox="1"/>
          <p:nvPr/>
        </p:nvSpPr>
        <p:spPr>
          <a:xfrm>
            <a:off x="1133856" y="2770632"/>
            <a:ext cx="4572000"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The wrong tone breaks trust</a:t>
            </a:r>
            <a:endParaRPr lang="en-US" sz="1550" dirty="0"/>
          </a:p>
        </p:txBody>
      </p:sp>
      <p:sp>
        <p:nvSpPr>
          <p:cNvPr id="9" name="Text 7"/>
          <p:cNvSpPr txBox="1"/>
          <p:nvPr/>
        </p:nvSpPr>
        <p:spPr>
          <a:xfrm>
            <a:off x="1133856" y="3099816"/>
            <a:ext cx="4572000" cy="5486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A cheerful list of tips feels cold to someone who is upset.</a:t>
            </a:r>
            <a:endParaRPr lang="en-US" sz="1350" dirty="0"/>
          </a:p>
        </p:txBody>
      </p:sp>
      <p:sp>
        <p:nvSpPr>
          <p:cNvPr id="10" name="Shape 8"/>
          <p:cNvSpPr/>
          <p:nvPr/>
        </p:nvSpPr>
        <p:spPr>
          <a:xfrm>
            <a:off x="566928" y="3813048"/>
            <a:ext cx="384048" cy="384048"/>
          </a:xfrm>
          <a:prstGeom prst="ellipse">
            <a:avLst/>
          </a:prstGeom>
          <a:solidFill>
            <a:srgbClr val="1E2761"/>
          </a:solidFill>
          <a:ln w="12700">
            <a:solidFill>
              <a:srgbClr val="1E2761"/>
            </a:solidFill>
            <a:prstDash val="solid"/>
          </a:ln>
        </p:spPr>
      </p:sp>
      <p:sp>
        <p:nvSpPr>
          <p:cNvPr id="11" name="Text 9"/>
          <p:cNvSpPr txBox="1"/>
          <p:nvPr/>
        </p:nvSpPr>
        <p:spPr>
          <a:xfrm>
            <a:off x="566928" y="381304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1133856" y="3794760"/>
            <a:ext cx="4572000"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Distress needs a safe response</a:t>
            </a:r>
            <a:endParaRPr lang="en-US" sz="1550" dirty="0"/>
          </a:p>
        </p:txBody>
      </p:sp>
      <p:sp>
        <p:nvSpPr>
          <p:cNvPr id="13" name="Text 11"/>
          <p:cNvSpPr txBox="1"/>
          <p:nvPr/>
        </p:nvSpPr>
        <p:spPr>
          <a:xfrm>
            <a:off x="1133856" y="4123944"/>
            <a:ext cx="4572000" cy="5486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A user in crisis needs real help, not a generated guess.</a:t>
            </a:r>
            <a:endParaRPr lang="en-US" sz="1350" dirty="0"/>
          </a:p>
        </p:txBody>
      </p:sp>
      <p:sp>
        <p:nvSpPr>
          <p:cNvPr id="14" name="Shape 12"/>
          <p:cNvSpPr/>
          <p:nvPr/>
        </p:nvSpPr>
        <p:spPr>
          <a:xfrm>
            <a:off x="566928" y="4837176"/>
            <a:ext cx="384048" cy="384048"/>
          </a:xfrm>
          <a:prstGeom prst="ellipse">
            <a:avLst/>
          </a:prstGeom>
          <a:solidFill>
            <a:srgbClr val="1E2761"/>
          </a:solidFill>
          <a:ln w="12700">
            <a:solidFill>
              <a:srgbClr val="1E2761"/>
            </a:solidFill>
            <a:prstDash val="solid"/>
          </a:ln>
        </p:spPr>
      </p:sp>
      <p:sp>
        <p:nvSpPr>
          <p:cNvPr id="15" name="Text 13"/>
          <p:cNvSpPr txBox="1"/>
          <p:nvPr/>
        </p:nvSpPr>
        <p:spPr>
          <a:xfrm>
            <a:off x="566928" y="48371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6" name="Text 14"/>
          <p:cNvSpPr txBox="1"/>
          <p:nvPr/>
        </p:nvSpPr>
        <p:spPr>
          <a:xfrm>
            <a:off x="1133856" y="4818888"/>
            <a:ext cx="4572000"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Feelings carry over</a:t>
            </a:r>
            <a:endParaRPr lang="en-US" sz="1550" dirty="0"/>
          </a:p>
        </p:txBody>
      </p:sp>
      <p:sp>
        <p:nvSpPr>
          <p:cNvPr id="17" name="Text 15"/>
          <p:cNvSpPr txBox="1"/>
          <p:nvPr/>
        </p:nvSpPr>
        <p:spPr>
          <a:xfrm>
            <a:off x="1133856" y="5148072"/>
            <a:ext cx="4572000" cy="5486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How a user felt last week matters today, but most bots forget it.</a:t>
            </a:r>
            <a:endParaRPr lang="en-US" sz="1350" dirty="0"/>
          </a:p>
        </p:txBody>
      </p:sp>
      <p:sp>
        <p:nvSpPr>
          <p:cNvPr id="18" name="Shape 16"/>
          <p:cNvSpPr/>
          <p:nvPr/>
        </p:nvSpPr>
        <p:spPr>
          <a:xfrm>
            <a:off x="7418527" y="1645920"/>
            <a:ext cx="4206240" cy="566928"/>
          </a:xfrm>
          <a:prstGeom prst="roundRect">
            <a:avLst>
              <a:gd name="adj" fmla="val 19355"/>
            </a:avLst>
          </a:prstGeom>
          <a:solidFill>
            <a:srgbClr val="2563EB"/>
          </a:solidFill>
          <a:ln w="12700">
            <a:solidFill>
              <a:srgbClr val="2563EB"/>
            </a:solidFill>
            <a:prstDash val="solid"/>
          </a:ln>
        </p:spPr>
      </p:sp>
      <p:sp>
        <p:nvSpPr>
          <p:cNvPr id="19" name="Text 17"/>
          <p:cNvSpPr txBox="1"/>
          <p:nvPr/>
        </p:nvSpPr>
        <p:spPr>
          <a:xfrm>
            <a:off x="7509967" y="1645920"/>
            <a:ext cx="402336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 failed my DBMS exam again too. Nothing I do ever works.</a:t>
            </a:r>
            <a:endParaRPr lang="en-US" sz="1300" dirty="0"/>
          </a:p>
        </p:txBody>
      </p:sp>
      <p:sp>
        <p:nvSpPr>
          <p:cNvPr id="20" name="Shape 18"/>
          <p:cNvSpPr/>
          <p:nvPr/>
        </p:nvSpPr>
        <p:spPr>
          <a:xfrm>
            <a:off x="6355080" y="2468880"/>
            <a:ext cx="5269687" cy="1234440"/>
          </a:xfrm>
          <a:prstGeom prst="roundRect">
            <a:avLst>
              <a:gd name="adj" fmla="val 7407"/>
            </a:avLst>
          </a:prstGeom>
          <a:solidFill>
            <a:srgbClr val="FFFBEB"/>
          </a:solidFill>
          <a:ln w="9525">
            <a:solidFill>
              <a:srgbClr val="FCD9A4"/>
            </a:solidFill>
            <a:prstDash val="solid"/>
          </a:ln>
        </p:spPr>
      </p:sp>
      <p:sp>
        <p:nvSpPr>
          <p:cNvPr id="21" name="Text 19"/>
          <p:cNvSpPr txBox="1"/>
          <p:nvPr/>
        </p:nvSpPr>
        <p:spPr>
          <a:xfrm>
            <a:off x="6583680" y="2606040"/>
            <a:ext cx="3657600" cy="237744"/>
          </a:xfrm>
          <a:prstGeom prst="rect">
            <a:avLst/>
          </a:prstGeom>
          <a:noFill/>
          <a:ln/>
        </p:spPr>
        <p:txBody>
          <a:bodyPr wrap="square" lIns="0" tIns="0" rIns="0" bIns="0" rtlCol="0" anchor="t"/>
          <a:lstStyle/>
          <a:p>
            <a:pPr indent="0" marL="0">
              <a:buNone/>
            </a:pPr>
            <a:r>
              <a:rPr lang="en-US" sz="1100" b="1" spc="100" kern="0" dirty="0">
                <a:solidFill>
                  <a:srgbClr val="B45309"/>
                </a:solidFill>
                <a:latin typeface="Calibri" pitchFamily="34" charset="0"/>
                <a:ea typeface="Calibri" pitchFamily="34" charset="-122"/>
                <a:cs typeface="Calibri" pitchFamily="34" charset="-120"/>
              </a:rPr>
              <a:t>A TYPICAL CHATBOT</a:t>
            </a:r>
            <a:endParaRPr lang="en-US" sz="1100" dirty="0"/>
          </a:p>
        </p:txBody>
      </p:sp>
      <p:sp>
        <p:nvSpPr>
          <p:cNvPr id="22" name="Text 20"/>
          <p:cNvSpPr txBox="1"/>
          <p:nvPr/>
        </p:nvSpPr>
        <p:spPr>
          <a:xfrm>
            <a:off x="6583680" y="2880360"/>
            <a:ext cx="4812487" cy="914400"/>
          </a:xfrm>
          <a:prstGeom prst="rect">
            <a:avLst/>
          </a:prstGeom>
          <a:noFill/>
          <a:ln/>
        </p:spPr>
        <p:txBody>
          <a:bodyPr wrap="square" lIns="0" tIns="0" rIns="0" bIns="0" rtlCol="0" anchor="t"/>
          <a:lstStyle/>
          <a:p>
            <a:pPr indent="0" marL="0">
              <a:buNone/>
            </a:pPr>
            <a:r>
              <a:rPr lang="en-US" sz="1400" dirty="0">
                <a:solidFill>
                  <a:srgbClr val="1A1D23"/>
                </a:solidFill>
                <a:latin typeface="Calibri" pitchFamily="34" charset="0"/>
                <a:ea typeface="Calibri" pitchFamily="34" charset="-122"/>
                <a:cs typeface="Calibri" pitchFamily="34" charset="-120"/>
              </a:rPr>
              <a:t>Here are some tips to do better next time: make a study timetable, solve previous papers, and revise every day.</a:t>
            </a:r>
            <a:endParaRPr lang="en-US" sz="1400" dirty="0"/>
          </a:p>
        </p:txBody>
      </p:sp>
      <p:sp>
        <p:nvSpPr>
          <p:cNvPr id="23" name="Shape 21"/>
          <p:cNvSpPr/>
          <p:nvPr/>
        </p:nvSpPr>
        <p:spPr>
          <a:xfrm>
            <a:off x="6355080" y="3931920"/>
            <a:ext cx="5269687" cy="1600200"/>
          </a:xfrm>
          <a:prstGeom prst="roundRect">
            <a:avLst>
              <a:gd name="adj" fmla="val 5714"/>
            </a:avLst>
          </a:prstGeom>
          <a:solidFill>
            <a:srgbClr val="ECFDF5"/>
          </a:solidFill>
          <a:ln w="9525">
            <a:solidFill>
              <a:srgbClr val="A7F3D0"/>
            </a:solidFill>
            <a:prstDash val="solid"/>
          </a:ln>
        </p:spPr>
      </p:sp>
      <p:sp>
        <p:nvSpPr>
          <p:cNvPr id="24" name="Text 22"/>
          <p:cNvSpPr txBox="1"/>
          <p:nvPr/>
        </p:nvSpPr>
        <p:spPr>
          <a:xfrm>
            <a:off x="6583680" y="4069080"/>
            <a:ext cx="4572000" cy="237744"/>
          </a:xfrm>
          <a:prstGeom prst="rect">
            <a:avLst/>
          </a:prstGeom>
          <a:noFill/>
          <a:ln/>
        </p:spPr>
        <p:txBody>
          <a:bodyPr wrap="square" lIns="0" tIns="0" rIns="0" bIns="0" rtlCol="0" anchor="t"/>
          <a:lstStyle/>
          <a:p>
            <a:pPr indent="0" marL="0">
              <a:buNone/>
            </a:pPr>
            <a:r>
              <a:rPr lang="en-US" sz="1100" b="1" spc="100" kern="0" dirty="0">
                <a:solidFill>
                  <a:srgbClr val="047857"/>
                </a:solidFill>
                <a:latin typeface="Calibri" pitchFamily="34" charset="0"/>
                <a:ea typeface="Calibri" pitchFamily="34" charset="-122"/>
                <a:cs typeface="Calibri" pitchFamily="34" charset="-120"/>
              </a:rPr>
              <a:t>OUR CHATBOT  (REAL OUTPUT)</a:t>
            </a:r>
            <a:endParaRPr lang="en-US" sz="1100" dirty="0"/>
          </a:p>
        </p:txBody>
      </p:sp>
      <p:sp>
        <p:nvSpPr>
          <p:cNvPr id="25" name="Text 23"/>
          <p:cNvSpPr txBox="1"/>
          <p:nvPr/>
        </p:nvSpPr>
        <p:spPr>
          <a:xfrm>
            <a:off x="6583680" y="4343400"/>
            <a:ext cx="4812487" cy="1097280"/>
          </a:xfrm>
          <a:prstGeom prst="rect">
            <a:avLst/>
          </a:prstGeom>
          <a:noFill/>
          <a:ln/>
        </p:spPr>
        <p:txBody>
          <a:bodyPr wrap="square" lIns="0" tIns="0" rIns="0" bIns="0" rtlCol="0" anchor="t"/>
          <a:lstStyle/>
          <a:p>
            <a:pPr indent="0" marL="0">
              <a:buNone/>
            </a:pPr>
            <a:r>
              <a:rPr lang="en-US" sz="1400" dirty="0">
                <a:solidFill>
                  <a:srgbClr val="1A1D23"/>
                </a:solidFill>
                <a:latin typeface="Calibri" pitchFamily="34" charset="0"/>
                <a:ea typeface="Calibri" pitchFamily="34" charset="-122"/>
                <a:cs typeface="Calibri" pitchFamily="34" charset="-120"/>
              </a:rPr>
              <a:t>That's a heavy weight to carry. I'm sorry you're going through this. It's okay to feel crushed. You don't have to figure it all out alone. Is there someone you trust you can talk to?</a:t>
            </a:r>
            <a:endParaRPr lang="en-US" sz="1400" dirty="0"/>
          </a:p>
        </p:txBody>
      </p:sp>
      <p:sp>
        <p:nvSpPr>
          <p:cNvPr id="26" name="Text 24"/>
          <p:cNvSpPr txBox="1"/>
          <p:nvPr/>
        </p:nvSpPr>
        <p:spPr>
          <a:xfrm>
            <a:off x="6355080" y="5669280"/>
            <a:ext cx="5269687" cy="292608"/>
          </a:xfrm>
          <a:prstGeom prst="rect">
            <a:avLst/>
          </a:prstGeom>
          <a:noFill/>
          <a:ln/>
        </p:spPr>
        <p:txBody>
          <a:bodyPr wrap="square" lIns="0" tIns="0" rIns="0" bIns="0" rtlCol="0" anchor="t"/>
          <a:lstStyle/>
          <a:p>
            <a:pPr indent="0" marL="0">
              <a:buNone/>
            </a:pPr>
            <a:r>
              <a:rPr lang="en-US" sz="1100" i="1" dirty="0">
                <a:solidFill>
                  <a:srgbClr val="8B94A3"/>
                </a:solidFill>
                <a:latin typeface="Calibri" pitchFamily="34" charset="0"/>
                <a:ea typeface="Calibri" pitchFamily="34" charset="-122"/>
                <a:cs typeface="Calibri" pitchFamily="34" charset="-120"/>
              </a:rPr>
              <a:t>Same message, same facts. Only the reading of emotion is different.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PROBLEM STATEMENT</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Every step of PS 96, and where it lives</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1133856" y="1572768"/>
            <a:ext cx="3657600" cy="237744"/>
          </a:xfrm>
          <a:prstGeom prst="rect">
            <a:avLst/>
          </a:prstGeom>
          <a:noFill/>
          <a:ln/>
        </p:spPr>
        <p:txBody>
          <a:bodyPr wrap="square" lIns="0" tIns="0" rIns="0" bIns="0" rtlCol="0" anchor="t"/>
          <a:lstStyle/>
          <a:p>
            <a:pPr indent="0" marL="0">
              <a:buNone/>
            </a:pPr>
            <a:r>
              <a:rPr lang="en-US" sz="1100" b="1" spc="100" kern="0" dirty="0">
                <a:solidFill>
                  <a:srgbClr val="8B94A3"/>
                </a:solidFill>
                <a:latin typeface="Calibri" pitchFamily="34" charset="0"/>
                <a:ea typeface="Calibri" pitchFamily="34" charset="-122"/>
                <a:cs typeface="Calibri" pitchFamily="34" charset="-120"/>
              </a:rPr>
              <a:t>PS 96 STEP</a:t>
            </a:r>
            <a:endParaRPr lang="en-US" sz="1100" dirty="0"/>
          </a:p>
        </p:txBody>
      </p:sp>
      <p:sp>
        <p:nvSpPr>
          <p:cNvPr id="6" name="Text 4"/>
          <p:cNvSpPr txBox="1"/>
          <p:nvPr/>
        </p:nvSpPr>
        <p:spPr>
          <a:xfrm>
            <a:off x="5257800" y="1572768"/>
            <a:ext cx="3657600" cy="237744"/>
          </a:xfrm>
          <a:prstGeom prst="rect">
            <a:avLst/>
          </a:prstGeom>
          <a:noFill/>
          <a:ln/>
        </p:spPr>
        <p:txBody>
          <a:bodyPr wrap="square" lIns="0" tIns="0" rIns="0" bIns="0" rtlCol="0" anchor="t"/>
          <a:lstStyle/>
          <a:p>
            <a:pPr indent="0" marL="0">
              <a:buNone/>
            </a:pPr>
            <a:r>
              <a:rPr lang="en-US" sz="1100" b="1" spc="100" kern="0" dirty="0">
                <a:solidFill>
                  <a:srgbClr val="8B94A3"/>
                </a:solidFill>
                <a:latin typeface="Calibri" pitchFamily="34" charset="0"/>
                <a:ea typeface="Calibri" pitchFamily="34" charset="-122"/>
                <a:cs typeface="Calibri" pitchFamily="34" charset="-120"/>
              </a:rPr>
              <a:t>WHAT WE BUILT</a:t>
            </a:r>
            <a:endParaRPr lang="en-US" sz="1100" dirty="0"/>
          </a:p>
        </p:txBody>
      </p:sp>
      <p:sp>
        <p:nvSpPr>
          <p:cNvPr id="7" name="Shape 5"/>
          <p:cNvSpPr/>
          <p:nvPr/>
        </p:nvSpPr>
        <p:spPr>
          <a:xfrm>
            <a:off x="566928" y="1901952"/>
            <a:ext cx="11057839" cy="585216"/>
          </a:xfrm>
          <a:prstGeom prst="roundRect">
            <a:avLst>
              <a:gd name="adj" fmla="val 15625"/>
            </a:avLst>
          </a:prstGeom>
          <a:solidFill>
            <a:srgbClr val="F7F9FC"/>
          </a:solidFill>
          <a:ln w="9525">
            <a:solidFill>
              <a:srgbClr val="DDE3ED"/>
            </a:solidFill>
            <a:prstDash val="solid"/>
          </a:ln>
        </p:spPr>
      </p:sp>
      <p:sp>
        <p:nvSpPr>
          <p:cNvPr id="8" name="Shape 6"/>
          <p:cNvSpPr/>
          <p:nvPr/>
        </p:nvSpPr>
        <p:spPr>
          <a:xfrm>
            <a:off x="694944" y="2011680"/>
            <a:ext cx="365760" cy="365760"/>
          </a:xfrm>
          <a:prstGeom prst="ellipse">
            <a:avLst/>
          </a:prstGeom>
          <a:solidFill>
            <a:srgbClr val="1E2761"/>
          </a:solidFill>
          <a:ln w="12700">
            <a:solidFill>
              <a:srgbClr val="1E2761"/>
            </a:solidFill>
            <a:prstDash val="solid"/>
          </a:ln>
        </p:spPr>
      </p:sp>
      <p:sp>
        <p:nvSpPr>
          <p:cNvPr id="9" name="Text 7"/>
          <p:cNvSpPr txBox="1"/>
          <p:nvPr/>
        </p:nvSpPr>
        <p:spPr>
          <a:xfrm>
            <a:off x="694944" y="20116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8"/>
          <p:cNvSpPr txBox="1"/>
          <p:nvPr/>
        </p:nvSpPr>
        <p:spPr>
          <a:xfrm>
            <a:off x="1225296" y="1901952"/>
            <a:ext cx="3931920" cy="58521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Frame a bot that adapts tone to emotion</a:t>
            </a:r>
            <a:endParaRPr lang="en-US" sz="1450" dirty="0"/>
          </a:p>
        </p:txBody>
      </p:sp>
      <p:sp>
        <p:nvSpPr>
          <p:cNvPr id="11" name="Text 9"/>
          <p:cNvSpPr txBox="1"/>
          <p:nvPr/>
        </p:nvSpPr>
        <p:spPr>
          <a:xfrm>
            <a:off x="5257800" y="1901952"/>
            <a:ext cx="6217920" cy="585216"/>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Our Jury 1 memory chatbot now reads emotion before every reply</a:t>
            </a:r>
            <a:endParaRPr lang="en-US" sz="1400" dirty="0"/>
          </a:p>
        </p:txBody>
      </p:sp>
      <p:sp>
        <p:nvSpPr>
          <p:cNvPr id="12" name="Shape 10"/>
          <p:cNvSpPr/>
          <p:nvPr/>
        </p:nvSpPr>
        <p:spPr>
          <a:xfrm>
            <a:off x="566928" y="2615184"/>
            <a:ext cx="11057839" cy="585216"/>
          </a:xfrm>
          <a:prstGeom prst="roundRect">
            <a:avLst>
              <a:gd name="adj" fmla="val 15625"/>
            </a:avLst>
          </a:prstGeom>
          <a:solidFill>
            <a:srgbClr val="FFFFFF"/>
          </a:solidFill>
          <a:ln w="9525">
            <a:solidFill>
              <a:srgbClr val="DDE3ED"/>
            </a:solidFill>
            <a:prstDash val="solid"/>
          </a:ln>
        </p:spPr>
      </p:sp>
      <p:sp>
        <p:nvSpPr>
          <p:cNvPr id="13" name="Shape 11"/>
          <p:cNvSpPr/>
          <p:nvPr/>
        </p:nvSpPr>
        <p:spPr>
          <a:xfrm>
            <a:off x="694944" y="2724912"/>
            <a:ext cx="365760" cy="365760"/>
          </a:xfrm>
          <a:prstGeom prst="ellipse">
            <a:avLst/>
          </a:prstGeom>
          <a:solidFill>
            <a:srgbClr val="1E2761"/>
          </a:solidFill>
          <a:ln w="12700">
            <a:solidFill>
              <a:srgbClr val="1E2761"/>
            </a:solidFill>
            <a:prstDash val="solid"/>
          </a:ln>
        </p:spPr>
      </p:sp>
      <p:sp>
        <p:nvSpPr>
          <p:cNvPr id="14" name="Text 12"/>
          <p:cNvSpPr txBox="1"/>
          <p:nvPr/>
        </p:nvSpPr>
        <p:spPr>
          <a:xfrm>
            <a:off x="694944" y="272491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txBox="1"/>
          <p:nvPr/>
        </p:nvSpPr>
        <p:spPr>
          <a:xfrm>
            <a:off x="1225296" y="2615184"/>
            <a:ext cx="3931920" cy="58521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Detect user sentiment per message</a:t>
            </a:r>
            <a:endParaRPr lang="en-US" sz="1450" dirty="0"/>
          </a:p>
        </p:txBody>
      </p:sp>
      <p:sp>
        <p:nvSpPr>
          <p:cNvPr id="16" name="Text 14"/>
          <p:cNvSpPr txBox="1"/>
          <p:nvPr/>
        </p:nvSpPr>
        <p:spPr>
          <a:xfrm>
            <a:off x="5257800" y="2615184"/>
            <a:ext cx="6217920" cy="585216"/>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A local emotion model and the LLM read each message, then combine</a:t>
            </a:r>
            <a:endParaRPr lang="en-US" sz="1400" dirty="0"/>
          </a:p>
        </p:txBody>
      </p:sp>
      <p:sp>
        <p:nvSpPr>
          <p:cNvPr id="17" name="Shape 15"/>
          <p:cNvSpPr/>
          <p:nvPr/>
        </p:nvSpPr>
        <p:spPr>
          <a:xfrm>
            <a:off x="566928" y="3328416"/>
            <a:ext cx="11057839" cy="585216"/>
          </a:xfrm>
          <a:prstGeom prst="roundRect">
            <a:avLst>
              <a:gd name="adj" fmla="val 15625"/>
            </a:avLst>
          </a:prstGeom>
          <a:solidFill>
            <a:srgbClr val="F7F9FC"/>
          </a:solidFill>
          <a:ln w="9525">
            <a:solidFill>
              <a:srgbClr val="DDE3ED"/>
            </a:solidFill>
            <a:prstDash val="solid"/>
          </a:ln>
        </p:spPr>
      </p:sp>
      <p:sp>
        <p:nvSpPr>
          <p:cNvPr id="18" name="Shape 16"/>
          <p:cNvSpPr/>
          <p:nvPr/>
        </p:nvSpPr>
        <p:spPr>
          <a:xfrm>
            <a:off x="694944" y="3438144"/>
            <a:ext cx="365760" cy="365760"/>
          </a:xfrm>
          <a:prstGeom prst="ellipse">
            <a:avLst/>
          </a:prstGeom>
          <a:solidFill>
            <a:srgbClr val="1E2761"/>
          </a:solidFill>
          <a:ln w="12700">
            <a:solidFill>
              <a:srgbClr val="1E2761"/>
            </a:solidFill>
            <a:prstDash val="solid"/>
          </a:ln>
        </p:spPr>
      </p:sp>
      <p:sp>
        <p:nvSpPr>
          <p:cNvPr id="19" name="Text 17"/>
          <p:cNvSpPr txBox="1"/>
          <p:nvPr/>
        </p:nvSpPr>
        <p:spPr>
          <a:xfrm>
            <a:off x="694944" y="343814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0" name="Text 18"/>
          <p:cNvSpPr txBox="1"/>
          <p:nvPr/>
        </p:nvSpPr>
        <p:spPr>
          <a:xfrm>
            <a:off x="1225296" y="3328416"/>
            <a:ext cx="3931920" cy="58521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Adjust the reply tone accordingly</a:t>
            </a:r>
            <a:endParaRPr lang="en-US" sz="1450" dirty="0"/>
          </a:p>
        </p:txBody>
      </p:sp>
      <p:sp>
        <p:nvSpPr>
          <p:cNvPr id="21" name="Text 19"/>
          <p:cNvSpPr txBox="1"/>
          <p:nvPr/>
        </p:nvSpPr>
        <p:spPr>
          <a:xfrm>
            <a:off x="5257800" y="3328416"/>
            <a:ext cx="6217920" cy="585216"/>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Seven tone rules, one per emotion, placed in the system prompt</a:t>
            </a:r>
            <a:endParaRPr lang="en-US" sz="1400" dirty="0"/>
          </a:p>
        </p:txBody>
      </p:sp>
      <p:sp>
        <p:nvSpPr>
          <p:cNvPr id="22" name="Shape 20"/>
          <p:cNvSpPr/>
          <p:nvPr/>
        </p:nvSpPr>
        <p:spPr>
          <a:xfrm>
            <a:off x="566928" y="4041648"/>
            <a:ext cx="11057839" cy="585216"/>
          </a:xfrm>
          <a:prstGeom prst="roundRect">
            <a:avLst>
              <a:gd name="adj" fmla="val 15625"/>
            </a:avLst>
          </a:prstGeom>
          <a:solidFill>
            <a:srgbClr val="FFFFFF"/>
          </a:solidFill>
          <a:ln w="9525">
            <a:solidFill>
              <a:srgbClr val="DDE3ED"/>
            </a:solidFill>
            <a:prstDash val="solid"/>
          </a:ln>
        </p:spPr>
      </p:sp>
      <p:sp>
        <p:nvSpPr>
          <p:cNvPr id="23" name="Shape 21"/>
          <p:cNvSpPr/>
          <p:nvPr/>
        </p:nvSpPr>
        <p:spPr>
          <a:xfrm>
            <a:off x="694944" y="4151376"/>
            <a:ext cx="365760" cy="365760"/>
          </a:xfrm>
          <a:prstGeom prst="ellipse">
            <a:avLst/>
          </a:prstGeom>
          <a:solidFill>
            <a:srgbClr val="1E2761"/>
          </a:solidFill>
          <a:ln w="12700">
            <a:solidFill>
              <a:srgbClr val="1E2761"/>
            </a:solidFill>
            <a:prstDash val="solid"/>
          </a:ln>
        </p:spPr>
      </p:sp>
      <p:sp>
        <p:nvSpPr>
          <p:cNvPr id="24" name="Text 22"/>
          <p:cNvSpPr txBox="1"/>
          <p:nvPr/>
        </p:nvSpPr>
        <p:spPr>
          <a:xfrm>
            <a:off x="694944" y="415137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5" name="Text 23"/>
          <p:cNvSpPr txBox="1"/>
          <p:nvPr/>
        </p:nvSpPr>
        <p:spPr>
          <a:xfrm>
            <a:off x="1225296" y="4041648"/>
            <a:ext cx="3931920" cy="58521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Test on varied emotional inputs</a:t>
            </a:r>
            <a:endParaRPr lang="en-US" sz="1450" dirty="0"/>
          </a:p>
        </p:txBody>
      </p:sp>
      <p:sp>
        <p:nvSpPr>
          <p:cNvPr id="26" name="Text 24"/>
          <p:cNvSpPr txBox="1"/>
          <p:nvPr/>
        </p:nvSpPr>
        <p:spPr>
          <a:xfrm>
            <a:off x="5257800" y="4041648"/>
            <a:ext cx="6217920" cy="585216"/>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42 labelled messages, 10 crisis messages, 8 look-alike phrases</a:t>
            </a:r>
            <a:endParaRPr lang="en-US" sz="1400" dirty="0"/>
          </a:p>
        </p:txBody>
      </p:sp>
      <p:sp>
        <p:nvSpPr>
          <p:cNvPr id="27" name="Shape 25"/>
          <p:cNvSpPr/>
          <p:nvPr/>
        </p:nvSpPr>
        <p:spPr>
          <a:xfrm>
            <a:off x="566928" y="4754880"/>
            <a:ext cx="11057839" cy="585216"/>
          </a:xfrm>
          <a:prstGeom prst="roundRect">
            <a:avLst>
              <a:gd name="adj" fmla="val 15625"/>
            </a:avLst>
          </a:prstGeom>
          <a:solidFill>
            <a:srgbClr val="F7F9FC"/>
          </a:solidFill>
          <a:ln w="9525">
            <a:solidFill>
              <a:srgbClr val="DDE3ED"/>
            </a:solidFill>
            <a:prstDash val="solid"/>
          </a:ln>
        </p:spPr>
      </p:sp>
      <p:sp>
        <p:nvSpPr>
          <p:cNvPr id="28" name="Shape 26"/>
          <p:cNvSpPr/>
          <p:nvPr/>
        </p:nvSpPr>
        <p:spPr>
          <a:xfrm>
            <a:off x="694944" y="4864608"/>
            <a:ext cx="365760" cy="365760"/>
          </a:xfrm>
          <a:prstGeom prst="ellipse">
            <a:avLst/>
          </a:prstGeom>
          <a:solidFill>
            <a:srgbClr val="1E2761"/>
          </a:solidFill>
          <a:ln w="12700">
            <a:solidFill>
              <a:srgbClr val="1E2761"/>
            </a:solidFill>
            <a:prstDash val="solid"/>
          </a:ln>
        </p:spPr>
      </p:sp>
      <p:sp>
        <p:nvSpPr>
          <p:cNvPr id="29" name="Text 27"/>
          <p:cNvSpPr txBox="1"/>
          <p:nvPr/>
        </p:nvSpPr>
        <p:spPr>
          <a:xfrm>
            <a:off x="694944" y="48646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30" name="Text 28"/>
          <p:cNvSpPr txBox="1"/>
          <p:nvPr/>
        </p:nvSpPr>
        <p:spPr>
          <a:xfrm>
            <a:off x="1225296" y="4754880"/>
            <a:ext cx="3931920" cy="58521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Add escalation for distress</a:t>
            </a:r>
            <a:endParaRPr lang="en-US" sz="1450" dirty="0"/>
          </a:p>
        </p:txBody>
      </p:sp>
      <p:sp>
        <p:nvSpPr>
          <p:cNvPr id="31" name="Text 29"/>
          <p:cNvSpPr txBox="1"/>
          <p:nvPr/>
        </p:nvSpPr>
        <p:spPr>
          <a:xfrm>
            <a:off x="5257800" y="4754880"/>
            <a:ext cx="6217920" cy="585216"/>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Three safety levels. A crisis is handled by fixed rules, not the LLM</a:t>
            </a:r>
            <a:endParaRPr lang="en-US" sz="1400" dirty="0"/>
          </a:p>
        </p:txBody>
      </p:sp>
      <p:sp>
        <p:nvSpPr>
          <p:cNvPr id="32" name="Shape 30"/>
          <p:cNvSpPr/>
          <p:nvPr/>
        </p:nvSpPr>
        <p:spPr>
          <a:xfrm>
            <a:off x="566928" y="5468112"/>
            <a:ext cx="11057839" cy="585216"/>
          </a:xfrm>
          <a:prstGeom prst="roundRect">
            <a:avLst>
              <a:gd name="adj" fmla="val 15625"/>
            </a:avLst>
          </a:prstGeom>
          <a:solidFill>
            <a:srgbClr val="FFFFFF"/>
          </a:solidFill>
          <a:ln w="9525">
            <a:solidFill>
              <a:srgbClr val="DDE3ED"/>
            </a:solidFill>
            <a:prstDash val="solid"/>
          </a:ln>
        </p:spPr>
      </p:sp>
      <p:sp>
        <p:nvSpPr>
          <p:cNvPr id="33" name="Shape 31"/>
          <p:cNvSpPr/>
          <p:nvPr/>
        </p:nvSpPr>
        <p:spPr>
          <a:xfrm>
            <a:off x="694944" y="5577840"/>
            <a:ext cx="365760" cy="365760"/>
          </a:xfrm>
          <a:prstGeom prst="ellipse">
            <a:avLst/>
          </a:prstGeom>
          <a:solidFill>
            <a:srgbClr val="1E2761"/>
          </a:solidFill>
          <a:ln w="12700">
            <a:solidFill>
              <a:srgbClr val="1E2761"/>
            </a:solidFill>
            <a:prstDash val="solid"/>
          </a:ln>
        </p:spPr>
      </p:sp>
      <p:sp>
        <p:nvSpPr>
          <p:cNvPr id="34" name="Text 32"/>
          <p:cNvSpPr txBox="1"/>
          <p:nvPr/>
        </p:nvSpPr>
        <p:spPr>
          <a:xfrm>
            <a:off x="694944" y="557784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5" name="Text 33"/>
          <p:cNvSpPr txBox="1"/>
          <p:nvPr/>
        </p:nvSpPr>
        <p:spPr>
          <a:xfrm>
            <a:off x="1225296" y="5468112"/>
            <a:ext cx="3931920" cy="585216"/>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Present the bot</a:t>
            </a:r>
            <a:endParaRPr lang="en-US" sz="1450" dirty="0"/>
          </a:p>
        </p:txBody>
      </p:sp>
      <p:sp>
        <p:nvSpPr>
          <p:cNvPr id="36" name="Text 34"/>
          <p:cNvSpPr txBox="1"/>
          <p:nvPr/>
        </p:nvSpPr>
        <p:spPr>
          <a:xfrm>
            <a:off x="5257800" y="5468112"/>
            <a:ext cx="6217920" cy="585216"/>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Live demo with a panel that explains why each reply was written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STARTING POINT</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Built on our Jury 1 memory chatbot</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66928" y="1645920"/>
            <a:ext cx="5221224" cy="4343400"/>
          </a:xfrm>
          <a:prstGeom prst="roundRect">
            <a:avLst>
              <a:gd name="adj" fmla="val 2105"/>
            </a:avLst>
          </a:prstGeom>
          <a:solidFill>
            <a:srgbClr val="F7F9FC"/>
          </a:solidFill>
          <a:ln w="9525">
            <a:solidFill>
              <a:srgbClr val="DDE3ED"/>
            </a:solidFill>
            <a:prstDash val="solid"/>
          </a:ln>
        </p:spPr>
      </p:sp>
      <p:sp>
        <p:nvSpPr>
          <p:cNvPr id="6" name="Text 4"/>
          <p:cNvSpPr txBox="1"/>
          <p:nvPr/>
        </p:nvSpPr>
        <p:spPr>
          <a:xfrm>
            <a:off x="886968" y="1874520"/>
            <a:ext cx="4572000" cy="256032"/>
          </a:xfrm>
          <a:prstGeom prst="rect">
            <a:avLst/>
          </a:prstGeom>
          <a:noFill/>
          <a:ln/>
        </p:spPr>
        <p:txBody>
          <a:bodyPr wrap="square" lIns="0" tIns="0" rIns="0" bIns="0" rtlCol="0" anchor="t"/>
          <a:lstStyle/>
          <a:p>
            <a:pPr indent="0" marL="0">
              <a:buNone/>
            </a:pPr>
            <a:r>
              <a:rPr lang="en-US" sz="1200" b="1" spc="120" kern="0" dirty="0">
                <a:solidFill>
                  <a:srgbClr val="5B6472"/>
                </a:solidFill>
                <a:latin typeface="Calibri" pitchFamily="34" charset="0"/>
                <a:ea typeface="Calibri" pitchFamily="34" charset="-122"/>
                <a:cs typeface="Calibri" pitchFamily="34" charset="-120"/>
              </a:rPr>
              <a:t>KEPT FROM JURY 1</a:t>
            </a:r>
            <a:endParaRPr lang="en-US" sz="1200" dirty="0"/>
          </a:p>
        </p:txBody>
      </p:sp>
      <p:sp>
        <p:nvSpPr>
          <p:cNvPr id="7" name="Shape 5"/>
          <p:cNvSpPr/>
          <p:nvPr/>
        </p:nvSpPr>
        <p:spPr>
          <a:xfrm>
            <a:off x="914400" y="2468880"/>
            <a:ext cx="137160" cy="137160"/>
          </a:xfrm>
          <a:prstGeom prst="ellipse">
            <a:avLst/>
          </a:prstGeom>
          <a:solidFill>
            <a:srgbClr val="5B6472"/>
          </a:solidFill>
          <a:ln w="12700">
            <a:solidFill>
              <a:srgbClr val="5B6472"/>
            </a:solidFill>
            <a:prstDash val="solid"/>
          </a:ln>
        </p:spPr>
      </p:sp>
      <p:sp>
        <p:nvSpPr>
          <p:cNvPr id="8" name="Text 6"/>
          <p:cNvSpPr txBox="1"/>
          <p:nvPr/>
        </p:nvSpPr>
        <p:spPr>
          <a:xfrm>
            <a:off x="1207008" y="2377440"/>
            <a:ext cx="4306824"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Long-term memory</a:t>
            </a:r>
            <a:endParaRPr lang="en-US" sz="1550" dirty="0"/>
          </a:p>
        </p:txBody>
      </p:sp>
      <p:sp>
        <p:nvSpPr>
          <p:cNvPr id="9" name="Text 7"/>
          <p:cNvSpPr txBox="1"/>
          <p:nvPr/>
        </p:nvSpPr>
        <p:spPr>
          <a:xfrm>
            <a:off x="1207008" y="2688336"/>
            <a:ext cx="4306824" cy="4572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Facts about the user stay on disk between sessions</a:t>
            </a:r>
            <a:endParaRPr lang="en-US" sz="1350" dirty="0"/>
          </a:p>
        </p:txBody>
      </p:sp>
      <p:sp>
        <p:nvSpPr>
          <p:cNvPr id="10" name="Shape 8"/>
          <p:cNvSpPr/>
          <p:nvPr/>
        </p:nvSpPr>
        <p:spPr>
          <a:xfrm>
            <a:off x="914400" y="3337560"/>
            <a:ext cx="137160" cy="137160"/>
          </a:xfrm>
          <a:prstGeom prst="ellipse">
            <a:avLst/>
          </a:prstGeom>
          <a:solidFill>
            <a:srgbClr val="5B6472"/>
          </a:solidFill>
          <a:ln w="12700">
            <a:solidFill>
              <a:srgbClr val="5B6472"/>
            </a:solidFill>
            <a:prstDash val="solid"/>
          </a:ln>
        </p:spPr>
      </p:sp>
      <p:sp>
        <p:nvSpPr>
          <p:cNvPr id="11" name="Text 9"/>
          <p:cNvSpPr txBox="1"/>
          <p:nvPr/>
        </p:nvSpPr>
        <p:spPr>
          <a:xfrm>
            <a:off x="1207008" y="3246120"/>
            <a:ext cx="4306824"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Search by meaning</a:t>
            </a:r>
            <a:endParaRPr lang="en-US" sz="1550" dirty="0"/>
          </a:p>
        </p:txBody>
      </p:sp>
      <p:sp>
        <p:nvSpPr>
          <p:cNvPr id="12" name="Text 10"/>
          <p:cNvSpPr txBox="1"/>
          <p:nvPr/>
        </p:nvSpPr>
        <p:spPr>
          <a:xfrm>
            <a:off x="1207008" y="3557016"/>
            <a:ext cx="4306824" cy="4572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Local embeddings find the memories that matter</a:t>
            </a:r>
            <a:endParaRPr lang="en-US" sz="1350" dirty="0"/>
          </a:p>
        </p:txBody>
      </p:sp>
      <p:sp>
        <p:nvSpPr>
          <p:cNvPr id="13" name="Shape 11"/>
          <p:cNvSpPr/>
          <p:nvPr/>
        </p:nvSpPr>
        <p:spPr>
          <a:xfrm>
            <a:off x="914400" y="4206240"/>
            <a:ext cx="137160" cy="137160"/>
          </a:xfrm>
          <a:prstGeom prst="ellipse">
            <a:avLst/>
          </a:prstGeom>
          <a:solidFill>
            <a:srgbClr val="5B6472"/>
          </a:solidFill>
          <a:ln w="12700">
            <a:solidFill>
              <a:srgbClr val="5B6472"/>
            </a:solidFill>
            <a:prstDash val="solid"/>
          </a:ln>
        </p:spPr>
      </p:sp>
      <p:sp>
        <p:nvSpPr>
          <p:cNvPr id="14" name="Text 12"/>
          <p:cNvSpPr txBox="1"/>
          <p:nvPr/>
        </p:nvSpPr>
        <p:spPr>
          <a:xfrm>
            <a:off x="1207008" y="4114800"/>
            <a:ext cx="4306824"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Newer facts replace older ones</a:t>
            </a:r>
            <a:endParaRPr lang="en-US" sz="1550" dirty="0"/>
          </a:p>
        </p:txBody>
      </p:sp>
      <p:sp>
        <p:nvSpPr>
          <p:cNvPr id="15" name="Text 13"/>
          <p:cNvSpPr txBox="1"/>
          <p:nvPr/>
        </p:nvSpPr>
        <p:spPr>
          <a:xfrm>
            <a:off x="1207008" y="4425696"/>
            <a:ext cx="4306824" cy="4572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Moving from Pune to Mumbai retires Pune</a:t>
            </a:r>
            <a:endParaRPr lang="en-US" sz="1350" dirty="0"/>
          </a:p>
        </p:txBody>
      </p:sp>
      <p:sp>
        <p:nvSpPr>
          <p:cNvPr id="16" name="Shape 14"/>
          <p:cNvSpPr/>
          <p:nvPr/>
        </p:nvSpPr>
        <p:spPr>
          <a:xfrm>
            <a:off x="914400" y="5074920"/>
            <a:ext cx="137160" cy="137160"/>
          </a:xfrm>
          <a:prstGeom prst="ellipse">
            <a:avLst/>
          </a:prstGeom>
          <a:solidFill>
            <a:srgbClr val="5B6472"/>
          </a:solidFill>
          <a:ln w="12700">
            <a:solidFill>
              <a:srgbClr val="5B6472"/>
            </a:solidFill>
            <a:prstDash val="solid"/>
          </a:ln>
        </p:spPr>
      </p:sp>
      <p:sp>
        <p:nvSpPr>
          <p:cNvPr id="17" name="Text 15"/>
          <p:cNvSpPr txBox="1"/>
          <p:nvPr/>
        </p:nvSpPr>
        <p:spPr>
          <a:xfrm>
            <a:off x="1207008" y="4983480"/>
            <a:ext cx="4306824"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Privacy filter</a:t>
            </a:r>
            <a:endParaRPr lang="en-US" sz="1550" dirty="0"/>
          </a:p>
        </p:txBody>
      </p:sp>
      <p:sp>
        <p:nvSpPr>
          <p:cNvPr id="18" name="Text 16"/>
          <p:cNvSpPr txBox="1"/>
          <p:nvPr/>
        </p:nvSpPr>
        <p:spPr>
          <a:xfrm>
            <a:off x="1207008" y="5294376"/>
            <a:ext cx="4306824" cy="4572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Emails and phone numbers are removed before saving</a:t>
            </a:r>
            <a:endParaRPr lang="en-US" sz="1350" dirty="0"/>
          </a:p>
        </p:txBody>
      </p:sp>
      <p:sp>
        <p:nvSpPr>
          <p:cNvPr id="19" name="Shape 17"/>
          <p:cNvSpPr/>
          <p:nvPr/>
        </p:nvSpPr>
        <p:spPr>
          <a:xfrm>
            <a:off x="6400800" y="1645920"/>
            <a:ext cx="5221224" cy="4343400"/>
          </a:xfrm>
          <a:prstGeom prst="roundRect">
            <a:avLst>
              <a:gd name="adj" fmla="val 2105"/>
            </a:avLst>
          </a:prstGeom>
          <a:solidFill>
            <a:srgbClr val="EEF2FB"/>
          </a:solidFill>
          <a:ln w="9525">
            <a:solidFill>
              <a:srgbClr val="CADCFC"/>
            </a:solidFill>
            <a:prstDash val="solid"/>
          </a:ln>
        </p:spPr>
      </p:sp>
      <p:sp>
        <p:nvSpPr>
          <p:cNvPr id="20" name="Text 18"/>
          <p:cNvSpPr txBox="1"/>
          <p:nvPr/>
        </p:nvSpPr>
        <p:spPr>
          <a:xfrm>
            <a:off x="6720840" y="1874520"/>
            <a:ext cx="4572000" cy="256032"/>
          </a:xfrm>
          <a:prstGeom prst="rect">
            <a:avLst/>
          </a:prstGeom>
          <a:noFill/>
          <a:ln/>
        </p:spPr>
        <p:txBody>
          <a:bodyPr wrap="square" lIns="0" tIns="0" rIns="0" bIns="0" rtlCol="0" anchor="t"/>
          <a:lstStyle/>
          <a:p>
            <a:pPr indent="0" marL="0">
              <a:buNone/>
            </a:pPr>
            <a:r>
              <a:rPr lang="en-US" sz="1200" b="1" spc="120" kern="0" dirty="0">
                <a:solidFill>
                  <a:srgbClr val="1E2761"/>
                </a:solidFill>
                <a:latin typeface="Calibri" pitchFamily="34" charset="0"/>
                <a:ea typeface="Calibri" pitchFamily="34" charset="-122"/>
                <a:cs typeface="Calibri" pitchFamily="34" charset="-120"/>
              </a:rPr>
              <a:t>ADDED FOR JURY 2</a:t>
            </a:r>
            <a:endParaRPr lang="en-US" sz="1200" dirty="0"/>
          </a:p>
        </p:txBody>
      </p:sp>
      <p:sp>
        <p:nvSpPr>
          <p:cNvPr id="21" name="Shape 19"/>
          <p:cNvSpPr/>
          <p:nvPr/>
        </p:nvSpPr>
        <p:spPr>
          <a:xfrm>
            <a:off x="6748272" y="2468880"/>
            <a:ext cx="137160" cy="137160"/>
          </a:xfrm>
          <a:prstGeom prst="ellipse">
            <a:avLst/>
          </a:prstGeom>
          <a:solidFill>
            <a:srgbClr val="1E2761"/>
          </a:solidFill>
          <a:ln w="12700">
            <a:solidFill>
              <a:srgbClr val="1E2761"/>
            </a:solidFill>
            <a:prstDash val="solid"/>
          </a:ln>
        </p:spPr>
      </p:sp>
      <p:sp>
        <p:nvSpPr>
          <p:cNvPr id="22" name="Text 20"/>
          <p:cNvSpPr txBox="1"/>
          <p:nvPr/>
        </p:nvSpPr>
        <p:spPr>
          <a:xfrm>
            <a:off x="7040880" y="2377440"/>
            <a:ext cx="4306824"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Emotion detection</a:t>
            </a:r>
            <a:endParaRPr lang="en-US" sz="1550" dirty="0"/>
          </a:p>
        </p:txBody>
      </p:sp>
      <p:sp>
        <p:nvSpPr>
          <p:cNvPr id="23" name="Text 21"/>
          <p:cNvSpPr txBox="1"/>
          <p:nvPr/>
        </p:nvSpPr>
        <p:spPr>
          <a:xfrm>
            <a:off x="7040880" y="2688336"/>
            <a:ext cx="4306824" cy="4572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Two readers decide how the user feels</a:t>
            </a:r>
            <a:endParaRPr lang="en-US" sz="1350" dirty="0"/>
          </a:p>
        </p:txBody>
      </p:sp>
      <p:sp>
        <p:nvSpPr>
          <p:cNvPr id="24" name="Shape 22"/>
          <p:cNvSpPr/>
          <p:nvPr/>
        </p:nvSpPr>
        <p:spPr>
          <a:xfrm>
            <a:off x="6748272" y="3337560"/>
            <a:ext cx="137160" cy="137160"/>
          </a:xfrm>
          <a:prstGeom prst="ellipse">
            <a:avLst/>
          </a:prstGeom>
          <a:solidFill>
            <a:srgbClr val="1E2761"/>
          </a:solidFill>
          <a:ln w="12700">
            <a:solidFill>
              <a:srgbClr val="1E2761"/>
            </a:solidFill>
            <a:prstDash val="solid"/>
          </a:ln>
        </p:spPr>
      </p:sp>
      <p:sp>
        <p:nvSpPr>
          <p:cNvPr id="25" name="Text 23"/>
          <p:cNvSpPr txBox="1"/>
          <p:nvPr/>
        </p:nvSpPr>
        <p:spPr>
          <a:xfrm>
            <a:off x="7040880" y="3246120"/>
            <a:ext cx="4306824"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Tone adaptation</a:t>
            </a:r>
            <a:endParaRPr lang="en-US" sz="1550" dirty="0"/>
          </a:p>
        </p:txBody>
      </p:sp>
      <p:sp>
        <p:nvSpPr>
          <p:cNvPr id="26" name="Text 24"/>
          <p:cNvSpPr txBox="1"/>
          <p:nvPr/>
        </p:nvSpPr>
        <p:spPr>
          <a:xfrm>
            <a:off x="7040880" y="3557016"/>
            <a:ext cx="4306824" cy="4572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The emotion decides how the reply is written</a:t>
            </a:r>
            <a:endParaRPr lang="en-US" sz="1350" dirty="0"/>
          </a:p>
        </p:txBody>
      </p:sp>
      <p:sp>
        <p:nvSpPr>
          <p:cNvPr id="27" name="Shape 25"/>
          <p:cNvSpPr/>
          <p:nvPr/>
        </p:nvSpPr>
        <p:spPr>
          <a:xfrm>
            <a:off x="6748272" y="4206240"/>
            <a:ext cx="137160" cy="137160"/>
          </a:xfrm>
          <a:prstGeom prst="ellipse">
            <a:avLst/>
          </a:prstGeom>
          <a:solidFill>
            <a:srgbClr val="1E2761"/>
          </a:solidFill>
          <a:ln w="12700">
            <a:solidFill>
              <a:srgbClr val="1E2761"/>
            </a:solidFill>
            <a:prstDash val="solid"/>
          </a:ln>
        </p:spPr>
      </p:sp>
      <p:sp>
        <p:nvSpPr>
          <p:cNvPr id="28" name="Text 26"/>
          <p:cNvSpPr txBox="1"/>
          <p:nvPr/>
        </p:nvSpPr>
        <p:spPr>
          <a:xfrm>
            <a:off x="7040880" y="4114800"/>
            <a:ext cx="4306824"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Distress escalation</a:t>
            </a:r>
            <a:endParaRPr lang="en-US" sz="1550" dirty="0"/>
          </a:p>
        </p:txBody>
      </p:sp>
      <p:sp>
        <p:nvSpPr>
          <p:cNvPr id="29" name="Text 27"/>
          <p:cNvSpPr txBox="1"/>
          <p:nvPr/>
        </p:nvSpPr>
        <p:spPr>
          <a:xfrm>
            <a:off x="7040880" y="4425696"/>
            <a:ext cx="4306824" cy="4572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Three levels, with a fixed reply for a crisis</a:t>
            </a:r>
            <a:endParaRPr lang="en-US" sz="1350" dirty="0"/>
          </a:p>
        </p:txBody>
      </p:sp>
      <p:sp>
        <p:nvSpPr>
          <p:cNvPr id="30" name="Shape 28"/>
          <p:cNvSpPr/>
          <p:nvPr/>
        </p:nvSpPr>
        <p:spPr>
          <a:xfrm>
            <a:off x="6748272" y="5074920"/>
            <a:ext cx="137160" cy="137160"/>
          </a:xfrm>
          <a:prstGeom prst="ellipse">
            <a:avLst/>
          </a:prstGeom>
          <a:solidFill>
            <a:srgbClr val="1E2761"/>
          </a:solidFill>
          <a:ln w="12700">
            <a:solidFill>
              <a:srgbClr val="1E2761"/>
            </a:solidFill>
            <a:prstDash val="solid"/>
          </a:ln>
        </p:spPr>
      </p:sp>
      <p:sp>
        <p:nvSpPr>
          <p:cNvPr id="31" name="Text 29"/>
          <p:cNvSpPr txBox="1"/>
          <p:nvPr/>
        </p:nvSpPr>
        <p:spPr>
          <a:xfrm>
            <a:off x="7040880" y="4983480"/>
            <a:ext cx="4306824"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Mood memory</a:t>
            </a:r>
            <a:endParaRPr lang="en-US" sz="1550" dirty="0"/>
          </a:p>
        </p:txBody>
      </p:sp>
      <p:sp>
        <p:nvSpPr>
          <p:cNvPr id="32" name="Text 30"/>
          <p:cNvSpPr txBox="1"/>
          <p:nvPr/>
        </p:nvSpPr>
        <p:spPr>
          <a:xfrm>
            <a:off x="7040880" y="5294376"/>
            <a:ext cx="4306824" cy="4572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How the user felt is remembered across sessions</a:t>
            </a:r>
            <a:endParaRPr lang="en-US" sz="1350" dirty="0"/>
          </a:p>
        </p:txBody>
      </p:sp>
      <p:sp>
        <p:nvSpPr>
          <p:cNvPr id="33" name="Shape 31"/>
          <p:cNvSpPr/>
          <p:nvPr/>
        </p:nvSpPr>
        <p:spPr>
          <a:xfrm>
            <a:off x="5879592" y="3611880"/>
            <a:ext cx="438912" cy="411480"/>
          </a:xfrm>
          <a:prstGeom prst="rightArrow">
            <a:avLst/>
          </a:prstGeom>
          <a:solidFill>
            <a:srgbClr val="1E2761"/>
          </a:solidFill>
          <a:ln w="12700">
            <a:solidFill>
              <a:srgbClr val="1E2761"/>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ARCHITECTURE</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one message travels through the system</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66928" y="1691640"/>
            <a:ext cx="1901952" cy="1005840"/>
          </a:xfrm>
          <a:prstGeom prst="roundRect">
            <a:avLst>
              <a:gd name="adj" fmla="val 9091"/>
            </a:avLst>
          </a:prstGeom>
          <a:solidFill>
            <a:srgbClr val="F7F9FC"/>
          </a:solidFill>
          <a:ln w="9525">
            <a:solidFill>
              <a:srgbClr val="DDE3ED"/>
            </a:solidFill>
            <a:prstDash val="solid"/>
          </a:ln>
        </p:spPr>
      </p:sp>
      <p:sp>
        <p:nvSpPr>
          <p:cNvPr id="6" name="Text 4"/>
          <p:cNvSpPr txBox="1"/>
          <p:nvPr/>
        </p:nvSpPr>
        <p:spPr>
          <a:xfrm>
            <a:off x="658368" y="1874520"/>
            <a:ext cx="1719072" cy="329184"/>
          </a:xfrm>
          <a:prstGeom prst="rect">
            <a:avLst/>
          </a:prstGeom>
          <a:noFill/>
          <a:ln/>
        </p:spPr>
        <p:txBody>
          <a:bodyPr wrap="square" lIns="0" tIns="0" rIns="0" bIns="0" rtlCol="0" anchor="t"/>
          <a:lstStyle/>
          <a:p>
            <a:pPr algn="ctr" indent="0" marL="0">
              <a:buNone/>
            </a:pPr>
            <a:r>
              <a:rPr lang="en-US" sz="1450" b="1" dirty="0">
                <a:solidFill>
                  <a:srgbClr val="1E2761"/>
                </a:solidFill>
                <a:latin typeface="Calibri" pitchFamily="34" charset="0"/>
                <a:ea typeface="Calibri" pitchFamily="34" charset="-122"/>
                <a:cs typeface="Calibri" pitchFamily="34" charset="-120"/>
              </a:rPr>
              <a:t>User message</a:t>
            </a:r>
            <a:endParaRPr lang="en-US" sz="1450" dirty="0"/>
          </a:p>
        </p:txBody>
      </p:sp>
      <p:sp>
        <p:nvSpPr>
          <p:cNvPr id="7" name="Text 5"/>
          <p:cNvSpPr txBox="1"/>
          <p:nvPr/>
        </p:nvSpPr>
        <p:spPr>
          <a:xfrm>
            <a:off x="658368" y="2203704"/>
            <a:ext cx="1719072" cy="402336"/>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Typed in the browser</a:t>
            </a:r>
            <a:endParaRPr lang="en-US" sz="1150" dirty="0"/>
          </a:p>
        </p:txBody>
      </p:sp>
      <p:sp>
        <p:nvSpPr>
          <p:cNvPr id="8" name="Shape 6"/>
          <p:cNvSpPr/>
          <p:nvPr/>
        </p:nvSpPr>
        <p:spPr>
          <a:xfrm>
            <a:off x="2505456" y="2194560"/>
            <a:ext cx="310896" cy="0"/>
          </a:xfrm>
          <a:prstGeom prst="line">
            <a:avLst/>
          </a:prstGeom>
          <a:noFill/>
          <a:ln w="19050">
            <a:solidFill>
              <a:srgbClr val="8B94A3"/>
            </a:solidFill>
            <a:prstDash val="solid"/>
            <a:tailEnd type="triangle"/>
          </a:ln>
        </p:spPr>
      </p:sp>
      <p:sp>
        <p:nvSpPr>
          <p:cNvPr id="9" name="Shape 7"/>
          <p:cNvSpPr/>
          <p:nvPr/>
        </p:nvSpPr>
        <p:spPr>
          <a:xfrm>
            <a:off x="2852928" y="1691640"/>
            <a:ext cx="1901952" cy="1005840"/>
          </a:xfrm>
          <a:prstGeom prst="roundRect">
            <a:avLst>
              <a:gd name="adj" fmla="val 9091"/>
            </a:avLst>
          </a:prstGeom>
          <a:solidFill>
            <a:srgbClr val="1E2761"/>
          </a:solidFill>
          <a:ln w="9525">
            <a:solidFill>
              <a:srgbClr val="1E2761"/>
            </a:solidFill>
            <a:prstDash val="solid"/>
          </a:ln>
        </p:spPr>
      </p:sp>
      <p:sp>
        <p:nvSpPr>
          <p:cNvPr id="10" name="Text 8"/>
          <p:cNvSpPr txBox="1"/>
          <p:nvPr/>
        </p:nvSpPr>
        <p:spPr>
          <a:xfrm>
            <a:off x="2944368" y="1874520"/>
            <a:ext cx="1719072" cy="329184"/>
          </a:xfrm>
          <a:prstGeom prst="rect">
            <a:avLst/>
          </a:prstGeom>
          <a:noFill/>
          <a:ln/>
        </p:spPr>
        <p:txBody>
          <a:bodyPr wrap="square" lIns="0" tIns="0" rIns="0" bIns="0" rtlCol="0" anchor="t"/>
          <a:lstStyle/>
          <a:p>
            <a:pPr algn="ctr" indent="0" marL="0">
              <a:buNone/>
            </a:pPr>
            <a:r>
              <a:rPr lang="en-US" sz="1450" b="1" dirty="0">
                <a:solidFill>
                  <a:srgbClr val="FFFFFF"/>
                </a:solidFill>
                <a:latin typeface="Calibri" pitchFamily="34" charset="0"/>
                <a:ea typeface="Calibri" pitchFamily="34" charset="-122"/>
                <a:cs typeface="Calibri" pitchFamily="34" charset="-120"/>
              </a:rPr>
              <a:t>Crisis check</a:t>
            </a:r>
            <a:endParaRPr lang="en-US" sz="1450" dirty="0"/>
          </a:p>
        </p:txBody>
      </p:sp>
      <p:sp>
        <p:nvSpPr>
          <p:cNvPr id="11" name="Text 9"/>
          <p:cNvSpPr txBox="1"/>
          <p:nvPr/>
        </p:nvSpPr>
        <p:spPr>
          <a:xfrm>
            <a:off x="2944368" y="2203704"/>
            <a:ext cx="1719072" cy="402336"/>
          </a:xfrm>
          <a:prstGeom prst="rect">
            <a:avLst/>
          </a:prstGeom>
          <a:noFill/>
          <a:ln/>
        </p:spPr>
        <p:txBody>
          <a:bodyPr wrap="square" lIns="0" tIns="0" rIns="0" bIns="0" rtlCol="0" anchor="t"/>
          <a:lstStyle/>
          <a:p>
            <a:pPr algn="ctr" indent="0" marL="0">
              <a:buNone/>
            </a:pPr>
            <a:r>
              <a:rPr lang="en-US" sz="1150" dirty="0">
                <a:solidFill>
                  <a:srgbClr val="CADCFC"/>
                </a:solidFill>
                <a:latin typeface="Calibri" pitchFamily="34" charset="0"/>
                <a:ea typeface="Calibri" pitchFamily="34" charset="-122"/>
                <a:cs typeface="Calibri" pitchFamily="34" charset="-120"/>
              </a:rPr>
              <a:t>Fixed rules, no network</a:t>
            </a:r>
            <a:endParaRPr lang="en-US" sz="1150" dirty="0"/>
          </a:p>
        </p:txBody>
      </p:sp>
      <p:sp>
        <p:nvSpPr>
          <p:cNvPr id="12" name="Shape 10"/>
          <p:cNvSpPr/>
          <p:nvPr/>
        </p:nvSpPr>
        <p:spPr>
          <a:xfrm>
            <a:off x="4791456" y="2194560"/>
            <a:ext cx="841248" cy="0"/>
          </a:xfrm>
          <a:prstGeom prst="line">
            <a:avLst/>
          </a:prstGeom>
          <a:noFill/>
          <a:ln w="19050">
            <a:solidFill>
              <a:srgbClr val="8B94A3"/>
            </a:solidFill>
            <a:prstDash val="solid"/>
            <a:tailEnd type="triangle"/>
          </a:ln>
        </p:spPr>
      </p:sp>
      <p:sp>
        <p:nvSpPr>
          <p:cNvPr id="13" name="Text 11"/>
          <p:cNvSpPr txBox="1"/>
          <p:nvPr/>
        </p:nvSpPr>
        <p:spPr>
          <a:xfrm>
            <a:off x="4800600" y="1901952"/>
            <a:ext cx="822960" cy="228600"/>
          </a:xfrm>
          <a:prstGeom prst="rect">
            <a:avLst/>
          </a:prstGeom>
          <a:noFill/>
          <a:ln/>
        </p:spPr>
        <p:txBody>
          <a:bodyPr wrap="square" lIns="0" tIns="0" rIns="0" bIns="0" rtlCol="0" anchor="t"/>
          <a:lstStyle/>
          <a:p>
            <a:pPr algn="ctr" indent="0" marL="0">
              <a:buNone/>
            </a:pPr>
            <a:r>
              <a:rPr lang="en-US" sz="1100" dirty="0">
                <a:solidFill>
                  <a:srgbClr val="BE123C"/>
                </a:solidFill>
                <a:latin typeface="Calibri" pitchFamily="34" charset="0"/>
                <a:ea typeface="Calibri" pitchFamily="34" charset="-122"/>
                <a:cs typeface="Calibri" pitchFamily="34" charset="-120"/>
              </a:rPr>
              <a:t>crisis</a:t>
            </a:r>
            <a:endParaRPr lang="en-US" sz="1100" dirty="0"/>
          </a:p>
        </p:txBody>
      </p:sp>
      <p:sp>
        <p:nvSpPr>
          <p:cNvPr id="14" name="Shape 12"/>
          <p:cNvSpPr/>
          <p:nvPr/>
        </p:nvSpPr>
        <p:spPr>
          <a:xfrm>
            <a:off x="5596128" y="1691640"/>
            <a:ext cx="2468880" cy="1005840"/>
          </a:xfrm>
          <a:prstGeom prst="roundRect">
            <a:avLst>
              <a:gd name="adj" fmla="val 9091"/>
            </a:avLst>
          </a:prstGeom>
          <a:solidFill>
            <a:srgbClr val="FFF1F2"/>
          </a:solidFill>
          <a:ln w="9525">
            <a:solidFill>
              <a:srgbClr val="FECDD3"/>
            </a:solidFill>
            <a:prstDash val="solid"/>
          </a:ln>
        </p:spPr>
      </p:sp>
      <p:sp>
        <p:nvSpPr>
          <p:cNvPr id="15" name="Text 13"/>
          <p:cNvSpPr txBox="1"/>
          <p:nvPr/>
        </p:nvSpPr>
        <p:spPr>
          <a:xfrm>
            <a:off x="5687568" y="1874520"/>
            <a:ext cx="2286000" cy="329184"/>
          </a:xfrm>
          <a:prstGeom prst="rect">
            <a:avLst/>
          </a:prstGeom>
          <a:noFill/>
          <a:ln/>
        </p:spPr>
        <p:txBody>
          <a:bodyPr wrap="square" lIns="0" tIns="0" rIns="0" bIns="0" rtlCol="0" anchor="t"/>
          <a:lstStyle/>
          <a:p>
            <a:pPr algn="ctr" indent="0" marL="0">
              <a:buNone/>
            </a:pPr>
            <a:r>
              <a:rPr lang="en-US" sz="1450" b="1" dirty="0">
                <a:solidFill>
                  <a:srgbClr val="BE123C"/>
                </a:solidFill>
                <a:latin typeface="Calibri" pitchFamily="34" charset="0"/>
                <a:ea typeface="Calibri" pitchFamily="34" charset="-122"/>
                <a:cs typeface="Calibri" pitchFamily="34" charset="-120"/>
              </a:rPr>
              <a:t>Fixed safe reply</a:t>
            </a:r>
            <a:endParaRPr lang="en-US" sz="1450" dirty="0"/>
          </a:p>
        </p:txBody>
      </p:sp>
      <p:sp>
        <p:nvSpPr>
          <p:cNvPr id="16" name="Text 14"/>
          <p:cNvSpPr txBox="1"/>
          <p:nvPr/>
        </p:nvSpPr>
        <p:spPr>
          <a:xfrm>
            <a:off x="5687568" y="2203704"/>
            <a:ext cx="2286000" cy="402336"/>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Helplines shown, LLM skipped</a:t>
            </a:r>
            <a:endParaRPr lang="en-US" sz="1150" dirty="0"/>
          </a:p>
        </p:txBody>
      </p:sp>
      <p:sp>
        <p:nvSpPr>
          <p:cNvPr id="17" name="Shape 15"/>
          <p:cNvSpPr/>
          <p:nvPr/>
        </p:nvSpPr>
        <p:spPr>
          <a:xfrm>
            <a:off x="3803904" y="2734056"/>
            <a:ext cx="0" cy="566928"/>
          </a:xfrm>
          <a:prstGeom prst="line">
            <a:avLst/>
          </a:prstGeom>
          <a:noFill/>
          <a:ln w="19050">
            <a:solidFill>
              <a:srgbClr val="8B94A3"/>
            </a:solidFill>
            <a:prstDash val="solid"/>
            <a:tailEnd type="triangle"/>
          </a:ln>
        </p:spPr>
      </p:sp>
      <p:sp>
        <p:nvSpPr>
          <p:cNvPr id="18" name="Text 16"/>
          <p:cNvSpPr txBox="1"/>
          <p:nvPr/>
        </p:nvSpPr>
        <p:spPr>
          <a:xfrm>
            <a:off x="3895344" y="2862072"/>
            <a:ext cx="1097280" cy="2286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no crisis</a:t>
            </a:r>
            <a:endParaRPr lang="en-US" sz="1100" dirty="0"/>
          </a:p>
        </p:txBody>
      </p:sp>
      <p:sp>
        <p:nvSpPr>
          <p:cNvPr id="19" name="Shape 17"/>
          <p:cNvSpPr/>
          <p:nvPr/>
        </p:nvSpPr>
        <p:spPr>
          <a:xfrm>
            <a:off x="2852928" y="3337560"/>
            <a:ext cx="1901952" cy="1005840"/>
          </a:xfrm>
          <a:prstGeom prst="roundRect">
            <a:avLst>
              <a:gd name="adj" fmla="val 9091"/>
            </a:avLst>
          </a:prstGeom>
          <a:solidFill>
            <a:srgbClr val="1E2761"/>
          </a:solidFill>
          <a:ln w="9525">
            <a:solidFill>
              <a:srgbClr val="1E2761"/>
            </a:solidFill>
            <a:prstDash val="solid"/>
          </a:ln>
        </p:spPr>
      </p:sp>
      <p:sp>
        <p:nvSpPr>
          <p:cNvPr id="20" name="Text 18"/>
          <p:cNvSpPr txBox="1"/>
          <p:nvPr/>
        </p:nvSpPr>
        <p:spPr>
          <a:xfrm>
            <a:off x="2944368" y="3520440"/>
            <a:ext cx="1719072" cy="329184"/>
          </a:xfrm>
          <a:prstGeom prst="rect">
            <a:avLst/>
          </a:prstGeom>
          <a:noFill/>
          <a:ln/>
        </p:spPr>
        <p:txBody>
          <a:bodyPr wrap="square" lIns="0" tIns="0" rIns="0" bIns="0" rtlCol="0" anchor="t"/>
          <a:lstStyle/>
          <a:p>
            <a:pPr algn="ctr" indent="0" marL="0">
              <a:buNone/>
            </a:pPr>
            <a:r>
              <a:rPr lang="en-US" sz="1450" b="1" dirty="0">
                <a:solidFill>
                  <a:srgbClr val="FFFFFF"/>
                </a:solidFill>
                <a:latin typeface="Calibri" pitchFamily="34" charset="0"/>
                <a:ea typeface="Calibri" pitchFamily="34" charset="-122"/>
                <a:cs typeface="Calibri" pitchFamily="34" charset="-120"/>
              </a:rPr>
              <a:t>Read emotion</a:t>
            </a:r>
            <a:endParaRPr lang="en-US" sz="1450" dirty="0"/>
          </a:p>
        </p:txBody>
      </p:sp>
      <p:sp>
        <p:nvSpPr>
          <p:cNvPr id="21" name="Text 19"/>
          <p:cNvSpPr txBox="1"/>
          <p:nvPr/>
        </p:nvSpPr>
        <p:spPr>
          <a:xfrm>
            <a:off x="2944368" y="3849624"/>
            <a:ext cx="1719072" cy="402336"/>
          </a:xfrm>
          <a:prstGeom prst="rect">
            <a:avLst/>
          </a:prstGeom>
          <a:noFill/>
          <a:ln/>
        </p:spPr>
        <p:txBody>
          <a:bodyPr wrap="square" lIns="0" tIns="0" rIns="0" bIns="0" rtlCol="0" anchor="t"/>
          <a:lstStyle/>
          <a:p>
            <a:pPr algn="ctr" indent="0" marL="0">
              <a:buNone/>
            </a:pPr>
            <a:r>
              <a:rPr lang="en-US" sz="1150" dirty="0">
                <a:solidFill>
                  <a:srgbClr val="CADCFC"/>
                </a:solidFill>
                <a:latin typeface="Calibri" pitchFamily="34" charset="0"/>
                <a:ea typeface="Calibri" pitchFamily="34" charset="-122"/>
                <a:cs typeface="Calibri" pitchFamily="34" charset="-120"/>
              </a:rPr>
              <a:t>Local model and LLM, combined</a:t>
            </a:r>
            <a:endParaRPr lang="en-US" sz="1150" dirty="0"/>
          </a:p>
        </p:txBody>
      </p:sp>
      <p:sp>
        <p:nvSpPr>
          <p:cNvPr id="22" name="Shape 20"/>
          <p:cNvSpPr/>
          <p:nvPr/>
        </p:nvSpPr>
        <p:spPr>
          <a:xfrm>
            <a:off x="4791456" y="3840480"/>
            <a:ext cx="310896" cy="0"/>
          </a:xfrm>
          <a:prstGeom prst="line">
            <a:avLst/>
          </a:prstGeom>
          <a:noFill/>
          <a:ln w="19050">
            <a:solidFill>
              <a:srgbClr val="8B94A3"/>
            </a:solidFill>
            <a:prstDash val="solid"/>
            <a:tailEnd type="triangle"/>
          </a:ln>
        </p:spPr>
      </p:sp>
      <p:sp>
        <p:nvSpPr>
          <p:cNvPr id="23" name="Shape 21"/>
          <p:cNvSpPr/>
          <p:nvPr/>
        </p:nvSpPr>
        <p:spPr>
          <a:xfrm>
            <a:off x="5138928" y="3337560"/>
            <a:ext cx="1901952" cy="1005840"/>
          </a:xfrm>
          <a:prstGeom prst="roundRect">
            <a:avLst>
              <a:gd name="adj" fmla="val 9091"/>
            </a:avLst>
          </a:prstGeom>
          <a:solidFill>
            <a:srgbClr val="F7F9FC"/>
          </a:solidFill>
          <a:ln w="9525">
            <a:solidFill>
              <a:srgbClr val="DDE3ED"/>
            </a:solidFill>
            <a:prstDash val="solid"/>
          </a:ln>
        </p:spPr>
      </p:sp>
      <p:sp>
        <p:nvSpPr>
          <p:cNvPr id="24" name="Text 22"/>
          <p:cNvSpPr txBox="1"/>
          <p:nvPr/>
        </p:nvSpPr>
        <p:spPr>
          <a:xfrm>
            <a:off x="5230368" y="3520440"/>
            <a:ext cx="1719072" cy="329184"/>
          </a:xfrm>
          <a:prstGeom prst="rect">
            <a:avLst/>
          </a:prstGeom>
          <a:noFill/>
          <a:ln/>
        </p:spPr>
        <p:txBody>
          <a:bodyPr wrap="square" lIns="0" tIns="0" rIns="0" bIns="0" rtlCol="0" anchor="t"/>
          <a:lstStyle/>
          <a:p>
            <a:pPr algn="ctr" indent="0" marL="0">
              <a:buNone/>
            </a:pPr>
            <a:r>
              <a:rPr lang="en-US" sz="1450" b="1" dirty="0">
                <a:solidFill>
                  <a:srgbClr val="1E2761"/>
                </a:solidFill>
                <a:latin typeface="Calibri" pitchFamily="34" charset="0"/>
                <a:ea typeface="Calibri" pitchFamily="34" charset="-122"/>
                <a:cs typeface="Calibri" pitchFamily="34" charset="-120"/>
              </a:rPr>
              <a:t>Safety and tone</a:t>
            </a:r>
            <a:endParaRPr lang="en-US" sz="1450" dirty="0"/>
          </a:p>
        </p:txBody>
      </p:sp>
      <p:sp>
        <p:nvSpPr>
          <p:cNvPr id="25" name="Text 23"/>
          <p:cNvSpPr txBox="1"/>
          <p:nvPr/>
        </p:nvSpPr>
        <p:spPr>
          <a:xfrm>
            <a:off x="5230368" y="3849624"/>
            <a:ext cx="1719072" cy="402336"/>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Pick the level and the tone</a:t>
            </a:r>
            <a:endParaRPr lang="en-US" sz="1150" dirty="0"/>
          </a:p>
        </p:txBody>
      </p:sp>
      <p:sp>
        <p:nvSpPr>
          <p:cNvPr id="26" name="Shape 24"/>
          <p:cNvSpPr/>
          <p:nvPr/>
        </p:nvSpPr>
        <p:spPr>
          <a:xfrm>
            <a:off x="7077456" y="3840480"/>
            <a:ext cx="310896" cy="0"/>
          </a:xfrm>
          <a:prstGeom prst="line">
            <a:avLst/>
          </a:prstGeom>
          <a:noFill/>
          <a:ln w="19050">
            <a:solidFill>
              <a:srgbClr val="8B94A3"/>
            </a:solidFill>
            <a:prstDash val="solid"/>
            <a:tailEnd type="triangle"/>
          </a:ln>
        </p:spPr>
      </p:sp>
      <p:sp>
        <p:nvSpPr>
          <p:cNvPr id="27" name="Shape 25"/>
          <p:cNvSpPr/>
          <p:nvPr/>
        </p:nvSpPr>
        <p:spPr>
          <a:xfrm>
            <a:off x="7424928" y="3337560"/>
            <a:ext cx="1901952" cy="1005840"/>
          </a:xfrm>
          <a:prstGeom prst="roundRect">
            <a:avLst>
              <a:gd name="adj" fmla="val 9091"/>
            </a:avLst>
          </a:prstGeom>
          <a:solidFill>
            <a:srgbClr val="F7F9FC"/>
          </a:solidFill>
          <a:ln w="9525">
            <a:solidFill>
              <a:srgbClr val="DDE3ED"/>
            </a:solidFill>
            <a:prstDash val="solid"/>
          </a:ln>
        </p:spPr>
      </p:sp>
      <p:sp>
        <p:nvSpPr>
          <p:cNvPr id="28" name="Text 26"/>
          <p:cNvSpPr txBox="1"/>
          <p:nvPr/>
        </p:nvSpPr>
        <p:spPr>
          <a:xfrm>
            <a:off x="7516368" y="3520440"/>
            <a:ext cx="1719072" cy="329184"/>
          </a:xfrm>
          <a:prstGeom prst="rect">
            <a:avLst/>
          </a:prstGeom>
          <a:noFill/>
          <a:ln/>
        </p:spPr>
        <p:txBody>
          <a:bodyPr wrap="square" lIns="0" tIns="0" rIns="0" bIns="0" rtlCol="0" anchor="t"/>
          <a:lstStyle/>
          <a:p>
            <a:pPr algn="ctr" indent="0" marL="0">
              <a:buNone/>
            </a:pPr>
            <a:r>
              <a:rPr lang="en-US" sz="1450" b="1" dirty="0">
                <a:solidFill>
                  <a:srgbClr val="1E2761"/>
                </a:solidFill>
                <a:latin typeface="Calibri" pitchFamily="34" charset="0"/>
                <a:ea typeface="Calibri" pitchFamily="34" charset="-122"/>
                <a:cs typeface="Calibri" pitchFamily="34" charset="-120"/>
              </a:rPr>
              <a:t>Search memory</a:t>
            </a:r>
            <a:endParaRPr lang="en-US" sz="1450" dirty="0"/>
          </a:p>
        </p:txBody>
      </p:sp>
      <p:sp>
        <p:nvSpPr>
          <p:cNvPr id="29" name="Text 27"/>
          <p:cNvSpPr txBox="1"/>
          <p:nvPr/>
        </p:nvSpPr>
        <p:spPr>
          <a:xfrm>
            <a:off x="7516368" y="3849624"/>
            <a:ext cx="1719072" cy="402336"/>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ChromaDB, by meaning</a:t>
            </a:r>
            <a:endParaRPr lang="en-US" sz="1150" dirty="0"/>
          </a:p>
        </p:txBody>
      </p:sp>
      <p:sp>
        <p:nvSpPr>
          <p:cNvPr id="30" name="Shape 28"/>
          <p:cNvSpPr/>
          <p:nvPr/>
        </p:nvSpPr>
        <p:spPr>
          <a:xfrm>
            <a:off x="9363456" y="3840480"/>
            <a:ext cx="310896" cy="0"/>
          </a:xfrm>
          <a:prstGeom prst="line">
            <a:avLst/>
          </a:prstGeom>
          <a:noFill/>
          <a:ln w="19050">
            <a:solidFill>
              <a:srgbClr val="8B94A3"/>
            </a:solidFill>
            <a:prstDash val="solid"/>
            <a:tailEnd type="triangle"/>
          </a:ln>
        </p:spPr>
      </p:sp>
      <p:sp>
        <p:nvSpPr>
          <p:cNvPr id="31" name="Shape 29"/>
          <p:cNvSpPr/>
          <p:nvPr/>
        </p:nvSpPr>
        <p:spPr>
          <a:xfrm>
            <a:off x="9710928" y="3337560"/>
            <a:ext cx="1901952" cy="1005840"/>
          </a:xfrm>
          <a:prstGeom prst="roundRect">
            <a:avLst>
              <a:gd name="adj" fmla="val 9091"/>
            </a:avLst>
          </a:prstGeom>
          <a:solidFill>
            <a:srgbClr val="F7F9FC"/>
          </a:solidFill>
          <a:ln w="9525">
            <a:solidFill>
              <a:srgbClr val="DDE3ED"/>
            </a:solidFill>
            <a:prstDash val="solid"/>
          </a:ln>
        </p:spPr>
      </p:sp>
      <p:sp>
        <p:nvSpPr>
          <p:cNvPr id="32" name="Text 30"/>
          <p:cNvSpPr txBox="1"/>
          <p:nvPr/>
        </p:nvSpPr>
        <p:spPr>
          <a:xfrm>
            <a:off x="9802368" y="3520440"/>
            <a:ext cx="1719072" cy="329184"/>
          </a:xfrm>
          <a:prstGeom prst="rect">
            <a:avLst/>
          </a:prstGeom>
          <a:noFill/>
          <a:ln/>
        </p:spPr>
        <p:txBody>
          <a:bodyPr wrap="square" lIns="0" tIns="0" rIns="0" bIns="0" rtlCol="0" anchor="t"/>
          <a:lstStyle/>
          <a:p>
            <a:pPr algn="ctr" indent="0" marL="0">
              <a:buNone/>
            </a:pPr>
            <a:r>
              <a:rPr lang="en-US" sz="1450" b="1" dirty="0">
                <a:solidFill>
                  <a:srgbClr val="1E2761"/>
                </a:solidFill>
                <a:latin typeface="Calibri" pitchFamily="34" charset="0"/>
                <a:ea typeface="Calibri" pitchFamily="34" charset="-122"/>
                <a:cs typeface="Calibri" pitchFamily="34" charset="-120"/>
              </a:rPr>
              <a:t>Write the reply</a:t>
            </a:r>
            <a:endParaRPr lang="en-US" sz="1450" dirty="0"/>
          </a:p>
        </p:txBody>
      </p:sp>
      <p:sp>
        <p:nvSpPr>
          <p:cNvPr id="33" name="Text 31"/>
          <p:cNvSpPr txBox="1"/>
          <p:nvPr/>
        </p:nvSpPr>
        <p:spPr>
          <a:xfrm>
            <a:off x="9802368" y="3849624"/>
            <a:ext cx="1719072" cy="402336"/>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DeepSeek v4 Flash, streamed</a:t>
            </a:r>
            <a:endParaRPr lang="en-US" sz="1150" dirty="0"/>
          </a:p>
        </p:txBody>
      </p:sp>
      <p:sp>
        <p:nvSpPr>
          <p:cNvPr id="34" name="Text 32"/>
          <p:cNvSpPr txBox="1"/>
          <p:nvPr/>
        </p:nvSpPr>
        <p:spPr>
          <a:xfrm>
            <a:off x="566928" y="4846320"/>
            <a:ext cx="3474720" cy="292608"/>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One call, two jobs</a:t>
            </a:r>
            <a:endParaRPr lang="en-US" sz="1500" dirty="0"/>
          </a:p>
        </p:txBody>
      </p:sp>
      <p:sp>
        <p:nvSpPr>
          <p:cNvPr id="35" name="Text 33"/>
          <p:cNvSpPr txBox="1"/>
          <p:nvPr/>
        </p:nvSpPr>
        <p:spPr>
          <a:xfrm>
            <a:off x="566928" y="5157216"/>
            <a:ext cx="3474720" cy="73152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The same LLM call reads the facts and the emotion, so emotion adds no extra wait.</a:t>
            </a:r>
            <a:endParaRPr lang="en-US" sz="1350" dirty="0"/>
          </a:p>
        </p:txBody>
      </p:sp>
      <p:sp>
        <p:nvSpPr>
          <p:cNvPr id="36" name="Text 34"/>
          <p:cNvSpPr txBox="1"/>
          <p:nvPr/>
        </p:nvSpPr>
        <p:spPr>
          <a:xfrm>
            <a:off x="4315968" y="4846320"/>
            <a:ext cx="3474720" cy="292608"/>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Safety comes first</a:t>
            </a:r>
            <a:endParaRPr lang="en-US" sz="1500" dirty="0"/>
          </a:p>
        </p:txBody>
      </p:sp>
      <p:sp>
        <p:nvSpPr>
          <p:cNvPr id="37" name="Text 35"/>
          <p:cNvSpPr txBox="1"/>
          <p:nvPr/>
        </p:nvSpPr>
        <p:spPr>
          <a:xfrm>
            <a:off x="4315968" y="5157216"/>
            <a:ext cx="3474720" cy="73152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The crisis check runs before any model, so it works even without internet.</a:t>
            </a:r>
            <a:endParaRPr lang="en-US" sz="1350" dirty="0"/>
          </a:p>
        </p:txBody>
      </p:sp>
      <p:sp>
        <p:nvSpPr>
          <p:cNvPr id="38" name="Text 36"/>
          <p:cNvSpPr txBox="1"/>
          <p:nvPr/>
        </p:nvSpPr>
        <p:spPr>
          <a:xfrm>
            <a:off x="8065008" y="4846320"/>
            <a:ext cx="3474720" cy="292608"/>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Explained live</a:t>
            </a:r>
            <a:endParaRPr lang="en-US" sz="1500" dirty="0"/>
          </a:p>
        </p:txBody>
      </p:sp>
      <p:sp>
        <p:nvSpPr>
          <p:cNvPr id="39" name="Text 37"/>
          <p:cNvSpPr txBox="1"/>
          <p:nvPr/>
        </p:nvSpPr>
        <p:spPr>
          <a:xfrm>
            <a:off x="8065008" y="5157216"/>
            <a:ext cx="3474720" cy="73152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Emotion, tone and memory appear on screen before the reply is written.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STEP 2, DETECTING EMOTION</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Two readers, one decision</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66928" y="1645920"/>
            <a:ext cx="2880360" cy="1874520"/>
          </a:xfrm>
          <a:prstGeom prst="roundRect">
            <a:avLst>
              <a:gd name="adj" fmla="val 4878"/>
            </a:avLst>
          </a:prstGeom>
          <a:solidFill>
            <a:srgbClr val="F7F9FC"/>
          </a:solidFill>
          <a:ln w="9525">
            <a:solidFill>
              <a:srgbClr val="DDE3ED"/>
            </a:solidFill>
            <a:prstDash val="solid"/>
          </a:ln>
        </p:spPr>
      </p:sp>
      <p:sp>
        <p:nvSpPr>
          <p:cNvPr id="6" name="Text 4"/>
          <p:cNvSpPr txBox="1"/>
          <p:nvPr/>
        </p:nvSpPr>
        <p:spPr>
          <a:xfrm>
            <a:off x="768096" y="1783080"/>
            <a:ext cx="2514600"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Local emotion model</a:t>
            </a:r>
            <a:endParaRPr lang="en-US" sz="1550" dirty="0"/>
          </a:p>
        </p:txBody>
      </p:sp>
      <p:sp>
        <p:nvSpPr>
          <p:cNvPr id="7" name="Text 5"/>
          <p:cNvSpPr txBox="1"/>
          <p:nvPr/>
        </p:nvSpPr>
        <p:spPr>
          <a:xfrm>
            <a:off x="768096" y="2103120"/>
            <a:ext cx="2514600" cy="27432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DistilRoBERTa, 7 emotions</a:t>
            </a:r>
            <a:endParaRPr lang="en-US" sz="1250" dirty="0"/>
          </a:p>
        </p:txBody>
      </p:sp>
      <p:sp>
        <p:nvSpPr>
          <p:cNvPr id="8" name="Text 6"/>
          <p:cNvSpPr txBox="1"/>
          <p:nvPr/>
        </p:nvSpPr>
        <p:spPr>
          <a:xfrm>
            <a:off x="768096" y="2514600"/>
            <a:ext cx="2514600" cy="914400"/>
          </a:xfrm>
          <a:prstGeom prst="rect">
            <a:avLst/>
          </a:prstGeom>
          <a:noFill/>
          <a:ln/>
        </p:spPr>
        <p:txBody>
          <a:bodyPr wrap="square" lIns="0" tIns="0" rIns="0" bIns="0" rtlCol="0" anchor="t"/>
          <a:lstStyle/>
          <a:p>
            <a:pPr indent="0" marL="0">
              <a:spcAft>
                <a:spcPts val="600"/>
              </a:spcAft>
              <a:buNone/>
            </a:pPr>
            <a:r>
              <a:rPr lang="en-US" sz="1300" dirty="0">
                <a:solidFill>
                  <a:srgbClr val="047857"/>
                </a:solidFill>
                <a:latin typeface="Calibri" pitchFamily="34" charset="0"/>
                <a:ea typeface="Calibri" pitchFamily="34" charset="-122"/>
                <a:cs typeface="Calibri" pitchFamily="34" charset="-120"/>
              </a:rPr>
              <a:t>+  Runs on this machine, free and repeatable</a:t>
            </a:r>
            <a:endParaRPr lang="en-US" sz="1300" dirty="0"/>
          </a:p>
          <a:p>
            <a:pPr indent="0" marL="0">
              <a:spcAft>
                <a:spcPts val="600"/>
              </a:spcAft>
              <a:buNone/>
            </a:pPr>
            <a:r>
              <a:rPr lang="en-US" sz="1300" dirty="0">
                <a:solidFill>
                  <a:srgbClr val="B45309"/>
                </a:solidFill>
                <a:latin typeface="Calibri" pitchFamily="34" charset="0"/>
                <a:ea typeface="Calibri" pitchFamily="34" charset="-122"/>
                <a:cs typeface="Calibri" pitchFamily="34" charset="-120"/>
              </a:rPr>
              <a:t>-  Reads words, so sarcasm can fool it</a:t>
            </a:r>
            <a:endParaRPr lang="en-US" sz="1300" dirty="0"/>
          </a:p>
        </p:txBody>
      </p:sp>
      <p:sp>
        <p:nvSpPr>
          <p:cNvPr id="9" name="Shape 7"/>
          <p:cNvSpPr/>
          <p:nvPr/>
        </p:nvSpPr>
        <p:spPr>
          <a:xfrm>
            <a:off x="3630168" y="1645920"/>
            <a:ext cx="2880360" cy="1874520"/>
          </a:xfrm>
          <a:prstGeom prst="roundRect">
            <a:avLst>
              <a:gd name="adj" fmla="val 4878"/>
            </a:avLst>
          </a:prstGeom>
          <a:solidFill>
            <a:srgbClr val="F7F9FC"/>
          </a:solidFill>
          <a:ln w="9525">
            <a:solidFill>
              <a:srgbClr val="DDE3ED"/>
            </a:solidFill>
            <a:prstDash val="solid"/>
          </a:ln>
        </p:spPr>
      </p:sp>
      <p:sp>
        <p:nvSpPr>
          <p:cNvPr id="10" name="Text 8"/>
          <p:cNvSpPr txBox="1"/>
          <p:nvPr/>
        </p:nvSpPr>
        <p:spPr>
          <a:xfrm>
            <a:off x="3831336" y="1783080"/>
            <a:ext cx="2514600" cy="310896"/>
          </a:xfrm>
          <a:prstGeom prst="rect">
            <a:avLst/>
          </a:prstGeom>
          <a:noFill/>
          <a:ln/>
        </p:spPr>
        <p:txBody>
          <a:bodyPr wrap="square" lIns="0" tIns="0" rIns="0" bIns="0" rtlCol="0" anchor="t"/>
          <a:lstStyle/>
          <a:p>
            <a:pPr indent="0" marL="0">
              <a:buNone/>
            </a:pPr>
            <a:r>
              <a:rPr lang="en-US" sz="1550" b="1" dirty="0">
                <a:solidFill>
                  <a:srgbClr val="1E2761"/>
                </a:solidFill>
                <a:latin typeface="Calibri" pitchFamily="34" charset="0"/>
                <a:ea typeface="Calibri" pitchFamily="34" charset="-122"/>
                <a:cs typeface="Calibri" pitchFamily="34" charset="-120"/>
              </a:rPr>
              <a:t>Large language model</a:t>
            </a:r>
            <a:endParaRPr lang="en-US" sz="1550" dirty="0"/>
          </a:p>
        </p:txBody>
      </p:sp>
      <p:sp>
        <p:nvSpPr>
          <p:cNvPr id="11" name="Text 9"/>
          <p:cNvSpPr txBox="1"/>
          <p:nvPr/>
        </p:nvSpPr>
        <p:spPr>
          <a:xfrm>
            <a:off x="3831336" y="2103120"/>
            <a:ext cx="2514600" cy="27432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DeepSeek v4 Flash</a:t>
            </a:r>
            <a:endParaRPr lang="en-US" sz="1250" dirty="0"/>
          </a:p>
        </p:txBody>
      </p:sp>
      <p:sp>
        <p:nvSpPr>
          <p:cNvPr id="12" name="Text 10"/>
          <p:cNvSpPr txBox="1"/>
          <p:nvPr/>
        </p:nvSpPr>
        <p:spPr>
          <a:xfrm>
            <a:off x="3831336" y="2514600"/>
            <a:ext cx="2514600" cy="914400"/>
          </a:xfrm>
          <a:prstGeom prst="rect">
            <a:avLst/>
          </a:prstGeom>
          <a:noFill/>
          <a:ln/>
        </p:spPr>
        <p:txBody>
          <a:bodyPr wrap="square" lIns="0" tIns="0" rIns="0" bIns="0" rtlCol="0" anchor="t"/>
          <a:lstStyle/>
          <a:p>
            <a:pPr indent="0" marL="0">
              <a:spcAft>
                <a:spcPts val="600"/>
              </a:spcAft>
              <a:buNone/>
            </a:pPr>
            <a:r>
              <a:rPr lang="en-US" sz="1300" dirty="0">
                <a:solidFill>
                  <a:srgbClr val="047857"/>
                </a:solidFill>
                <a:latin typeface="Calibri" pitchFamily="34" charset="0"/>
                <a:ea typeface="Calibri" pitchFamily="34" charset="-122"/>
                <a:cs typeface="Calibri" pitchFamily="34" charset="-120"/>
              </a:rPr>
              <a:t>+  Reads the situation, catches sarcasm</a:t>
            </a:r>
            <a:endParaRPr lang="en-US" sz="1300" dirty="0"/>
          </a:p>
          <a:p>
            <a:pPr indent="0" marL="0">
              <a:spcAft>
                <a:spcPts val="600"/>
              </a:spcAft>
              <a:buNone/>
            </a:pPr>
            <a:r>
              <a:rPr lang="en-US" sz="1300" dirty="0">
                <a:solidFill>
                  <a:srgbClr val="B45309"/>
                </a:solidFill>
                <a:latin typeface="Calibri" pitchFamily="34" charset="0"/>
                <a:ea typeface="Calibri" pitchFamily="34" charset="-122"/>
                <a:cs typeface="Calibri" pitchFamily="34" charset="-120"/>
              </a:rPr>
              <a:t>-  Needs the network, can be slow</a:t>
            </a:r>
            <a:endParaRPr lang="en-US" sz="1300" dirty="0"/>
          </a:p>
        </p:txBody>
      </p:sp>
      <p:sp>
        <p:nvSpPr>
          <p:cNvPr id="13" name="Text 11"/>
          <p:cNvSpPr txBox="1"/>
          <p:nvPr/>
        </p:nvSpPr>
        <p:spPr>
          <a:xfrm>
            <a:off x="566928" y="3767328"/>
            <a:ext cx="4572000" cy="237744"/>
          </a:xfrm>
          <a:prstGeom prst="rect">
            <a:avLst/>
          </a:prstGeom>
          <a:noFill/>
          <a:ln/>
        </p:spPr>
        <p:txBody>
          <a:bodyPr wrap="square" lIns="0" tIns="0" rIns="0" bIns="0" rtlCol="0" anchor="t"/>
          <a:lstStyle/>
          <a:p>
            <a:pPr indent="0" marL="0">
              <a:buNone/>
            </a:pPr>
            <a:r>
              <a:rPr lang="en-US" sz="1100" b="1" spc="100" kern="0" dirty="0">
                <a:solidFill>
                  <a:srgbClr val="8B94A3"/>
                </a:solidFill>
                <a:latin typeface="Calibri" pitchFamily="34" charset="0"/>
                <a:ea typeface="Calibri" pitchFamily="34" charset="-122"/>
                <a:cs typeface="Calibri" pitchFamily="34" charset="-120"/>
              </a:rPr>
              <a:t>HOW THEY ARE COMBINED</a:t>
            </a:r>
            <a:endParaRPr lang="en-US" sz="1100" dirty="0"/>
          </a:p>
        </p:txBody>
      </p:sp>
      <p:sp>
        <p:nvSpPr>
          <p:cNvPr id="14" name="Shape 12"/>
          <p:cNvSpPr/>
          <p:nvPr/>
        </p:nvSpPr>
        <p:spPr>
          <a:xfrm>
            <a:off x="585216" y="4206240"/>
            <a:ext cx="137160" cy="137160"/>
          </a:xfrm>
          <a:prstGeom prst="ellipse">
            <a:avLst/>
          </a:prstGeom>
          <a:solidFill>
            <a:srgbClr val="047857"/>
          </a:solidFill>
          <a:ln w="12700">
            <a:solidFill>
              <a:srgbClr val="047857"/>
            </a:solidFill>
            <a:prstDash val="solid"/>
          </a:ln>
        </p:spPr>
      </p:sp>
      <p:sp>
        <p:nvSpPr>
          <p:cNvPr id="15" name="Text 13"/>
          <p:cNvSpPr txBox="1"/>
          <p:nvPr/>
        </p:nvSpPr>
        <p:spPr>
          <a:xfrm>
            <a:off x="859536" y="4096512"/>
            <a:ext cx="1645920" cy="365760"/>
          </a:xfrm>
          <a:prstGeom prst="rect">
            <a:avLst/>
          </a:prstGeom>
          <a:noFill/>
          <a:ln/>
        </p:spPr>
        <p:txBody>
          <a:bodyPr wrap="square" lIns="0" tIns="0" rIns="0" bIns="0" rtlCol="0" anchor="t"/>
          <a:lstStyle/>
          <a:p>
            <a:pPr indent="0" marL="0">
              <a:buNone/>
            </a:pPr>
            <a:r>
              <a:rPr lang="en-US" sz="1400" b="1" dirty="0">
                <a:solidFill>
                  <a:srgbClr val="1A1D23"/>
                </a:solidFill>
                <a:latin typeface="Calibri" pitchFamily="34" charset="0"/>
                <a:ea typeface="Calibri" pitchFamily="34" charset="-122"/>
                <a:cs typeface="Calibri" pitchFamily="34" charset="-120"/>
              </a:rPr>
              <a:t>Both agree</a:t>
            </a:r>
            <a:endParaRPr lang="en-US" sz="1400" dirty="0"/>
          </a:p>
        </p:txBody>
      </p:sp>
      <p:sp>
        <p:nvSpPr>
          <p:cNvPr id="16" name="Text 14"/>
          <p:cNvSpPr txBox="1"/>
          <p:nvPr/>
        </p:nvSpPr>
        <p:spPr>
          <a:xfrm>
            <a:off x="2532888" y="4096512"/>
            <a:ext cx="4114800" cy="5486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Use it, with high confidence</a:t>
            </a:r>
            <a:endParaRPr lang="en-US" sz="1350" dirty="0"/>
          </a:p>
        </p:txBody>
      </p:sp>
      <p:sp>
        <p:nvSpPr>
          <p:cNvPr id="17" name="Shape 15"/>
          <p:cNvSpPr/>
          <p:nvPr/>
        </p:nvSpPr>
        <p:spPr>
          <a:xfrm>
            <a:off x="585216" y="4809744"/>
            <a:ext cx="137160" cy="137160"/>
          </a:xfrm>
          <a:prstGeom prst="ellipse">
            <a:avLst/>
          </a:prstGeom>
          <a:solidFill>
            <a:srgbClr val="B45309"/>
          </a:solidFill>
          <a:ln w="12700">
            <a:solidFill>
              <a:srgbClr val="B45309"/>
            </a:solidFill>
            <a:prstDash val="solid"/>
          </a:ln>
        </p:spPr>
      </p:sp>
      <p:sp>
        <p:nvSpPr>
          <p:cNvPr id="18" name="Text 16"/>
          <p:cNvSpPr txBox="1"/>
          <p:nvPr/>
        </p:nvSpPr>
        <p:spPr>
          <a:xfrm>
            <a:off x="859536" y="4700016"/>
            <a:ext cx="1645920" cy="365760"/>
          </a:xfrm>
          <a:prstGeom prst="rect">
            <a:avLst/>
          </a:prstGeom>
          <a:noFill/>
          <a:ln/>
        </p:spPr>
        <p:txBody>
          <a:bodyPr wrap="square" lIns="0" tIns="0" rIns="0" bIns="0" rtlCol="0" anchor="t"/>
          <a:lstStyle/>
          <a:p>
            <a:pPr indent="0" marL="0">
              <a:buNone/>
            </a:pPr>
            <a:r>
              <a:rPr lang="en-US" sz="1400" b="1" dirty="0">
                <a:solidFill>
                  <a:srgbClr val="1A1D23"/>
                </a:solidFill>
                <a:latin typeface="Calibri" pitchFamily="34" charset="0"/>
                <a:ea typeface="Calibri" pitchFamily="34" charset="-122"/>
                <a:cs typeface="Calibri" pitchFamily="34" charset="-120"/>
              </a:rPr>
              <a:t>They disagree</a:t>
            </a:r>
            <a:endParaRPr lang="en-US" sz="1400" dirty="0"/>
          </a:p>
        </p:txBody>
      </p:sp>
      <p:sp>
        <p:nvSpPr>
          <p:cNvPr id="19" name="Text 17"/>
          <p:cNvSpPr txBox="1"/>
          <p:nvPr/>
        </p:nvSpPr>
        <p:spPr>
          <a:xfrm>
            <a:off x="2532888" y="4700016"/>
            <a:ext cx="4114800" cy="5486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Use the LLM, as it reads context, and show the disagreement</a:t>
            </a:r>
            <a:endParaRPr lang="en-US" sz="1350" dirty="0"/>
          </a:p>
        </p:txBody>
      </p:sp>
      <p:sp>
        <p:nvSpPr>
          <p:cNvPr id="20" name="Shape 18"/>
          <p:cNvSpPr/>
          <p:nvPr/>
        </p:nvSpPr>
        <p:spPr>
          <a:xfrm>
            <a:off x="585216" y="5413248"/>
            <a:ext cx="137160" cy="137160"/>
          </a:xfrm>
          <a:prstGeom prst="ellipse">
            <a:avLst/>
          </a:prstGeom>
          <a:solidFill>
            <a:srgbClr val="5B6472"/>
          </a:solidFill>
          <a:ln w="12700">
            <a:solidFill>
              <a:srgbClr val="5B6472"/>
            </a:solidFill>
            <a:prstDash val="solid"/>
          </a:ln>
        </p:spPr>
      </p:sp>
      <p:sp>
        <p:nvSpPr>
          <p:cNvPr id="21" name="Text 19"/>
          <p:cNvSpPr txBox="1"/>
          <p:nvPr/>
        </p:nvSpPr>
        <p:spPr>
          <a:xfrm>
            <a:off x="859536" y="5303520"/>
            <a:ext cx="1645920" cy="365760"/>
          </a:xfrm>
          <a:prstGeom prst="rect">
            <a:avLst/>
          </a:prstGeom>
          <a:noFill/>
          <a:ln/>
        </p:spPr>
        <p:txBody>
          <a:bodyPr wrap="square" lIns="0" tIns="0" rIns="0" bIns="0" rtlCol="0" anchor="t"/>
          <a:lstStyle/>
          <a:p>
            <a:pPr indent="0" marL="0">
              <a:buNone/>
            </a:pPr>
            <a:r>
              <a:rPr lang="en-US" sz="1400" b="1" dirty="0">
                <a:solidFill>
                  <a:srgbClr val="1A1D23"/>
                </a:solidFill>
                <a:latin typeface="Calibri" pitchFamily="34" charset="0"/>
                <a:ea typeface="Calibri" pitchFamily="34" charset="-122"/>
                <a:cs typeface="Calibri" pitchFamily="34" charset="-120"/>
              </a:rPr>
              <a:t>LLM unavailable</a:t>
            </a:r>
            <a:endParaRPr lang="en-US" sz="1400" dirty="0"/>
          </a:p>
        </p:txBody>
      </p:sp>
      <p:sp>
        <p:nvSpPr>
          <p:cNvPr id="22" name="Text 20"/>
          <p:cNvSpPr txBox="1"/>
          <p:nvPr/>
        </p:nvSpPr>
        <p:spPr>
          <a:xfrm>
            <a:off x="2532888" y="5303520"/>
            <a:ext cx="4114800" cy="5486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Use the local model alone, or neutral if it is unsure</a:t>
            </a:r>
            <a:endParaRPr lang="en-US" sz="1350" dirty="0"/>
          </a:p>
        </p:txBody>
      </p:sp>
      <p:sp>
        <p:nvSpPr>
          <p:cNvPr id="23" name="Shape 21"/>
          <p:cNvSpPr/>
          <p:nvPr/>
        </p:nvSpPr>
        <p:spPr>
          <a:xfrm>
            <a:off x="7031736" y="1636776"/>
            <a:ext cx="4647895" cy="3179294"/>
          </a:xfrm>
          <a:prstGeom prst="roundRect">
            <a:avLst>
              <a:gd name="adj" fmla="val 2301"/>
            </a:avLst>
          </a:prstGeom>
          <a:solidFill>
            <a:srgbClr val="FFFFFF"/>
          </a:solidFill>
          <a:ln w="9525">
            <a:solidFill>
              <a:srgbClr val="DDE3ED"/>
            </a:solidFill>
            <a:prstDash val="solid"/>
          </a:ln>
          <a:effectLst>
            <a:outerShdw sx="100000" sy="100000" kx="0" ky="0" algn="bl" rotWithShape="0" blurRad="101600" dist="25400" dir="5400000">
              <a:srgbClr val="1E2761">
                <a:alpha val="12000"/>
              </a:srgbClr>
            </a:outerShdw>
          </a:effectLst>
        </p:spPr>
      </p:sp>
      <p:pic>
        <p:nvPicPr>
          <p:cNvPr id="24" name="Image 0" descr="D:\Claude_env\Project\Long-Term\docs\assets\jury2\fig_emotion_disagree.png">    </p:cNvPr>
          <p:cNvPicPr>
            <a:picLocks noChangeAspect="1"/>
          </p:cNvPicPr>
          <p:nvPr/>
        </p:nvPicPr>
        <p:blipFill>
          <a:blip r:embed="rId1"/>
          <a:stretch>
            <a:fillRect/>
          </a:stretch>
        </p:blipFill>
        <p:spPr>
          <a:xfrm>
            <a:off x="7086600" y="1691640"/>
            <a:ext cx="4538167" cy="3069566"/>
          </a:xfrm>
          <a:prstGeom prst="rect">
            <a:avLst/>
          </a:prstGeom>
        </p:spPr>
      </p:pic>
      <p:sp>
        <p:nvSpPr>
          <p:cNvPr id="25" name="Text 22"/>
          <p:cNvSpPr txBox="1"/>
          <p:nvPr/>
        </p:nvSpPr>
        <p:spPr>
          <a:xfrm>
            <a:off x="7086600" y="4944086"/>
            <a:ext cx="4538167" cy="292608"/>
          </a:xfrm>
          <a:prstGeom prst="rect">
            <a:avLst/>
          </a:prstGeom>
          <a:noFill/>
          <a:ln/>
        </p:spPr>
        <p:txBody>
          <a:bodyPr wrap="square" lIns="0" tIns="0" rIns="0" bIns="0" rtlCol="0" anchor="t"/>
          <a:lstStyle/>
          <a:p>
            <a:pPr indent="0" marL="0">
              <a:buNone/>
            </a:pPr>
            <a:r>
              <a:rPr lang="en-US" sz="1100" i="1" dirty="0">
                <a:solidFill>
                  <a:srgbClr val="8B94A3"/>
                </a:solidFill>
                <a:latin typeface="Calibri" pitchFamily="34" charset="0"/>
                <a:ea typeface="Calibri" pitchFamily="34" charset="-122"/>
                <a:cs typeface="Calibri" pitchFamily="34" charset="-120"/>
              </a:rPr>
              <a:t>Real case: "Great, another rejection email." The local model sees the word great. The LLM reads the feeling behind it.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STEP 3, ADAPTING TONE</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emotion decides how the reply is written</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886968" y="1600200"/>
            <a:ext cx="1371600" cy="237744"/>
          </a:xfrm>
          <a:prstGeom prst="rect">
            <a:avLst/>
          </a:prstGeom>
          <a:noFill/>
          <a:ln/>
        </p:spPr>
        <p:txBody>
          <a:bodyPr wrap="square" lIns="0" tIns="0" rIns="0" bIns="0" rtlCol="0" anchor="t"/>
          <a:lstStyle/>
          <a:p>
            <a:pPr indent="0" marL="0">
              <a:buNone/>
            </a:pPr>
            <a:r>
              <a:rPr lang="en-US" sz="1100" b="1" spc="100" kern="0" dirty="0">
                <a:solidFill>
                  <a:srgbClr val="8B94A3"/>
                </a:solidFill>
                <a:latin typeface="Calibri" pitchFamily="34" charset="0"/>
                <a:ea typeface="Calibri" pitchFamily="34" charset="-122"/>
                <a:cs typeface="Calibri" pitchFamily="34" charset="-120"/>
              </a:rPr>
              <a:t>EMOTION</a:t>
            </a:r>
            <a:endParaRPr lang="en-US" sz="1100" dirty="0"/>
          </a:p>
        </p:txBody>
      </p:sp>
      <p:sp>
        <p:nvSpPr>
          <p:cNvPr id="6" name="Text 4"/>
          <p:cNvSpPr txBox="1"/>
          <p:nvPr/>
        </p:nvSpPr>
        <p:spPr>
          <a:xfrm>
            <a:off x="2148840" y="1600200"/>
            <a:ext cx="1371600" cy="237744"/>
          </a:xfrm>
          <a:prstGeom prst="rect">
            <a:avLst/>
          </a:prstGeom>
          <a:noFill/>
          <a:ln/>
        </p:spPr>
        <p:txBody>
          <a:bodyPr wrap="square" lIns="0" tIns="0" rIns="0" bIns="0" rtlCol="0" anchor="t"/>
          <a:lstStyle/>
          <a:p>
            <a:pPr indent="0" marL="0">
              <a:buNone/>
            </a:pPr>
            <a:r>
              <a:rPr lang="en-US" sz="1100" b="1" spc="100" kern="0" dirty="0">
                <a:solidFill>
                  <a:srgbClr val="8B94A3"/>
                </a:solidFill>
                <a:latin typeface="Calibri" pitchFamily="34" charset="0"/>
                <a:ea typeface="Calibri" pitchFamily="34" charset="-122"/>
                <a:cs typeface="Calibri" pitchFamily="34" charset="-120"/>
              </a:rPr>
              <a:t>TONE</a:t>
            </a:r>
            <a:endParaRPr lang="en-US" sz="1100" dirty="0"/>
          </a:p>
        </p:txBody>
      </p:sp>
      <p:sp>
        <p:nvSpPr>
          <p:cNvPr id="7" name="Text 5"/>
          <p:cNvSpPr txBox="1"/>
          <p:nvPr/>
        </p:nvSpPr>
        <p:spPr>
          <a:xfrm>
            <a:off x="3611880" y="1600200"/>
            <a:ext cx="3200400" cy="237744"/>
          </a:xfrm>
          <a:prstGeom prst="rect">
            <a:avLst/>
          </a:prstGeom>
          <a:noFill/>
          <a:ln/>
        </p:spPr>
        <p:txBody>
          <a:bodyPr wrap="square" lIns="0" tIns="0" rIns="0" bIns="0" rtlCol="0" anchor="t"/>
          <a:lstStyle/>
          <a:p>
            <a:pPr indent="0" marL="0">
              <a:buNone/>
            </a:pPr>
            <a:r>
              <a:rPr lang="en-US" sz="1100" b="1" spc="100" kern="0" dirty="0">
                <a:solidFill>
                  <a:srgbClr val="8B94A3"/>
                </a:solidFill>
                <a:latin typeface="Calibri" pitchFamily="34" charset="0"/>
                <a:ea typeface="Calibri" pitchFamily="34" charset="-122"/>
                <a:cs typeface="Calibri" pitchFamily="34" charset="-120"/>
              </a:rPr>
              <a:t>INSTRUCTION GIVEN TO THE LLM</a:t>
            </a:r>
            <a:endParaRPr lang="en-US" sz="1100" dirty="0"/>
          </a:p>
        </p:txBody>
      </p:sp>
      <p:sp>
        <p:nvSpPr>
          <p:cNvPr id="8" name="Shape 6"/>
          <p:cNvSpPr/>
          <p:nvPr/>
        </p:nvSpPr>
        <p:spPr>
          <a:xfrm>
            <a:off x="566928" y="1920240"/>
            <a:ext cx="5989320" cy="457200"/>
          </a:xfrm>
          <a:prstGeom prst="roundRect">
            <a:avLst>
              <a:gd name="adj" fmla="val 20000"/>
            </a:avLst>
          </a:prstGeom>
          <a:solidFill>
            <a:srgbClr val="F7F9FC"/>
          </a:solidFill>
          <a:ln w="9525">
            <a:solidFill>
              <a:srgbClr val="F7F9FC"/>
            </a:solidFill>
            <a:prstDash val="solid"/>
          </a:ln>
        </p:spPr>
      </p:sp>
      <p:sp>
        <p:nvSpPr>
          <p:cNvPr id="9" name="Shape 7"/>
          <p:cNvSpPr/>
          <p:nvPr/>
        </p:nvSpPr>
        <p:spPr>
          <a:xfrm>
            <a:off x="676656" y="2075688"/>
            <a:ext cx="146304" cy="146304"/>
          </a:xfrm>
          <a:prstGeom prst="ellipse">
            <a:avLst/>
          </a:prstGeom>
          <a:solidFill>
            <a:srgbClr val="F59E0B"/>
          </a:solidFill>
          <a:ln w="12700">
            <a:solidFill>
              <a:srgbClr val="F59E0B"/>
            </a:solidFill>
            <a:prstDash val="solid"/>
          </a:ln>
        </p:spPr>
      </p:sp>
      <p:sp>
        <p:nvSpPr>
          <p:cNvPr id="10" name="Text 8"/>
          <p:cNvSpPr txBox="1"/>
          <p:nvPr/>
        </p:nvSpPr>
        <p:spPr>
          <a:xfrm>
            <a:off x="886968" y="1920240"/>
            <a:ext cx="1280160" cy="457200"/>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Joy</a:t>
            </a:r>
            <a:endParaRPr lang="en-US" sz="1400" dirty="0"/>
          </a:p>
        </p:txBody>
      </p:sp>
      <p:sp>
        <p:nvSpPr>
          <p:cNvPr id="11" name="Text 9"/>
          <p:cNvSpPr txBox="1"/>
          <p:nvPr/>
        </p:nvSpPr>
        <p:spPr>
          <a:xfrm>
            <a:off x="2148840" y="1920240"/>
            <a:ext cx="14173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Cheerful</a:t>
            </a:r>
            <a:endParaRPr lang="en-US" sz="1400" dirty="0"/>
          </a:p>
        </p:txBody>
      </p:sp>
      <p:sp>
        <p:nvSpPr>
          <p:cNvPr id="12" name="Text 10"/>
          <p:cNvSpPr txBox="1"/>
          <p:nvPr/>
        </p:nvSpPr>
        <p:spPr>
          <a:xfrm>
            <a:off x="3611880" y="1920240"/>
            <a:ext cx="2926080" cy="4572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Match their energy, share the good news</a:t>
            </a:r>
            <a:endParaRPr lang="en-US" sz="1250" dirty="0"/>
          </a:p>
        </p:txBody>
      </p:sp>
      <p:sp>
        <p:nvSpPr>
          <p:cNvPr id="13" name="Shape 11"/>
          <p:cNvSpPr/>
          <p:nvPr/>
        </p:nvSpPr>
        <p:spPr>
          <a:xfrm>
            <a:off x="676656" y="2587752"/>
            <a:ext cx="146304" cy="146304"/>
          </a:xfrm>
          <a:prstGeom prst="ellipse">
            <a:avLst/>
          </a:prstGeom>
          <a:solidFill>
            <a:srgbClr val="3B82F6"/>
          </a:solidFill>
          <a:ln w="12700">
            <a:solidFill>
              <a:srgbClr val="3B82F6"/>
            </a:solidFill>
            <a:prstDash val="solid"/>
          </a:ln>
        </p:spPr>
      </p:sp>
      <p:sp>
        <p:nvSpPr>
          <p:cNvPr id="14" name="Text 12"/>
          <p:cNvSpPr txBox="1"/>
          <p:nvPr/>
        </p:nvSpPr>
        <p:spPr>
          <a:xfrm>
            <a:off x="886968" y="2432304"/>
            <a:ext cx="1280160" cy="457200"/>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Sadness</a:t>
            </a:r>
            <a:endParaRPr lang="en-US" sz="1400" dirty="0"/>
          </a:p>
        </p:txBody>
      </p:sp>
      <p:sp>
        <p:nvSpPr>
          <p:cNvPr id="15" name="Text 13"/>
          <p:cNvSpPr txBox="1"/>
          <p:nvPr/>
        </p:nvSpPr>
        <p:spPr>
          <a:xfrm>
            <a:off x="2148840" y="2432304"/>
            <a:ext cx="14173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Gentle</a:t>
            </a:r>
            <a:endParaRPr lang="en-US" sz="1400" dirty="0"/>
          </a:p>
        </p:txBody>
      </p:sp>
      <p:sp>
        <p:nvSpPr>
          <p:cNvPr id="16" name="Text 14"/>
          <p:cNvSpPr txBox="1"/>
          <p:nvPr/>
        </p:nvSpPr>
        <p:spPr>
          <a:xfrm>
            <a:off x="3611880" y="2432304"/>
            <a:ext cx="2926080" cy="4572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Acknowledge first, short kind sentences</a:t>
            </a:r>
            <a:endParaRPr lang="en-US" sz="1250" dirty="0"/>
          </a:p>
        </p:txBody>
      </p:sp>
      <p:sp>
        <p:nvSpPr>
          <p:cNvPr id="17" name="Shape 15"/>
          <p:cNvSpPr/>
          <p:nvPr/>
        </p:nvSpPr>
        <p:spPr>
          <a:xfrm>
            <a:off x="566928" y="2944368"/>
            <a:ext cx="5989320" cy="457200"/>
          </a:xfrm>
          <a:prstGeom prst="roundRect">
            <a:avLst>
              <a:gd name="adj" fmla="val 20000"/>
            </a:avLst>
          </a:prstGeom>
          <a:solidFill>
            <a:srgbClr val="F7F9FC"/>
          </a:solidFill>
          <a:ln w="9525">
            <a:solidFill>
              <a:srgbClr val="F7F9FC"/>
            </a:solidFill>
            <a:prstDash val="solid"/>
          </a:ln>
        </p:spPr>
      </p:sp>
      <p:sp>
        <p:nvSpPr>
          <p:cNvPr id="18" name="Shape 16"/>
          <p:cNvSpPr/>
          <p:nvPr/>
        </p:nvSpPr>
        <p:spPr>
          <a:xfrm>
            <a:off x="676656" y="3099816"/>
            <a:ext cx="146304" cy="146304"/>
          </a:xfrm>
          <a:prstGeom prst="ellipse">
            <a:avLst/>
          </a:prstGeom>
          <a:solidFill>
            <a:srgbClr val="EF4444"/>
          </a:solidFill>
          <a:ln w="12700">
            <a:solidFill>
              <a:srgbClr val="EF4444"/>
            </a:solidFill>
            <a:prstDash val="solid"/>
          </a:ln>
        </p:spPr>
      </p:sp>
      <p:sp>
        <p:nvSpPr>
          <p:cNvPr id="19" name="Text 17"/>
          <p:cNvSpPr txBox="1"/>
          <p:nvPr/>
        </p:nvSpPr>
        <p:spPr>
          <a:xfrm>
            <a:off x="886968" y="2944368"/>
            <a:ext cx="1280160" cy="457200"/>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Anger</a:t>
            </a:r>
            <a:endParaRPr lang="en-US" sz="1400" dirty="0"/>
          </a:p>
        </p:txBody>
      </p:sp>
      <p:sp>
        <p:nvSpPr>
          <p:cNvPr id="20" name="Text 18"/>
          <p:cNvSpPr txBox="1"/>
          <p:nvPr/>
        </p:nvSpPr>
        <p:spPr>
          <a:xfrm>
            <a:off x="2148840" y="2944368"/>
            <a:ext cx="14173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Calm</a:t>
            </a:r>
            <a:endParaRPr lang="en-US" sz="1400" dirty="0"/>
          </a:p>
        </p:txBody>
      </p:sp>
      <p:sp>
        <p:nvSpPr>
          <p:cNvPr id="21" name="Text 19"/>
          <p:cNvSpPr txBox="1"/>
          <p:nvPr/>
        </p:nvSpPr>
        <p:spPr>
          <a:xfrm>
            <a:off x="3611880" y="2944368"/>
            <a:ext cx="2926080" cy="4572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Do not argue, then help with the problem</a:t>
            </a:r>
            <a:endParaRPr lang="en-US" sz="1250" dirty="0"/>
          </a:p>
        </p:txBody>
      </p:sp>
      <p:sp>
        <p:nvSpPr>
          <p:cNvPr id="22" name="Shape 20"/>
          <p:cNvSpPr/>
          <p:nvPr/>
        </p:nvSpPr>
        <p:spPr>
          <a:xfrm>
            <a:off x="676656" y="3611880"/>
            <a:ext cx="146304" cy="146304"/>
          </a:xfrm>
          <a:prstGeom prst="ellipse">
            <a:avLst/>
          </a:prstGeom>
          <a:solidFill>
            <a:srgbClr val="8B5CF6"/>
          </a:solidFill>
          <a:ln w="12700">
            <a:solidFill>
              <a:srgbClr val="8B5CF6"/>
            </a:solidFill>
            <a:prstDash val="solid"/>
          </a:ln>
        </p:spPr>
      </p:sp>
      <p:sp>
        <p:nvSpPr>
          <p:cNvPr id="23" name="Text 21"/>
          <p:cNvSpPr txBox="1"/>
          <p:nvPr/>
        </p:nvSpPr>
        <p:spPr>
          <a:xfrm>
            <a:off x="886968" y="3456432"/>
            <a:ext cx="1280160" cy="457200"/>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Fear</a:t>
            </a:r>
            <a:endParaRPr lang="en-US" sz="1400" dirty="0"/>
          </a:p>
        </p:txBody>
      </p:sp>
      <p:sp>
        <p:nvSpPr>
          <p:cNvPr id="24" name="Text 22"/>
          <p:cNvSpPr txBox="1"/>
          <p:nvPr/>
        </p:nvSpPr>
        <p:spPr>
          <a:xfrm>
            <a:off x="2148840" y="3456432"/>
            <a:ext cx="14173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Reassuring</a:t>
            </a:r>
            <a:endParaRPr lang="en-US" sz="1400" dirty="0"/>
          </a:p>
        </p:txBody>
      </p:sp>
      <p:sp>
        <p:nvSpPr>
          <p:cNvPr id="25" name="Text 23"/>
          <p:cNvSpPr txBox="1"/>
          <p:nvPr/>
        </p:nvSpPr>
        <p:spPr>
          <a:xfrm>
            <a:off x="3611880" y="3456432"/>
            <a:ext cx="2926080" cy="4572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Steady voice, one small next step</a:t>
            </a:r>
            <a:endParaRPr lang="en-US" sz="1250" dirty="0"/>
          </a:p>
        </p:txBody>
      </p:sp>
      <p:sp>
        <p:nvSpPr>
          <p:cNvPr id="26" name="Shape 24"/>
          <p:cNvSpPr/>
          <p:nvPr/>
        </p:nvSpPr>
        <p:spPr>
          <a:xfrm>
            <a:off x="566928" y="3968496"/>
            <a:ext cx="5989320" cy="457200"/>
          </a:xfrm>
          <a:prstGeom prst="roundRect">
            <a:avLst>
              <a:gd name="adj" fmla="val 20000"/>
            </a:avLst>
          </a:prstGeom>
          <a:solidFill>
            <a:srgbClr val="F7F9FC"/>
          </a:solidFill>
          <a:ln w="9525">
            <a:solidFill>
              <a:srgbClr val="F7F9FC"/>
            </a:solidFill>
            <a:prstDash val="solid"/>
          </a:ln>
        </p:spPr>
      </p:sp>
      <p:sp>
        <p:nvSpPr>
          <p:cNvPr id="27" name="Shape 25"/>
          <p:cNvSpPr/>
          <p:nvPr/>
        </p:nvSpPr>
        <p:spPr>
          <a:xfrm>
            <a:off x="676656" y="4123944"/>
            <a:ext cx="146304" cy="146304"/>
          </a:xfrm>
          <a:prstGeom prst="ellipse">
            <a:avLst/>
          </a:prstGeom>
          <a:solidFill>
            <a:srgbClr val="14B8A6"/>
          </a:solidFill>
          <a:ln w="12700">
            <a:solidFill>
              <a:srgbClr val="14B8A6"/>
            </a:solidFill>
            <a:prstDash val="solid"/>
          </a:ln>
        </p:spPr>
      </p:sp>
      <p:sp>
        <p:nvSpPr>
          <p:cNvPr id="28" name="Text 26"/>
          <p:cNvSpPr txBox="1"/>
          <p:nvPr/>
        </p:nvSpPr>
        <p:spPr>
          <a:xfrm>
            <a:off x="886968" y="3968496"/>
            <a:ext cx="1280160" cy="457200"/>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Surprise</a:t>
            </a:r>
            <a:endParaRPr lang="en-US" sz="1400" dirty="0"/>
          </a:p>
        </p:txBody>
      </p:sp>
      <p:sp>
        <p:nvSpPr>
          <p:cNvPr id="29" name="Text 27"/>
          <p:cNvSpPr txBox="1"/>
          <p:nvPr/>
        </p:nvSpPr>
        <p:spPr>
          <a:xfrm>
            <a:off x="2148840" y="3968496"/>
            <a:ext cx="14173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Curious</a:t>
            </a:r>
            <a:endParaRPr lang="en-US" sz="1400" dirty="0"/>
          </a:p>
        </p:txBody>
      </p:sp>
      <p:sp>
        <p:nvSpPr>
          <p:cNvPr id="30" name="Text 28"/>
          <p:cNvSpPr txBox="1"/>
          <p:nvPr/>
        </p:nvSpPr>
        <p:spPr>
          <a:xfrm>
            <a:off x="3611880" y="3968496"/>
            <a:ext cx="2926080" cy="4572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Help them make sense of it</a:t>
            </a:r>
            <a:endParaRPr lang="en-US" sz="1250" dirty="0"/>
          </a:p>
        </p:txBody>
      </p:sp>
      <p:sp>
        <p:nvSpPr>
          <p:cNvPr id="31" name="Shape 29"/>
          <p:cNvSpPr/>
          <p:nvPr/>
        </p:nvSpPr>
        <p:spPr>
          <a:xfrm>
            <a:off x="676656" y="4636008"/>
            <a:ext cx="146304" cy="146304"/>
          </a:xfrm>
          <a:prstGeom prst="ellipse">
            <a:avLst/>
          </a:prstGeom>
          <a:solidFill>
            <a:srgbClr val="65A30D"/>
          </a:solidFill>
          <a:ln w="12700">
            <a:solidFill>
              <a:srgbClr val="65A30D"/>
            </a:solidFill>
            <a:prstDash val="solid"/>
          </a:ln>
        </p:spPr>
      </p:sp>
      <p:sp>
        <p:nvSpPr>
          <p:cNvPr id="32" name="Text 30"/>
          <p:cNvSpPr txBox="1"/>
          <p:nvPr/>
        </p:nvSpPr>
        <p:spPr>
          <a:xfrm>
            <a:off x="886968" y="4480560"/>
            <a:ext cx="1280160" cy="457200"/>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Disgust</a:t>
            </a:r>
            <a:endParaRPr lang="en-US" sz="1400" dirty="0"/>
          </a:p>
        </p:txBody>
      </p:sp>
      <p:sp>
        <p:nvSpPr>
          <p:cNvPr id="33" name="Text 31"/>
          <p:cNvSpPr txBox="1"/>
          <p:nvPr/>
        </p:nvSpPr>
        <p:spPr>
          <a:xfrm>
            <a:off x="2148840" y="4480560"/>
            <a:ext cx="14173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Understanding</a:t>
            </a:r>
            <a:endParaRPr lang="en-US" sz="1400" dirty="0"/>
          </a:p>
        </p:txBody>
      </p:sp>
      <p:sp>
        <p:nvSpPr>
          <p:cNvPr id="34" name="Text 32"/>
          <p:cNvSpPr txBox="1"/>
          <p:nvPr/>
        </p:nvSpPr>
        <p:spPr>
          <a:xfrm>
            <a:off x="3611880" y="4480560"/>
            <a:ext cx="2926080" cy="4572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Acknowledge without judging</a:t>
            </a:r>
            <a:endParaRPr lang="en-US" sz="1250" dirty="0"/>
          </a:p>
        </p:txBody>
      </p:sp>
      <p:sp>
        <p:nvSpPr>
          <p:cNvPr id="35" name="Shape 33"/>
          <p:cNvSpPr/>
          <p:nvPr/>
        </p:nvSpPr>
        <p:spPr>
          <a:xfrm>
            <a:off x="566928" y="4992624"/>
            <a:ext cx="5989320" cy="457200"/>
          </a:xfrm>
          <a:prstGeom prst="roundRect">
            <a:avLst>
              <a:gd name="adj" fmla="val 20000"/>
            </a:avLst>
          </a:prstGeom>
          <a:solidFill>
            <a:srgbClr val="F7F9FC"/>
          </a:solidFill>
          <a:ln w="9525">
            <a:solidFill>
              <a:srgbClr val="F7F9FC"/>
            </a:solidFill>
            <a:prstDash val="solid"/>
          </a:ln>
        </p:spPr>
      </p:sp>
      <p:sp>
        <p:nvSpPr>
          <p:cNvPr id="36" name="Shape 34"/>
          <p:cNvSpPr/>
          <p:nvPr/>
        </p:nvSpPr>
        <p:spPr>
          <a:xfrm>
            <a:off x="676656" y="5148072"/>
            <a:ext cx="146304" cy="146304"/>
          </a:xfrm>
          <a:prstGeom prst="ellipse">
            <a:avLst/>
          </a:prstGeom>
          <a:solidFill>
            <a:srgbClr val="6B7280"/>
          </a:solidFill>
          <a:ln w="12700">
            <a:solidFill>
              <a:srgbClr val="6B7280"/>
            </a:solidFill>
            <a:prstDash val="solid"/>
          </a:ln>
        </p:spPr>
      </p:sp>
      <p:sp>
        <p:nvSpPr>
          <p:cNvPr id="37" name="Text 35"/>
          <p:cNvSpPr txBox="1"/>
          <p:nvPr/>
        </p:nvSpPr>
        <p:spPr>
          <a:xfrm>
            <a:off x="886968" y="4992624"/>
            <a:ext cx="1280160" cy="457200"/>
          </a:xfrm>
          <a:prstGeom prst="rect">
            <a:avLst/>
          </a:prstGeom>
          <a:noFill/>
          <a:ln/>
        </p:spPr>
        <p:txBody>
          <a:bodyPr wrap="square" lIns="0" tIns="0" rIns="0" bIns="0" rtlCol="0" anchor="ctr"/>
          <a:lstStyle/>
          <a:p>
            <a:pPr indent="0" marL="0">
              <a:buNone/>
            </a:pPr>
            <a:r>
              <a:rPr lang="en-US" sz="1400" dirty="0">
                <a:solidFill>
                  <a:srgbClr val="1A1D23"/>
                </a:solidFill>
                <a:latin typeface="Calibri" pitchFamily="34" charset="0"/>
                <a:ea typeface="Calibri" pitchFamily="34" charset="-122"/>
                <a:cs typeface="Calibri" pitchFamily="34" charset="-120"/>
              </a:rPr>
              <a:t>Neutral</a:t>
            </a:r>
            <a:endParaRPr lang="en-US" sz="1400" dirty="0"/>
          </a:p>
        </p:txBody>
      </p:sp>
      <p:sp>
        <p:nvSpPr>
          <p:cNvPr id="38" name="Text 36"/>
          <p:cNvSpPr txBox="1"/>
          <p:nvPr/>
        </p:nvSpPr>
        <p:spPr>
          <a:xfrm>
            <a:off x="2148840" y="4992624"/>
            <a:ext cx="14173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Friendly</a:t>
            </a:r>
            <a:endParaRPr lang="en-US" sz="1400" dirty="0"/>
          </a:p>
        </p:txBody>
      </p:sp>
      <p:sp>
        <p:nvSpPr>
          <p:cNvPr id="39" name="Text 37"/>
          <p:cNvSpPr txBox="1"/>
          <p:nvPr/>
        </p:nvSpPr>
        <p:spPr>
          <a:xfrm>
            <a:off x="3611880" y="4992624"/>
            <a:ext cx="2926080" cy="4572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Clear and to the point</a:t>
            </a:r>
            <a:endParaRPr lang="en-US" sz="1250" dirty="0"/>
          </a:p>
        </p:txBody>
      </p:sp>
      <p:sp>
        <p:nvSpPr>
          <p:cNvPr id="40" name="Text 38"/>
          <p:cNvSpPr txBox="1"/>
          <p:nvPr/>
        </p:nvSpPr>
        <p:spPr>
          <a:xfrm>
            <a:off x="566928" y="5623560"/>
            <a:ext cx="5943600" cy="548640"/>
          </a:xfrm>
          <a:prstGeom prst="rect">
            <a:avLst/>
          </a:prstGeom>
          <a:noFill/>
          <a:ln/>
        </p:spPr>
        <p:txBody>
          <a:bodyPr wrap="square" lIns="0" tIns="0" rIns="0" bIns="0" rtlCol="0" anchor="t"/>
          <a:lstStyle/>
          <a:p>
            <a:pPr indent="0" marL="0">
              <a:buNone/>
            </a:pPr>
            <a:r>
              <a:rPr lang="en-US" sz="1350" dirty="0">
                <a:solidFill>
                  <a:srgbClr val="1A1D23"/>
                </a:solidFill>
                <a:latin typeface="Calibri" pitchFamily="34" charset="0"/>
                <a:ea typeface="Calibri" pitchFamily="34" charset="-122"/>
                <a:cs typeface="Calibri" pitchFamily="34" charset="-120"/>
              </a:rPr>
              <a:t>The instruction is added to the system prompt, so the LLM writes the reply in that tone from the start.</a:t>
            </a:r>
            <a:endParaRPr lang="en-US" sz="1350" dirty="0"/>
          </a:p>
        </p:txBody>
      </p:sp>
      <p:sp>
        <p:nvSpPr>
          <p:cNvPr id="41" name="Shape 39"/>
          <p:cNvSpPr/>
          <p:nvPr/>
        </p:nvSpPr>
        <p:spPr>
          <a:xfrm>
            <a:off x="6848856" y="1636776"/>
            <a:ext cx="4830775" cy="3466917"/>
          </a:xfrm>
          <a:prstGeom prst="roundRect">
            <a:avLst>
              <a:gd name="adj" fmla="val 2110"/>
            </a:avLst>
          </a:prstGeom>
          <a:solidFill>
            <a:srgbClr val="FFFFFF"/>
          </a:solidFill>
          <a:ln w="9525">
            <a:solidFill>
              <a:srgbClr val="DDE3ED"/>
            </a:solidFill>
            <a:prstDash val="solid"/>
          </a:ln>
          <a:effectLst>
            <a:outerShdw sx="100000" sy="100000" kx="0" ky="0" algn="bl" rotWithShape="0" blurRad="101600" dist="25400" dir="5400000">
              <a:srgbClr val="1E2761">
                <a:alpha val="12000"/>
              </a:srgbClr>
            </a:outerShdw>
          </a:effectLst>
        </p:spPr>
      </p:sp>
      <p:pic>
        <p:nvPicPr>
          <p:cNvPr id="42" name="Image 0" descr="D:\Claude_env\Project\Long-Term\docs\assets\jury2\chat_tones.png">    </p:cNvPr>
          <p:cNvPicPr>
            <a:picLocks noChangeAspect="1"/>
          </p:cNvPicPr>
          <p:nvPr/>
        </p:nvPicPr>
        <p:blipFill>
          <a:blip r:embed="rId1"/>
          <a:stretch>
            <a:fillRect/>
          </a:stretch>
        </p:blipFill>
        <p:spPr>
          <a:xfrm>
            <a:off x="6903720" y="1691640"/>
            <a:ext cx="4721047" cy="3357189"/>
          </a:xfrm>
          <a:prstGeom prst="rect">
            <a:avLst/>
          </a:prstGeom>
        </p:spPr>
      </p:pic>
      <p:sp>
        <p:nvSpPr>
          <p:cNvPr id="43" name="Text 40"/>
          <p:cNvSpPr txBox="1"/>
          <p:nvPr/>
        </p:nvSpPr>
        <p:spPr>
          <a:xfrm>
            <a:off x="6903720" y="5231709"/>
            <a:ext cx="4721047" cy="292608"/>
          </a:xfrm>
          <a:prstGeom prst="rect">
            <a:avLst/>
          </a:prstGeom>
          <a:noFill/>
          <a:ln/>
        </p:spPr>
        <p:txBody>
          <a:bodyPr wrap="square" lIns="0" tIns="0" rIns="0" bIns="0" rtlCol="0" anchor="t"/>
          <a:lstStyle/>
          <a:p>
            <a:pPr indent="0" marL="0">
              <a:buNone/>
            </a:pPr>
            <a:r>
              <a:rPr lang="en-US" sz="1100" i="1" dirty="0">
                <a:solidFill>
                  <a:srgbClr val="8B94A3"/>
                </a:solidFill>
                <a:latin typeface="Calibri" pitchFamily="34" charset="0"/>
                <a:ea typeface="Calibri" pitchFamily="34" charset="-122"/>
                <a:cs typeface="Calibri" pitchFamily="34" charset="-120"/>
              </a:rPr>
              <a:t>Three messages, three tones. The tag under each reply shows the tone used.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STEP 5, ESCALATION FOR DISTRESS</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Three levels of care</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66928" y="1645920"/>
            <a:ext cx="3520440" cy="3063240"/>
          </a:xfrm>
          <a:prstGeom prst="roundRect">
            <a:avLst>
              <a:gd name="adj" fmla="val 2985"/>
            </a:avLst>
          </a:prstGeom>
          <a:solidFill>
            <a:srgbClr val="ECFDF5"/>
          </a:solidFill>
          <a:ln w="9525">
            <a:solidFill>
              <a:srgbClr val="A7F3D0"/>
            </a:solidFill>
            <a:prstDash val="solid"/>
          </a:ln>
        </p:spPr>
      </p:sp>
      <p:sp>
        <p:nvSpPr>
          <p:cNvPr id="6" name="Shape 4"/>
          <p:cNvSpPr/>
          <p:nvPr/>
        </p:nvSpPr>
        <p:spPr>
          <a:xfrm>
            <a:off x="822960" y="1874520"/>
            <a:ext cx="384048" cy="384048"/>
          </a:xfrm>
          <a:prstGeom prst="ellipse">
            <a:avLst/>
          </a:prstGeom>
          <a:solidFill>
            <a:srgbClr val="047857"/>
          </a:solidFill>
          <a:ln w="12700">
            <a:solidFill>
              <a:srgbClr val="047857"/>
            </a:solidFill>
            <a:prstDash val="solid"/>
          </a:ln>
        </p:spPr>
      </p:sp>
      <p:sp>
        <p:nvSpPr>
          <p:cNvPr id="7" name="Text 5"/>
          <p:cNvSpPr txBox="1"/>
          <p:nvPr/>
        </p:nvSpPr>
        <p:spPr>
          <a:xfrm>
            <a:off x="822960" y="18745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a:t>
            </a:r>
            <a:endParaRPr lang="en-US" sz="1250" dirty="0"/>
          </a:p>
        </p:txBody>
      </p:sp>
      <p:sp>
        <p:nvSpPr>
          <p:cNvPr id="8" name="Text 6"/>
          <p:cNvSpPr txBox="1"/>
          <p:nvPr/>
        </p:nvSpPr>
        <p:spPr>
          <a:xfrm>
            <a:off x="1344168" y="1901952"/>
            <a:ext cx="2377440" cy="347472"/>
          </a:xfrm>
          <a:prstGeom prst="rect">
            <a:avLst/>
          </a:prstGeom>
          <a:noFill/>
          <a:ln/>
        </p:spPr>
        <p:txBody>
          <a:bodyPr wrap="square" lIns="0" tIns="0" rIns="0" bIns="0" rtlCol="0" anchor="t"/>
          <a:lstStyle/>
          <a:p>
            <a:pPr indent="0" marL="0">
              <a:buNone/>
            </a:pPr>
            <a:r>
              <a:rPr lang="en-US" sz="1900" b="1" dirty="0">
                <a:solidFill>
                  <a:srgbClr val="047857"/>
                </a:solidFill>
                <a:latin typeface="Calibri" pitchFamily="34" charset="0"/>
                <a:ea typeface="Calibri" pitchFamily="34" charset="-122"/>
                <a:cs typeface="Calibri" pitchFamily="34" charset="-120"/>
              </a:rPr>
              <a:t>Normal</a:t>
            </a:r>
            <a:endParaRPr lang="en-US" sz="1900" dirty="0"/>
          </a:p>
        </p:txBody>
      </p:sp>
      <p:sp>
        <p:nvSpPr>
          <p:cNvPr id="9" name="Text 7"/>
          <p:cNvSpPr txBox="1"/>
          <p:nvPr/>
        </p:nvSpPr>
        <p:spPr>
          <a:xfrm>
            <a:off x="841248" y="2514600"/>
            <a:ext cx="1828800" cy="219456"/>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WHEN</a:t>
            </a:r>
            <a:endParaRPr lang="en-US" sz="1050" dirty="0"/>
          </a:p>
        </p:txBody>
      </p:sp>
      <p:sp>
        <p:nvSpPr>
          <p:cNvPr id="10" name="Text 8"/>
          <p:cNvSpPr txBox="1"/>
          <p:nvPr/>
        </p:nvSpPr>
        <p:spPr>
          <a:xfrm>
            <a:off x="841248" y="2743200"/>
            <a:ext cx="3017520" cy="731520"/>
          </a:xfrm>
          <a:prstGeom prst="rect">
            <a:avLst/>
          </a:prstGeom>
          <a:noFill/>
          <a:ln/>
        </p:spPr>
        <p:txBody>
          <a:bodyPr wrap="square" lIns="0" tIns="0" rIns="0" bIns="0" rtlCol="0" anchor="t"/>
          <a:lstStyle/>
          <a:p>
            <a:pPr indent="0" marL="0">
              <a:buNone/>
            </a:pPr>
            <a:r>
              <a:rPr lang="en-US" sz="1350" dirty="0">
                <a:solidFill>
                  <a:srgbClr val="1A1D23"/>
                </a:solidFill>
                <a:latin typeface="Calibri" pitchFamily="34" charset="0"/>
                <a:ea typeface="Calibri" pitchFamily="34" charset="-122"/>
                <a:cs typeface="Calibri" pitchFamily="34" charset="-120"/>
              </a:rPr>
              <a:t>Any emotion, no sign of distress</a:t>
            </a:r>
            <a:endParaRPr lang="en-US" sz="1350" dirty="0"/>
          </a:p>
        </p:txBody>
      </p:sp>
      <p:sp>
        <p:nvSpPr>
          <p:cNvPr id="11" name="Text 9"/>
          <p:cNvSpPr txBox="1"/>
          <p:nvPr/>
        </p:nvSpPr>
        <p:spPr>
          <a:xfrm>
            <a:off x="841248" y="3520440"/>
            <a:ext cx="2743200" cy="219456"/>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WHAT THE BOT DOES</a:t>
            </a:r>
            <a:endParaRPr lang="en-US" sz="1050" dirty="0"/>
          </a:p>
        </p:txBody>
      </p:sp>
      <p:sp>
        <p:nvSpPr>
          <p:cNvPr id="12" name="Text 10"/>
          <p:cNvSpPr txBox="1"/>
          <p:nvPr/>
        </p:nvSpPr>
        <p:spPr>
          <a:xfrm>
            <a:off x="841248" y="3749040"/>
            <a:ext cx="3017520" cy="868680"/>
          </a:xfrm>
          <a:prstGeom prst="rect">
            <a:avLst/>
          </a:prstGeom>
          <a:noFill/>
          <a:ln/>
        </p:spPr>
        <p:txBody>
          <a:bodyPr wrap="square" lIns="0" tIns="0" rIns="0" bIns="0" rtlCol="0" anchor="t"/>
          <a:lstStyle/>
          <a:p>
            <a:pPr indent="0" marL="0">
              <a:buNone/>
            </a:pPr>
            <a:r>
              <a:rPr lang="en-US" sz="1350" dirty="0">
                <a:solidFill>
                  <a:srgbClr val="1A1D23"/>
                </a:solidFill>
                <a:latin typeface="Calibri" pitchFamily="34" charset="0"/>
                <a:ea typeface="Calibri" pitchFamily="34" charset="-122"/>
                <a:cs typeface="Calibri" pitchFamily="34" charset="-120"/>
              </a:rPr>
              <a:t>Adapts the tone. Nothing else changes.</a:t>
            </a:r>
            <a:endParaRPr lang="en-US" sz="1350" dirty="0"/>
          </a:p>
        </p:txBody>
      </p:sp>
      <p:sp>
        <p:nvSpPr>
          <p:cNvPr id="13" name="Shape 11"/>
          <p:cNvSpPr/>
          <p:nvPr/>
        </p:nvSpPr>
        <p:spPr>
          <a:xfrm>
            <a:off x="4334256" y="1645920"/>
            <a:ext cx="3520440" cy="3063240"/>
          </a:xfrm>
          <a:prstGeom prst="roundRect">
            <a:avLst>
              <a:gd name="adj" fmla="val 2985"/>
            </a:avLst>
          </a:prstGeom>
          <a:solidFill>
            <a:srgbClr val="FFFBEB"/>
          </a:solidFill>
          <a:ln w="9525">
            <a:solidFill>
              <a:srgbClr val="FCD9A4"/>
            </a:solidFill>
            <a:prstDash val="solid"/>
          </a:ln>
        </p:spPr>
      </p:sp>
      <p:sp>
        <p:nvSpPr>
          <p:cNvPr id="14" name="Shape 12"/>
          <p:cNvSpPr/>
          <p:nvPr/>
        </p:nvSpPr>
        <p:spPr>
          <a:xfrm>
            <a:off x="4590288" y="1874520"/>
            <a:ext cx="384048" cy="384048"/>
          </a:xfrm>
          <a:prstGeom prst="ellipse">
            <a:avLst/>
          </a:prstGeom>
          <a:solidFill>
            <a:srgbClr val="B45309"/>
          </a:solidFill>
          <a:ln w="12700">
            <a:solidFill>
              <a:srgbClr val="B45309"/>
            </a:solidFill>
            <a:prstDash val="solid"/>
          </a:ln>
        </p:spPr>
      </p:sp>
      <p:sp>
        <p:nvSpPr>
          <p:cNvPr id="15" name="Text 13"/>
          <p:cNvSpPr txBox="1"/>
          <p:nvPr/>
        </p:nvSpPr>
        <p:spPr>
          <a:xfrm>
            <a:off x="4590288" y="18745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6" name="Text 14"/>
          <p:cNvSpPr txBox="1"/>
          <p:nvPr/>
        </p:nvSpPr>
        <p:spPr>
          <a:xfrm>
            <a:off x="5111496" y="1901952"/>
            <a:ext cx="2377440" cy="347472"/>
          </a:xfrm>
          <a:prstGeom prst="rect">
            <a:avLst/>
          </a:prstGeom>
          <a:noFill/>
          <a:ln/>
        </p:spPr>
        <p:txBody>
          <a:bodyPr wrap="square" lIns="0" tIns="0" rIns="0" bIns="0" rtlCol="0" anchor="t"/>
          <a:lstStyle/>
          <a:p>
            <a:pPr indent="0" marL="0">
              <a:buNone/>
            </a:pPr>
            <a:r>
              <a:rPr lang="en-US" sz="1900" b="1" dirty="0">
                <a:solidFill>
                  <a:srgbClr val="B45309"/>
                </a:solidFill>
                <a:latin typeface="Calibri" pitchFamily="34" charset="0"/>
                <a:ea typeface="Calibri" pitchFamily="34" charset="-122"/>
                <a:cs typeface="Calibri" pitchFamily="34" charset="-120"/>
              </a:rPr>
              <a:t>Concern</a:t>
            </a:r>
            <a:endParaRPr lang="en-US" sz="1900" dirty="0"/>
          </a:p>
        </p:txBody>
      </p:sp>
      <p:sp>
        <p:nvSpPr>
          <p:cNvPr id="17" name="Text 15"/>
          <p:cNvSpPr txBox="1"/>
          <p:nvPr/>
        </p:nvSpPr>
        <p:spPr>
          <a:xfrm>
            <a:off x="4608576" y="2514600"/>
            <a:ext cx="1828800" cy="219456"/>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WHEN</a:t>
            </a:r>
            <a:endParaRPr lang="en-US" sz="1050" dirty="0"/>
          </a:p>
        </p:txBody>
      </p:sp>
      <p:sp>
        <p:nvSpPr>
          <p:cNvPr id="18" name="Text 16"/>
          <p:cNvSpPr txBox="1"/>
          <p:nvPr/>
        </p:nvSpPr>
        <p:spPr>
          <a:xfrm>
            <a:off x="4608576" y="2743200"/>
            <a:ext cx="3017520" cy="731520"/>
          </a:xfrm>
          <a:prstGeom prst="rect">
            <a:avLst/>
          </a:prstGeom>
          <a:noFill/>
          <a:ln/>
        </p:spPr>
        <p:txBody>
          <a:bodyPr wrap="square" lIns="0" tIns="0" rIns="0" bIns="0" rtlCol="0" anchor="t"/>
          <a:lstStyle/>
          <a:p>
            <a:pPr indent="0" marL="0">
              <a:buNone/>
            </a:pPr>
            <a:r>
              <a:rPr lang="en-US" sz="1350" dirty="0">
                <a:solidFill>
                  <a:srgbClr val="1A1D23"/>
                </a:solidFill>
                <a:latin typeface="Calibri" pitchFamily="34" charset="0"/>
                <a:ea typeface="Calibri" pitchFamily="34" charset="-122"/>
                <a:cs typeface="Calibri" pitchFamily="34" charset="-120"/>
              </a:rPr>
              <a:t>Three negative messages in a row, or the LLM sees the user is struggling</a:t>
            </a:r>
            <a:endParaRPr lang="en-US" sz="1350" dirty="0"/>
          </a:p>
        </p:txBody>
      </p:sp>
      <p:sp>
        <p:nvSpPr>
          <p:cNvPr id="19" name="Text 17"/>
          <p:cNvSpPr txBox="1"/>
          <p:nvPr/>
        </p:nvSpPr>
        <p:spPr>
          <a:xfrm>
            <a:off x="4608576" y="3520440"/>
            <a:ext cx="2743200" cy="219456"/>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WHAT THE BOT DOES</a:t>
            </a:r>
            <a:endParaRPr lang="en-US" sz="1050" dirty="0"/>
          </a:p>
        </p:txBody>
      </p:sp>
      <p:sp>
        <p:nvSpPr>
          <p:cNvPr id="20" name="Text 18"/>
          <p:cNvSpPr txBox="1"/>
          <p:nvPr/>
        </p:nvSpPr>
        <p:spPr>
          <a:xfrm>
            <a:off x="4608576" y="3749040"/>
            <a:ext cx="3017520" cy="868680"/>
          </a:xfrm>
          <a:prstGeom prst="rect">
            <a:avLst/>
          </a:prstGeom>
          <a:noFill/>
          <a:ln/>
        </p:spPr>
        <p:txBody>
          <a:bodyPr wrap="square" lIns="0" tIns="0" rIns="0" bIns="0" rtlCol="0" anchor="t"/>
          <a:lstStyle/>
          <a:p>
            <a:pPr indent="0" marL="0">
              <a:buNone/>
            </a:pPr>
            <a:r>
              <a:rPr lang="en-US" sz="1350" dirty="0">
                <a:solidFill>
                  <a:srgbClr val="1A1D23"/>
                </a:solidFill>
                <a:latin typeface="Calibri" pitchFamily="34" charset="0"/>
                <a:ea typeface="Calibri" pitchFamily="34" charset="-122"/>
                <a:cs typeface="Calibri" pitchFamily="34" charset="-120"/>
              </a:rPr>
              <a:t>Gentle check-in. Mentions that help is available, such as Tele-MANAS 14416.</a:t>
            </a:r>
            <a:endParaRPr lang="en-US" sz="1350" dirty="0"/>
          </a:p>
        </p:txBody>
      </p:sp>
      <p:sp>
        <p:nvSpPr>
          <p:cNvPr id="21" name="Shape 19"/>
          <p:cNvSpPr/>
          <p:nvPr/>
        </p:nvSpPr>
        <p:spPr>
          <a:xfrm>
            <a:off x="8101584" y="1645920"/>
            <a:ext cx="3520440" cy="3063240"/>
          </a:xfrm>
          <a:prstGeom prst="roundRect">
            <a:avLst>
              <a:gd name="adj" fmla="val 2985"/>
            </a:avLst>
          </a:prstGeom>
          <a:solidFill>
            <a:srgbClr val="FFF1F2"/>
          </a:solidFill>
          <a:ln w="9525">
            <a:solidFill>
              <a:srgbClr val="FECDD3"/>
            </a:solidFill>
            <a:prstDash val="solid"/>
          </a:ln>
        </p:spPr>
      </p:sp>
      <p:sp>
        <p:nvSpPr>
          <p:cNvPr id="22" name="Shape 20"/>
          <p:cNvSpPr/>
          <p:nvPr/>
        </p:nvSpPr>
        <p:spPr>
          <a:xfrm>
            <a:off x="8357616" y="1874520"/>
            <a:ext cx="384048" cy="384048"/>
          </a:xfrm>
          <a:prstGeom prst="ellipse">
            <a:avLst/>
          </a:prstGeom>
          <a:solidFill>
            <a:srgbClr val="BE123C"/>
          </a:solidFill>
          <a:ln w="12700">
            <a:solidFill>
              <a:srgbClr val="BE123C"/>
            </a:solidFill>
            <a:prstDash val="solid"/>
          </a:ln>
        </p:spPr>
      </p:sp>
      <p:sp>
        <p:nvSpPr>
          <p:cNvPr id="23" name="Text 21"/>
          <p:cNvSpPr txBox="1"/>
          <p:nvPr/>
        </p:nvSpPr>
        <p:spPr>
          <a:xfrm>
            <a:off x="8357616" y="18745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24" name="Text 22"/>
          <p:cNvSpPr txBox="1"/>
          <p:nvPr/>
        </p:nvSpPr>
        <p:spPr>
          <a:xfrm>
            <a:off x="8878824" y="1901952"/>
            <a:ext cx="2377440" cy="347472"/>
          </a:xfrm>
          <a:prstGeom prst="rect">
            <a:avLst/>
          </a:prstGeom>
          <a:noFill/>
          <a:ln/>
        </p:spPr>
        <p:txBody>
          <a:bodyPr wrap="square" lIns="0" tIns="0" rIns="0" bIns="0" rtlCol="0" anchor="t"/>
          <a:lstStyle/>
          <a:p>
            <a:pPr indent="0" marL="0">
              <a:buNone/>
            </a:pPr>
            <a:r>
              <a:rPr lang="en-US" sz="1900" b="1" dirty="0">
                <a:solidFill>
                  <a:srgbClr val="BE123C"/>
                </a:solidFill>
                <a:latin typeface="Calibri" pitchFamily="34" charset="0"/>
                <a:ea typeface="Calibri" pitchFamily="34" charset="-122"/>
                <a:cs typeface="Calibri" pitchFamily="34" charset="-120"/>
              </a:rPr>
              <a:t>Crisis</a:t>
            </a:r>
            <a:endParaRPr lang="en-US" sz="1900" dirty="0"/>
          </a:p>
        </p:txBody>
      </p:sp>
      <p:sp>
        <p:nvSpPr>
          <p:cNvPr id="25" name="Text 23"/>
          <p:cNvSpPr txBox="1"/>
          <p:nvPr/>
        </p:nvSpPr>
        <p:spPr>
          <a:xfrm>
            <a:off x="8375904" y="2514600"/>
            <a:ext cx="1828800" cy="219456"/>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WHEN</a:t>
            </a:r>
            <a:endParaRPr lang="en-US" sz="1050" dirty="0"/>
          </a:p>
        </p:txBody>
      </p:sp>
      <p:sp>
        <p:nvSpPr>
          <p:cNvPr id="26" name="Text 24"/>
          <p:cNvSpPr txBox="1"/>
          <p:nvPr/>
        </p:nvSpPr>
        <p:spPr>
          <a:xfrm>
            <a:off x="8375904" y="2743200"/>
            <a:ext cx="3017520" cy="731520"/>
          </a:xfrm>
          <a:prstGeom prst="rect">
            <a:avLst/>
          </a:prstGeom>
          <a:noFill/>
          <a:ln/>
        </p:spPr>
        <p:txBody>
          <a:bodyPr wrap="square" lIns="0" tIns="0" rIns="0" bIns="0" rtlCol="0" anchor="t"/>
          <a:lstStyle/>
          <a:p>
            <a:pPr indent="0" marL="0">
              <a:buNone/>
            </a:pPr>
            <a:r>
              <a:rPr lang="en-US" sz="1350" dirty="0">
                <a:solidFill>
                  <a:srgbClr val="1A1D23"/>
                </a:solidFill>
                <a:latin typeface="Calibri" pitchFamily="34" charset="0"/>
                <a:ea typeface="Calibri" pitchFamily="34" charset="-122"/>
                <a:cs typeface="Calibri" pitchFamily="34" charset="-120"/>
              </a:rPr>
              <a:t>Words about self-harm or not wanting to live</a:t>
            </a:r>
            <a:endParaRPr lang="en-US" sz="1350" dirty="0"/>
          </a:p>
        </p:txBody>
      </p:sp>
      <p:sp>
        <p:nvSpPr>
          <p:cNvPr id="27" name="Text 25"/>
          <p:cNvSpPr txBox="1"/>
          <p:nvPr/>
        </p:nvSpPr>
        <p:spPr>
          <a:xfrm>
            <a:off x="8375904" y="3520440"/>
            <a:ext cx="2743200" cy="219456"/>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WHAT THE BOT DOES</a:t>
            </a:r>
            <a:endParaRPr lang="en-US" sz="1050" dirty="0"/>
          </a:p>
        </p:txBody>
      </p:sp>
      <p:sp>
        <p:nvSpPr>
          <p:cNvPr id="28" name="Text 26"/>
          <p:cNvSpPr txBox="1"/>
          <p:nvPr/>
        </p:nvSpPr>
        <p:spPr>
          <a:xfrm>
            <a:off x="8375904" y="3749040"/>
            <a:ext cx="3017520" cy="868680"/>
          </a:xfrm>
          <a:prstGeom prst="rect">
            <a:avLst/>
          </a:prstGeom>
          <a:noFill/>
          <a:ln/>
        </p:spPr>
        <p:txBody>
          <a:bodyPr wrap="square" lIns="0" tIns="0" rIns="0" bIns="0" rtlCol="0" anchor="t"/>
          <a:lstStyle/>
          <a:p>
            <a:pPr indent="0" marL="0">
              <a:buNone/>
            </a:pPr>
            <a:r>
              <a:rPr lang="en-US" sz="1350" dirty="0">
                <a:solidFill>
                  <a:srgbClr val="1A1D23"/>
                </a:solidFill>
                <a:latin typeface="Calibri" pitchFamily="34" charset="0"/>
                <a:ea typeface="Calibri" pitchFamily="34" charset="-122"/>
                <a:cs typeface="Calibri" pitchFamily="34" charset="-120"/>
              </a:rPr>
              <a:t>Skips the LLM. Shows a fixed reply with helplines. The message is not stored.</a:t>
            </a:r>
            <a:endParaRPr lang="en-US" sz="1350" dirty="0"/>
          </a:p>
        </p:txBody>
      </p:sp>
      <p:sp>
        <p:nvSpPr>
          <p:cNvPr id="29" name="Shape 27"/>
          <p:cNvSpPr/>
          <p:nvPr/>
        </p:nvSpPr>
        <p:spPr>
          <a:xfrm>
            <a:off x="566928" y="4983480"/>
            <a:ext cx="11057839" cy="1051560"/>
          </a:xfrm>
          <a:prstGeom prst="roundRect">
            <a:avLst>
              <a:gd name="adj" fmla="val 8696"/>
            </a:avLst>
          </a:prstGeom>
          <a:solidFill>
            <a:srgbClr val="1E2761"/>
          </a:solidFill>
          <a:ln w="9525">
            <a:solidFill>
              <a:srgbClr val="1E2761"/>
            </a:solidFill>
            <a:prstDash val="solid"/>
          </a:ln>
        </p:spPr>
      </p:sp>
      <p:sp>
        <p:nvSpPr>
          <p:cNvPr id="30" name="Text 28"/>
          <p:cNvSpPr txBox="1"/>
          <p:nvPr/>
        </p:nvSpPr>
        <p:spPr>
          <a:xfrm>
            <a:off x="886968" y="5120640"/>
            <a:ext cx="10058400" cy="310896"/>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Why a crisis uses fixed rules, not the LLM</a:t>
            </a:r>
            <a:endParaRPr lang="en-US" sz="1550" dirty="0"/>
          </a:p>
        </p:txBody>
      </p:sp>
      <p:sp>
        <p:nvSpPr>
          <p:cNvPr id="31" name="Text 29"/>
          <p:cNvSpPr txBox="1"/>
          <p:nvPr/>
        </p:nvSpPr>
        <p:spPr>
          <a:xfrm>
            <a:off x="886968" y="5440680"/>
            <a:ext cx="10417759" cy="548640"/>
          </a:xfrm>
          <a:prstGeom prst="rect">
            <a:avLst/>
          </a:prstGeom>
          <a:noFill/>
          <a:ln/>
        </p:spPr>
        <p:txBody>
          <a:bodyPr wrap="square" lIns="0" tIns="0" rIns="0" bIns="0" rtlCol="0" anchor="t"/>
          <a:lstStyle/>
          <a:p>
            <a:pPr indent="0" marL="0">
              <a:buNone/>
            </a:pPr>
            <a:r>
              <a:rPr lang="en-US" sz="1350" dirty="0">
                <a:solidFill>
                  <a:srgbClr val="CADCFC"/>
                </a:solidFill>
                <a:latin typeface="Calibri" pitchFamily="34" charset="0"/>
                <a:ea typeface="Calibri" pitchFamily="34" charset="-122"/>
                <a:cs typeface="Calibri" pitchFamily="34" charset="-120"/>
              </a:rPr>
              <a:t>A model can misread a message, run out of tokens or lose its connection. A reply to someone in crisis cannot depend on any of that, so it is written once, checked, and always shown the same way.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STEP 5, IN THE APP</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the user sees in a crisis</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12064" y="1636776"/>
            <a:ext cx="7013448" cy="3147365"/>
          </a:xfrm>
          <a:prstGeom prst="roundRect">
            <a:avLst>
              <a:gd name="adj" fmla="val 2324"/>
            </a:avLst>
          </a:prstGeom>
          <a:solidFill>
            <a:srgbClr val="FFFFFF"/>
          </a:solidFill>
          <a:ln w="9525">
            <a:solidFill>
              <a:srgbClr val="DDE3ED"/>
            </a:solidFill>
            <a:prstDash val="solid"/>
          </a:ln>
          <a:effectLst>
            <a:outerShdw sx="100000" sy="100000" kx="0" ky="0" algn="bl" rotWithShape="0" blurRad="101600" dist="25400" dir="5400000">
              <a:srgbClr val="1E2761">
                <a:alpha val="12000"/>
              </a:srgbClr>
            </a:outerShdw>
          </a:effectLst>
        </p:spPr>
      </p:sp>
      <p:pic>
        <p:nvPicPr>
          <p:cNvPr id="6" name="Image 0" descr="D:\Claude_env\Project\Long-Term\docs\assets\jury2\chat_crisis.png">    </p:cNvPr>
          <p:cNvPicPr>
            <a:picLocks noChangeAspect="1"/>
          </p:cNvPicPr>
          <p:nvPr/>
        </p:nvPicPr>
        <p:blipFill>
          <a:blip r:embed="rId1"/>
          <a:stretch>
            <a:fillRect/>
          </a:stretch>
        </p:blipFill>
        <p:spPr>
          <a:xfrm>
            <a:off x="566928" y="1691640"/>
            <a:ext cx="6903720" cy="3037637"/>
          </a:xfrm>
          <a:prstGeom prst="rect">
            <a:avLst/>
          </a:prstGeom>
        </p:spPr>
      </p:pic>
      <p:sp>
        <p:nvSpPr>
          <p:cNvPr id="7" name="Text 4"/>
          <p:cNvSpPr txBox="1"/>
          <p:nvPr/>
        </p:nvSpPr>
        <p:spPr>
          <a:xfrm>
            <a:off x="566928" y="5095037"/>
            <a:ext cx="2240280" cy="292608"/>
          </a:xfrm>
          <a:prstGeom prst="rect">
            <a:avLst/>
          </a:prstGeom>
          <a:noFill/>
          <a:ln/>
        </p:spPr>
        <p:txBody>
          <a:bodyPr wrap="square" lIns="0" tIns="0" rIns="0" bIns="0" rtlCol="0" anchor="t"/>
          <a:lstStyle/>
          <a:p>
            <a:pPr indent="0" marL="0">
              <a:buNone/>
            </a:pPr>
            <a:r>
              <a:rPr lang="en-US" sz="1450" b="1" dirty="0">
                <a:solidFill>
                  <a:srgbClr val="1E2761"/>
                </a:solidFill>
                <a:latin typeface="Calibri" pitchFamily="34" charset="0"/>
                <a:ea typeface="Calibri" pitchFamily="34" charset="-122"/>
                <a:cs typeface="Calibri" pitchFamily="34" charset="-120"/>
              </a:rPr>
              <a:t>Helplines first</a:t>
            </a:r>
            <a:endParaRPr lang="en-US" sz="1450" dirty="0"/>
          </a:p>
        </p:txBody>
      </p:sp>
      <p:sp>
        <p:nvSpPr>
          <p:cNvPr id="8" name="Text 5"/>
          <p:cNvSpPr txBox="1"/>
          <p:nvPr/>
        </p:nvSpPr>
        <p:spPr>
          <a:xfrm>
            <a:off x="566928" y="5405933"/>
            <a:ext cx="219456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Large numbers that can be read at a glance</a:t>
            </a:r>
            <a:endParaRPr lang="en-US" sz="1300" dirty="0"/>
          </a:p>
        </p:txBody>
      </p:sp>
      <p:sp>
        <p:nvSpPr>
          <p:cNvPr id="9" name="Text 6"/>
          <p:cNvSpPr txBox="1"/>
          <p:nvPr/>
        </p:nvSpPr>
        <p:spPr>
          <a:xfrm>
            <a:off x="2944368" y="5095037"/>
            <a:ext cx="2240280" cy="292608"/>
          </a:xfrm>
          <a:prstGeom prst="rect">
            <a:avLst/>
          </a:prstGeom>
          <a:noFill/>
          <a:ln/>
        </p:spPr>
        <p:txBody>
          <a:bodyPr wrap="square" lIns="0" tIns="0" rIns="0" bIns="0" rtlCol="0" anchor="t"/>
          <a:lstStyle/>
          <a:p>
            <a:pPr indent="0" marL="0">
              <a:buNone/>
            </a:pPr>
            <a:r>
              <a:rPr lang="en-US" sz="1450" b="1" dirty="0">
                <a:solidFill>
                  <a:srgbClr val="1E2761"/>
                </a:solidFill>
                <a:latin typeface="Calibri" pitchFamily="34" charset="0"/>
                <a:ea typeface="Calibri" pitchFamily="34" charset="-122"/>
                <a:cs typeface="Calibri" pitchFamily="34" charset="-120"/>
              </a:rPr>
              <a:t>Calm, not alarming</a:t>
            </a:r>
            <a:endParaRPr lang="en-US" sz="1450" dirty="0"/>
          </a:p>
        </p:txBody>
      </p:sp>
      <p:sp>
        <p:nvSpPr>
          <p:cNvPr id="10" name="Text 7"/>
          <p:cNvSpPr txBox="1"/>
          <p:nvPr/>
        </p:nvSpPr>
        <p:spPr>
          <a:xfrm>
            <a:off x="2944368" y="5405933"/>
            <a:ext cx="219456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Soft colours and kind words</a:t>
            </a:r>
            <a:endParaRPr lang="en-US" sz="1300" dirty="0"/>
          </a:p>
        </p:txBody>
      </p:sp>
      <p:sp>
        <p:nvSpPr>
          <p:cNvPr id="11" name="Text 8"/>
          <p:cNvSpPr txBox="1"/>
          <p:nvPr/>
        </p:nvSpPr>
        <p:spPr>
          <a:xfrm>
            <a:off x="5321808" y="5095037"/>
            <a:ext cx="2240280" cy="292608"/>
          </a:xfrm>
          <a:prstGeom prst="rect">
            <a:avLst/>
          </a:prstGeom>
          <a:noFill/>
          <a:ln/>
        </p:spPr>
        <p:txBody>
          <a:bodyPr wrap="square" lIns="0" tIns="0" rIns="0" bIns="0" rtlCol="0" anchor="t"/>
          <a:lstStyle/>
          <a:p>
            <a:pPr indent="0" marL="0">
              <a:buNone/>
            </a:pPr>
            <a:r>
              <a:rPr lang="en-US" sz="1450" b="1" dirty="0">
                <a:solidFill>
                  <a:srgbClr val="1E2761"/>
                </a:solidFill>
                <a:latin typeface="Calibri" pitchFamily="34" charset="0"/>
                <a:ea typeface="Calibri" pitchFamily="34" charset="-122"/>
                <a:cs typeface="Calibri" pitchFamily="34" charset="-120"/>
              </a:rPr>
              <a:t>Honest about its source</a:t>
            </a:r>
            <a:endParaRPr lang="en-US" sz="1450" dirty="0"/>
          </a:p>
        </p:txBody>
      </p:sp>
      <p:sp>
        <p:nvSpPr>
          <p:cNvPr id="12" name="Text 9"/>
          <p:cNvSpPr txBox="1"/>
          <p:nvPr/>
        </p:nvSpPr>
        <p:spPr>
          <a:xfrm>
            <a:off x="5321808" y="5405933"/>
            <a:ext cx="2194560" cy="5486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Marked as a fixed reply, not AI generated</a:t>
            </a:r>
            <a:endParaRPr lang="en-US" sz="1300" dirty="0"/>
          </a:p>
        </p:txBody>
      </p:sp>
      <p:sp>
        <p:nvSpPr>
          <p:cNvPr id="13" name="Shape 10"/>
          <p:cNvSpPr/>
          <p:nvPr/>
        </p:nvSpPr>
        <p:spPr>
          <a:xfrm>
            <a:off x="8174736" y="1636776"/>
            <a:ext cx="3504895" cy="4292385"/>
          </a:xfrm>
          <a:prstGeom prst="roundRect">
            <a:avLst>
              <a:gd name="adj" fmla="val 2087"/>
            </a:avLst>
          </a:prstGeom>
          <a:solidFill>
            <a:srgbClr val="FFFFFF"/>
          </a:solidFill>
          <a:ln w="9525">
            <a:solidFill>
              <a:srgbClr val="DDE3ED"/>
            </a:solidFill>
            <a:prstDash val="solid"/>
          </a:ln>
          <a:effectLst>
            <a:outerShdw sx="100000" sy="100000" kx="0" ky="0" algn="bl" rotWithShape="0" blurRad="101600" dist="25400" dir="5400000">
              <a:srgbClr val="1E2761">
                <a:alpha val="12000"/>
              </a:srgbClr>
            </a:outerShdw>
          </a:effectLst>
        </p:spPr>
      </p:sp>
      <p:pic>
        <p:nvPicPr>
          <p:cNvPr id="14" name="Image 1" descr="D:\Claude_env\Project\Long-Term\docs\assets\jury2\fig_crisis_panel.png">    </p:cNvPr>
          <p:cNvPicPr>
            <a:picLocks noChangeAspect="1"/>
          </p:cNvPicPr>
          <p:nvPr/>
        </p:nvPicPr>
        <p:blipFill>
          <a:blip r:embed="rId2"/>
          <a:stretch>
            <a:fillRect/>
          </a:stretch>
        </p:blipFill>
        <p:spPr>
          <a:xfrm>
            <a:off x="8229600" y="1691640"/>
            <a:ext cx="3395167" cy="4182657"/>
          </a:xfrm>
          <a:prstGeom prst="rect">
            <a:avLst/>
          </a:prstGeom>
        </p:spPr>
      </p:pic>
      <p:sp>
        <p:nvSpPr>
          <p:cNvPr id="15" name="Text 11"/>
          <p:cNvSpPr txBox="1"/>
          <p:nvPr/>
        </p:nvSpPr>
        <p:spPr>
          <a:xfrm>
            <a:off x="8229600" y="6020601"/>
            <a:ext cx="3395167" cy="292608"/>
          </a:xfrm>
          <a:prstGeom prst="rect">
            <a:avLst/>
          </a:prstGeom>
          <a:noFill/>
          <a:ln/>
        </p:spPr>
        <p:txBody>
          <a:bodyPr wrap="square" lIns="0" tIns="0" rIns="0" bIns="0" rtlCol="0" anchor="t"/>
          <a:lstStyle/>
          <a:p>
            <a:pPr indent="0" marL="0">
              <a:buNone/>
            </a:pPr>
            <a:r>
              <a:rPr lang="en-US" sz="1100" i="1" dirty="0">
                <a:solidFill>
                  <a:srgbClr val="8B94A3"/>
                </a:solidFill>
                <a:latin typeface="Calibri" pitchFamily="34" charset="0"/>
                <a:ea typeface="Calibri" pitchFamily="34" charset="-122"/>
                <a:cs typeface="Calibri" pitchFamily="34" charset="-120"/>
              </a:rPr>
              <a:t>The LLM was skipped. The matched phrase is shown.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LONG-TERM MEMORY OF EMOTION</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It remembers how you felt, not only what you said</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12064" y="1636776"/>
            <a:ext cx="7013448" cy="2211527"/>
          </a:xfrm>
          <a:prstGeom prst="roundRect">
            <a:avLst>
              <a:gd name="adj" fmla="val 3308"/>
            </a:avLst>
          </a:prstGeom>
          <a:solidFill>
            <a:srgbClr val="FFFFFF"/>
          </a:solidFill>
          <a:ln w="9525">
            <a:solidFill>
              <a:srgbClr val="DDE3ED"/>
            </a:solidFill>
            <a:prstDash val="solid"/>
          </a:ln>
          <a:effectLst>
            <a:outerShdw sx="100000" sy="100000" kx="0" ky="0" algn="bl" rotWithShape="0" blurRad="101600" dist="25400" dir="5400000">
              <a:srgbClr val="1E2761">
                <a:alpha val="12000"/>
              </a:srgbClr>
            </a:outerShdw>
          </a:effectLst>
        </p:spPr>
      </p:sp>
      <p:pic>
        <p:nvPicPr>
          <p:cNvPr id="6" name="Image 0" descr="D:\Claude_env\Project\Long-Term\docs\assets\jury2\chat_follow_up.png">    </p:cNvPr>
          <p:cNvPicPr>
            <a:picLocks noChangeAspect="1"/>
          </p:cNvPicPr>
          <p:nvPr/>
        </p:nvPicPr>
        <p:blipFill>
          <a:blip r:embed="rId1"/>
          <a:stretch>
            <a:fillRect/>
          </a:stretch>
        </p:blipFill>
        <p:spPr>
          <a:xfrm>
            <a:off x="566928" y="1691640"/>
            <a:ext cx="6903720" cy="2101799"/>
          </a:xfrm>
          <a:prstGeom prst="rect">
            <a:avLst/>
          </a:prstGeom>
        </p:spPr>
      </p:pic>
      <p:sp>
        <p:nvSpPr>
          <p:cNvPr id="7" name="Text 4"/>
          <p:cNvSpPr txBox="1"/>
          <p:nvPr/>
        </p:nvSpPr>
        <p:spPr>
          <a:xfrm>
            <a:off x="566928" y="3958031"/>
            <a:ext cx="6903720" cy="292608"/>
          </a:xfrm>
          <a:prstGeom prst="rect">
            <a:avLst/>
          </a:prstGeom>
          <a:noFill/>
          <a:ln/>
        </p:spPr>
        <p:txBody>
          <a:bodyPr wrap="square" lIns="0" tIns="0" rIns="0" bIns="0" rtlCol="0" anchor="t"/>
          <a:lstStyle/>
          <a:p>
            <a:pPr indent="0" marL="0">
              <a:buNone/>
            </a:pPr>
            <a:r>
              <a:rPr lang="en-US" sz="1100" i="1" dirty="0">
                <a:solidFill>
                  <a:srgbClr val="8B94A3"/>
                </a:solidFill>
                <a:latin typeface="Calibri" pitchFamily="34" charset="0"/>
                <a:ea typeface="Calibri" pitchFamily="34" charset="-122"/>
                <a:cs typeface="Calibri" pitchFamily="34" charset="-120"/>
              </a:rPr>
              <a:t>A new session clears recent messages. The bot still recalls the internship from long-term memory.</a:t>
            </a:r>
            <a:endParaRPr lang="en-US" sz="1100" dirty="0"/>
          </a:p>
        </p:txBody>
      </p:sp>
      <p:sp>
        <p:nvSpPr>
          <p:cNvPr id="8" name="Shape 5"/>
          <p:cNvSpPr/>
          <p:nvPr/>
        </p:nvSpPr>
        <p:spPr>
          <a:xfrm>
            <a:off x="512064" y="4515815"/>
            <a:ext cx="4864608" cy="826217"/>
          </a:xfrm>
          <a:prstGeom prst="roundRect">
            <a:avLst>
              <a:gd name="adj" fmla="val 8854"/>
            </a:avLst>
          </a:prstGeom>
          <a:solidFill>
            <a:srgbClr val="FFFFFF"/>
          </a:solidFill>
          <a:ln w="9525">
            <a:solidFill>
              <a:srgbClr val="DDE3ED"/>
            </a:solidFill>
            <a:prstDash val="solid"/>
          </a:ln>
          <a:effectLst>
            <a:outerShdw sx="100000" sy="100000" kx="0" ky="0" algn="bl" rotWithShape="0" blurRad="101600" dist="25400" dir="5400000">
              <a:srgbClr val="1E2761">
                <a:alpha val="12000"/>
              </a:srgbClr>
            </a:outerShdw>
          </a:effectLst>
        </p:spPr>
      </p:sp>
      <p:pic>
        <p:nvPicPr>
          <p:cNvPr id="9" name="Image 1" descr="D:\Claude_env\Project\Long-Term\docs\assets\jury2\fig_timeline.png">    </p:cNvPr>
          <p:cNvPicPr>
            <a:picLocks noChangeAspect="1"/>
          </p:cNvPicPr>
          <p:nvPr/>
        </p:nvPicPr>
        <p:blipFill>
          <a:blip r:embed="rId2"/>
          <a:stretch>
            <a:fillRect/>
          </a:stretch>
        </p:blipFill>
        <p:spPr>
          <a:xfrm>
            <a:off x="566928" y="4570679"/>
            <a:ext cx="4754880" cy="716489"/>
          </a:xfrm>
          <a:prstGeom prst="rect">
            <a:avLst/>
          </a:prstGeom>
        </p:spPr>
      </p:pic>
      <p:sp>
        <p:nvSpPr>
          <p:cNvPr id="10" name="Text 6"/>
          <p:cNvSpPr txBox="1"/>
          <p:nvPr/>
        </p:nvSpPr>
        <p:spPr>
          <a:xfrm>
            <a:off x="566928" y="5470048"/>
            <a:ext cx="6903720" cy="292608"/>
          </a:xfrm>
          <a:prstGeom prst="rect">
            <a:avLst/>
          </a:prstGeom>
          <a:noFill/>
          <a:ln/>
        </p:spPr>
        <p:txBody>
          <a:bodyPr wrap="square" lIns="0" tIns="0" rIns="0" bIns="0" rtlCol="0" anchor="t"/>
          <a:lstStyle/>
          <a:p>
            <a:pPr indent="0" marL="0">
              <a:buNone/>
            </a:pPr>
            <a:r>
              <a:rPr lang="en-US" sz="1100" i="1" dirty="0">
                <a:solidFill>
                  <a:srgbClr val="8B94A3"/>
                </a:solidFill>
                <a:latin typeface="Calibri" pitchFamily="34" charset="0"/>
                <a:ea typeface="Calibri" pitchFamily="34" charset="-122"/>
                <a:cs typeface="Calibri" pitchFamily="34" charset="-120"/>
              </a:rPr>
              <a:t>Each dot is one message. S1 and S2 are separate sessions. The ring marks a crisis.</a:t>
            </a:r>
            <a:endParaRPr lang="en-US" sz="1100" dirty="0"/>
          </a:p>
        </p:txBody>
      </p:sp>
      <p:sp>
        <p:nvSpPr>
          <p:cNvPr id="11" name="Shape 7"/>
          <p:cNvSpPr/>
          <p:nvPr/>
        </p:nvSpPr>
        <p:spPr>
          <a:xfrm>
            <a:off x="8001000" y="1645920"/>
            <a:ext cx="3623767" cy="4114800"/>
          </a:xfrm>
          <a:prstGeom prst="roundRect">
            <a:avLst>
              <a:gd name="adj" fmla="val 2523"/>
            </a:avLst>
          </a:prstGeom>
          <a:solidFill>
            <a:srgbClr val="EEF2FB"/>
          </a:solidFill>
          <a:ln w="9525">
            <a:solidFill>
              <a:srgbClr val="CADCFC"/>
            </a:solidFill>
            <a:prstDash val="solid"/>
          </a:ln>
        </p:spPr>
      </p:sp>
      <p:sp>
        <p:nvSpPr>
          <p:cNvPr id="12" name="Text 8"/>
          <p:cNvSpPr txBox="1"/>
          <p:nvPr/>
        </p:nvSpPr>
        <p:spPr>
          <a:xfrm>
            <a:off x="8275320" y="1828800"/>
            <a:ext cx="3075127" cy="329184"/>
          </a:xfrm>
          <a:prstGeom prst="rect">
            <a:avLst/>
          </a:prstGeom>
          <a:noFill/>
          <a:ln/>
        </p:spPr>
        <p:txBody>
          <a:bodyPr wrap="square" lIns="0" tIns="0" rIns="0" bIns="0" rtlCol="0" anchor="t"/>
          <a:lstStyle/>
          <a:p>
            <a:pPr indent="0" marL="0">
              <a:buNone/>
            </a:pPr>
            <a:r>
              <a:rPr lang="en-US" sz="1600" b="1" dirty="0">
                <a:solidFill>
                  <a:srgbClr val="1E2761"/>
                </a:solidFill>
                <a:latin typeface="Calibri" pitchFamily="34" charset="0"/>
                <a:ea typeface="Calibri" pitchFamily="34" charset="-122"/>
                <a:cs typeface="Calibri" pitchFamily="34" charset="-120"/>
              </a:rPr>
              <a:t>What is stored</a:t>
            </a:r>
            <a:endParaRPr lang="en-US" sz="1600" dirty="0"/>
          </a:p>
        </p:txBody>
      </p:sp>
      <p:sp>
        <p:nvSpPr>
          <p:cNvPr id="13" name="Text 9"/>
          <p:cNvSpPr txBox="1"/>
          <p:nvPr/>
        </p:nvSpPr>
        <p:spPr>
          <a:xfrm>
            <a:off x="8275320" y="2240280"/>
            <a:ext cx="3075127" cy="20116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1D23"/>
                </a:solidFill>
                <a:latin typeface="Calibri" pitchFamily="34" charset="0"/>
                <a:ea typeface="Calibri" pitchFamily="34" charset="-122"/>
                <a:cs typeface="Calibri" pitchFamily="34" charset="-120"/>
              </a:rPr>
              <a:t>The emotion and its confidence</a:t>
            </a:r>
            <a:endParaRPr lang="en-US" sz="1350" dirty="0"/>
          </a:p>
          <a:p>
            <a:pPr marL="177800" indent="-177800">
              <a:spcAft>
                <a:spcPts val="800"/>
              </a:spcAft>
              <a:buSzPct val="100000"/>
              <a:buChar char="•"/>
            </a:pPr>
            <a:r>
              <a:rPr lang="en-US" sz="1350" dirty="0">
                <a:solidFill>
                  <a:srgbClr val="1A1D23"/>
                </a:solidFill>
                <a:latin typeface="Calibri" pitchFamily="34" charset="0"/>
                <a:ea typeface="Calibri" pitchFamily="34" charset="-122"/>
                <a:cs typeface="Calibri" pitchFamily="34" charset="-120"/>
              </a:rPr>
              <a:t>A short reason, such as worried about exam results</a:t>
            </a:r>
            <a:endParaRPr lang="en-US" sz="1350" dirty="0"/>
          </a:p>
          <a:p>
            <a:pPr marL="177800" indent="-177800">
              <a:spcAft>
                <a:spcPts val="800"/>
              </a:spcAft>
              <a:buSzPct val="100000"/>
              <a:buChar char="•"/>
            </a:pPr>
            <a:r>
              <a:rPr lang="en-US" sz="1350" dirty="0">
                <a:solidFill>
                  <a:srgbClr val="1A1D23"/>
                </a:solidFill>
                <a:latin typeface="Calibri" pitchFamily="34" charset="0"/>
                <a:ea typeface="Calibri" pitchFamily="34" charset="-122"/>
                <a:cs typeface="Calibri" pitchFamily="34" charset="-120"/>
              </a:rPr>
              <a:t>Never the message itself</a:t>
            </a:r>
            <a:endParaRPr lang="en-US" sz="1350" dirty="0"/>
          </a:p>
          <a:p>
            <a:pPr marL="177800" indent="-177800">
              <a:spcAft>
                <a:spcPts val="800"/>
              </a:spcAft>
              <a:buSzPct val="100000"/>
              <a:buChar char="•"/>
            </a:pPr>
            <a:r>
              <a:rPr lang="en-US" sz="1350" dirty="0">
                <a:solidFill>
                  <a:srgbClr val="1A1D23"/>
                </a:solidFill>
                <a:latin typeface="Calibri" pitchFamily="34" charset="0"/>
                <a:ea typeface="Calibri" pitchFamily="34" charset="-122"/>
                <a:cs typeface="Calibri" pitchFamily="34" charset="-120"/>
              </a:rPr>
              <a:t>For a crisis, only the note: distress flagged</a:t>
            </a:r>
            <a:endParaRPr lang="en-US" sz="1350" dirty="0"/>
          </a:p>
        </p:txBody>
      </p:sp>
      <p:sp>
        <p:nvSpPr>
          <p:cNvPr id="14" name="Text 10"/>
          <p:cNvSpPr txBox="1"/>
          <p:nvPr/>
        </p:nvSpPr>
        <p:spPr>
          <a:xfrm>
            <a:off x="8275320" y="4069080"/>
            <a:ext cx="3075127" cy="329184"/>
          </a:xfrm>
          <a:prstGeom prst="rect">
            <a:avLst/>
          </a:prstGeom>
          <a:noFill/>
          <a:ln/>
        </p:spPr>
        <p:txBody>
          <a:bodyPr wrap="square" lIns="0" tIns="0" rIns="0" bIns="0" rtlCol="0" anchor="t"/>
          <a:lstStyle/>
          <a:p>
            <a:pPr indent="0" marL="0">
              <a:buNone/>
            </a:pPr>
            <a:r>
              <a:rPr lang="en-US" sz="1600" b="1" dirty="0">
                <a:solidFill>
                  <a:srgbClr val="1E2761"/>
                </a:solidFill>
                <a:latin typeface="Calibri" pitchFamily="34" charset="0"/>
                <a:ea typeface="Calibri" pitchFamily="34" charset="-122"/>
                <a:cs typeface="Calibri" pitchFamily="34" charset="-120"/>
              </a:rPr>
              <a:t>Why it matters</a:t>
            </a:r>
            <a:endParaRPr lang="en-US" sz="1600" dirty="0"/>
          </a:p>
        </p:txBody>
      </p:sp>
      <p:sp>
        <p:nvSpPr>
          <p:cNvPr id="15" name="Text 11"/>
          <p:cNvSpPr txBox="1"/>
          <p:nvPr/>
        </p:nvSpPr>
        <p:spPr>
          <a:xfrm>
            <a:off x="8275320" y="4434840"/>
            <a:ext cx="3075127" cy="1005840"/>
          </a:xfrm>
          <a:prstGeom prst="rect">
            <a:avLst/>
          </a:prstGeom>
          <a:noFill/>
          <a:ln/>
        </p:spPr>
        <p:txBody>
          <a:bodyPr wrap="square" lIns="0" tIns="0" rIns="0" bIns="0" rtlCol="0" anchor="t"/>
          <a:lstStyle/>
          <a:p>
            <a:pPr indent="0" marL="0">
              <a:buNone/>
            </a:pPr>
            <a:r>
              <a:rPr lang="en-US" sz="1350" dirty="0">
                <a:solidFill>
                  <a:srgbClr val="1A1D23"/>
                </a:solidFill>
                <a:latin typeface="Calibri" pitchFamily="34" charset="0"/>
                <a:ea typeface="Calibri" pitchFamily="34" charset="-122"/>
                <a:cs typeface="Calibri" pitchFamily="34" charset="-120"/>
              </a:rPr>
              <a:t>In the next session the bot can ask how the exam went, instead of starting cold.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STEP 4, TESTING</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Results</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66928" y="1691640"/>
            <a:ext cx="2606040" cy="1280160"/>
          </a:xfrm>
          <a:prstGeom prst="roundRect">
            <a:avLst>
              <a:gd name="adj" fmla="val 7143"/>
            </a:avLst>
          </a:prstGeom>
          <a:solidFill>
            <a:srgbClr val="F7F9FC"/>
          </a:solidFill>
          <a:ln w="9525">
            <a:solidFill>
              <a:srgbClr val="DDE3ED"/>
            </a:solidFill>
            <a:prstDash val="solid"/>
          </a:ln>
        </p:spPr>
      </p:sp>
      <p:sp>
        <p:nvSpPr>
          <p:cNvPr id="6" name="Text 4"/>
          <p:cNvSpPr txBox="1"/>
          <p:nvPr/>
        </p:nvSpPr>
        <p:spPr>
          <a:xfrm>
            <a:off x="566928" y="1856232"/>
            <a:ext cx="2606040" cy="594360"/>
          </a:xfrm>
          <a:prstGeom prst="rect">
            <a:avLst/>
          </a:prstGeom>
          <a:noFill/>
          <a:ln/>
        </p:spPr>
        <p:txBody>
          <a:bodyPr wrap="square" lIns="0" tIns="0" rIns="0" bIns="0" rtlCol="0" anchor="t"/>
          <a:lstStyle/>
          <a:p>
            <a:pPr algn="ctr" indent="0" marL="0">
              <a:buNone/>
            </a:pPr>
            <a:r>
              <a:rPr lang="en-US" sz="3200" b="1" dirty="0">
                <a:solidFill>
                  <a:srgbClr val="1E2761"/>
                </a:solidFill>
                <a:latin typeface="Cambria" pitchFamily="34" charset="0"/>
                <a:ea typeface="Cambria" pitchFamily="34" charset="-122"/>
                <a:cs typeface="Cambria" pitchFamily="34" charset="-120"/>
              </a:rPr>
              <a:t>97.6%</a:t>
            </a:r>
            <a:endParaRPr lang="en-US" sz="3200" dirty="0"/>
          </a:p>
        </p:txBody>
      </p:sp>
      <p:sp>
        <p:nvSpPr>
          <p:cNvPr id="7" name="Text 5"/>
          <p:cNvSpPr txBox="1"/>
          <p:nvPr/>
        </p:nvSpPr>
        <p:spPr>
          <a:xfrm>
            <a:off x="658368" y="2496312"/>
            <a:ext cx="2423160" cy="365760"/>
          </a:xfrm>
          <a:prstGeom prst="rect">
            <a:avLst/>
          </a:prstGeom>
          <a:noFill/>
          <a:ln/>
        </p:spPr>
        <p:txBody>
          <a:bodyPr wrap="square" lIns="0" tIns="0" rIns="0" bIns="0" rtlCol="0" anchor="t"/>
          <a:lstStyle/>
          <a:p>
            <a:pPr algn="ctr" indent="0" marL="0">
              <a:buNone/>
            </a:pPr>
            <a:r>
              <a:rPr lang="en-US" sz="1050" spc="60" kern="0" dirty="0">
                <a:solidFill>
                  <a:srgbClr val="5B6472"/>
                </a:solidFill>
                <a:latin typeface="Calibri" pitchFamily="34" charset="0"/>
                <a:ea typeface="Calibri" pitchFamily="34" charset="-122"/>
                <a:cs typeface="Calibri" pitchFamily="34" charset="-120"/>
              </a:rPr>
              <a:t>EMOTION ACCURACY</a:t>
            </a:r>
            <a:endParaRPr lang="en-US" sz="1050" dirty="0"/>
          </a:p>
        </p:txBody>
      </p:sp>
      <p:sp>
        <p:nvSpPr>
          <p:cNvPr id="8" name="Shape 6"/>
          <p:cNvSpPr/>
          <p:nvPr/>
        </p:nvSpPr>
        <p:spPr>
          <a:xfrm>
            <a:off x="3355848" y="1691640"/>
            <a:ext cx="2606040" cy="1280160"/>
          </a:xfrm>
          <a:prstGeom prst="roundRect">
            <a:avLst>
              <a:gd name="adj" fmla="val 7143"/>
            </a:avLst>
          </a:prstGeom>
          <a:solidFill>
            <a:srgbClr val="F7F9FC"/>
          </a:solidFill>
          <a:ln w="9525">
            <a:solidFill>
              <a:srgbClr val="DDE3ED"/>
            </a:solidFill>
            <a:prstDash val="solid"/>
          </a:ln>
        </p:spPr>
      </p:sp>
      <p:sp>
        <p:nvSpPr>
          <p:cNvPr id="9" name="Text 7"/>
          <p:cNvSpPr txBox="1"/>
          <p:nvPr/>
        </p:nvSpPr>
        <p:spPr>
          <a:xfrm>
            <a:off x="3355848" y="1856232"/>
            <a:ext cx="2606040" cy="594360"/>
          </a:xfrm>
          <a:prstGeom prst="rect">
            <a:avLst/>
          </a:prstGeom>
          <a:noFill/>
          <a:ln/>
        </p:spPr>
        <p:txBody>
          <a:bodyPr wrap="square" lIns="0" tIns="0" rIns="0" bIns="0" rtlCol="0" anchor="t"/>
          <a:lstStyle/>
          <a:p>
            <a:pPr algn="ctr" indent="0" marL="0">
              <a:buNone/>
            </a:pPr>
            <a:r>
              <a:rPr lang="en-US" sz="3200" b="1" dirty="0">
                <a:solidFill>
                  <a:srgbClr val="1E2761"/>
                </a:solidFill>
                <a:latin typeface="Cambria" pitchFamily="34" charset="0"/>
                <a:ea typeface="Cambria" pitchFamily="34" charset="-122"/>
                <a:cs typeface="Cambria" pitchFamily="34" charset="-120"/>
              </a:rPr>
              <a:t>7 / 7</a:t>
            </a:r>
            <a:endParaRPr lang="en-US" sz="3200" dirty="0"/>
          </a:p>
        </p:txBody>
      </p:sp>
      <p:sp>
        <p:nvSpPr>
          <p:cNvPr id="10" name="Text 8"/>
          <p:cNvSpPr txBox="1"/>
          <p:nvPr/>
        </p:nvSpPr>
        <p:spPr>
          <a:xfrm>
            <a:off x="3447288" y="2496312"/>
            <a:ext cx="2423160" cy="365760"/>
          </a:xfrm>
          <a:prstGeom prst="rect">
            <a:avLst/>
          </a:prstGeom>
          <a:noFill/>
          <a:ln/>
        </p:spPr>
        <p:txBody>
          <a:bodyPr wrap="square" lIns="0" tIns="0" rIns="0" bIns="0" rtlCol="0" anchor="t"/>
          <a:lstStyle/>
          <a:p>
            <a:pPr algn="ctr" indent="0" marL="0">
              <a:buNone/>
            </a:pPr>
            <a:r>
              <a:rPr lang="en-US" sz="1050" spc="60" kern="0" dirty="0">
                <a:solidFill>
                  <a:srgbClr val="5B6472"/>
                </a:solidFill>
                <a:latin typeface="Calibri" pitchFamily="34" charset="0"/>
                <a:ea typeface="Calibri" pitchFamily="34" charset="-122"/>
                <a:cs typeface="Calibri" pitchFamily="34" charset="-120"/>
              </a:rPr>
              <a:t>SARCASTIC OR MIXED MESSAGES</a:t>
            </a:r>
            <a:endParaRPr lang="en-US" sz="1050" dirty="0"/>
          </a:p>
        </p:txBody>
      </p:sp>
      <p:sp>
        <p:nvSpPr>
          <p:cNvPr id="11" name="Shape 9"/>
          <p:cNvSpPr/>
          <p:nvPr/>
        </p:nvSpPr>
        <p:spPr>
          <a:xfrm>
            <a:off x="566928" y="3154680"/>
            <a:ext cx="2606040" cy="1280160"/>
          </a:xfrm>
          <a:prstGeom prst="roundRect">
            <a:avLst>
              <a:gd name="adj" fmla="val 7143"/>
            </a:avLst>
          </a:prstGeom>
          <a:solidFill>
            <a:srgbClr val="F7F9FC"/>
          </a:solidFill>
          <a:ln w="9525">
            <a:solidFill>
              <a:srgbClr val="DDE3ED"/>
            </a:solidFill>
            <a:prstDash val="solid"/>
          </a:ln>
        </p:spPr>
      </p:sp>
      <p:sp>
        <p:nvSpPr>
          <p:cNvPr id="12" name="Text 10"/>
          <p:cNvSpPr txBox="1"/>
          <p:nvPr/>
        </p:nvSpPr>
        <p:spPr>
          <a:xfrm>
            <a:off x="566928" y="3319272"/>
            <a:ext cx="2606040" cy="594360"/>
          </a:xfrm>
          <a:prstGeom prst="rect">
            <a:avLst/>
          </a:prstGeom>
          <a:noFill/>
          <a:ln/>
        </p:spPr>
        <p:txBody>
          <a:bodyPr wrap="square" lIns="0" tIns="0" rIns="0" bIns="0" rtlCol="0" anchor="t"/>
          <a:lstStyle/>
          <a:p>
            <a:pPr algn="ctr" indent="0" marL="0">
              <a:buNone/>
            </a:pPr>
            <a:r>
              <a:rPr lang="en-US" sz="3200" b="1" dirty="0">
                <a:solidFill>
                  <a:srgbClr val="047857"/>
                </a:solidFill>
                <a:latin typeface="Cambria" pitchFamily="34" charset="0"/>
                <a:ea typeface="Cambria" pitchFamily="34" charset="-122"/>
                <a:cs typeface="Cambria" pitchFamily="34" charset="-120"/>
              </a:rPr>
              <a:t>10 / 10</a:t>
            </a:r>
            <a:endParaRPr lang="en-US" sz="3200" dirty="0"/>
          </a:p>
        </p:txBody>
      </p:sp>
      <p:sp>
        <p:nvSpPr>
          <p:cNvPr id="13" name="Text 11"/>
          <p:cNvSpPr txBox="1"/>
          <p:nvPr/>
        </p:nvSpPr>
        <p:spPr>
          <a:xfrm>
            <a:off x="658368" y="3959352"/>
            <a:ext cx="2423160" cy="365760"/>
          </a:xfrm>
          <a:prstGeom prst="rect">
            <a:avLst/>
          </a:prstGeom>
          <a:noFill/>
          <a:ln/>
        </p:spPr>
        <p:txBody>
          <a:bodyPr wrap="square" lIns="0" tIns="0" rIns="0" bIns="0" rtlCol="0" anchor="t"/>
          <a:lstStyle/>
          <a:p>
            <a:pPr algn="ctr" indent="0" marL="0">
              <a:buNone/>
            </a:pPr>
            <a:r>
              <a:rPr lang="en-US" sz="1050" spc="60" kern="0" dirty="0">
                <a:solidFill>
                  <a:srgbClr val="5B6472"/>
                </a:solidFill>
                <a:latin typeface="Calibri" pitchFamily="34" charset="0"/>
                <a:ea typeface="Calibri" pitchFamily="34" charset="-122"/>
                <a:cs typeface="Calibri" pitchFamily="34" charset="-120"/>
              </a:rPr>
              <a:t>CRISIS MESSAGES CAUGHT</a:t>
            </a:r>
            <a:endParaRPr lang="en-US" sz="1050" dirty="0"/>
          </a:p>
        </p:txBody>
      </p:sp>
      <p:sp>
        <p:nvSpPr>
          <p:cNvPr id="14" name="Shape 12"/>
          <p:cNvSpPr/>
          <p:nvPr/>
        </p:nvSpPr>
        <p:spPr>
          <a:xfrm>
            <a:off x="3355848" y="3154680"/>
            <a:ext cx="2606040" cy="1280160"/>
          </a:xfrm>
          <a:prstGeom prst="roundRect">
            <a:avLst>
              <a:gd name="adj" fmla="val 7143"/>
            </a:avLst>
          </a:prstGeom>
          <a:solidFill>
            <a:srgbClr val="F7F9FC"/>
          </a:solidFill>
          <a:ln w="9525">
            <a:solidFill>
              <a:srgbClr val="DDE3ED"/>
            </a:solidFill>
            <a:prstDash val="solid"/>
          </a:ln>
        </p:spPr>
      </p:sp>
      <p:sp>
        <p:nvSpPr>
          <p:cNvPr id="15" name="Text 13"/>
          <p:cNvSpPr txBox="1"/>
          <p:nvPr/>
        </p:nvSpPr>
        <p:spPr>
          <a:xfrm>
            <a:off x="3355848" y="3319272"/>
            <a:ext cx="2606040" cy="594360"/>
          </a:xfrm>
          <a:prstGeom prst="rect">
            <a:avLst/>
          </a:prstGeom>
          <a:noFill/>
          <a:ln/>
        </p:spPr>
        <p:txBody>
          <a:bodyPr wrap="square" lIns="0" tIns="0" rIns="0" bIns="0" rtlCol="0" anchor="t"/>
          <a:lstStyle/>
          <a:p>
            <a:pPr algn="ctr" indent="0" marL="0">
              <a:buNone/>
            </a:pPr>
            <a:r>
              <a:rPr lang="en-US" sz="3200" b="1" dirty="0">
                <a:solidFill>
                  <a:srgbClr val="047857"/>
                </a:solidFill>
                <a:latin typeface="Cambria" pitchFamily="34" charset="0"/>
                <a:ea typeface="Cambria" pitchFamily="34" charset="-122"/>
                <a:cs typeface="Cambria" pitchFamily="34" charset="-120"/>
              </a:rPr>
              <a:t>0 / 8</a:t>
            </a:r>
            <a:endParaRPr lang="en-US" sz="3200" dirty="0"/>
          </a:p>
        </p:txBody>
      </p:sp>
      <p:sp>
        <p:nvSpPr>
          <p:cNvPr id="16" name="Text 14"/>
          <p:cNvSpPr txBox="1"/>
          <p:nvPr/>
        </p:nvSpPr>
        <p:spPr>
          <a:xfrm>
            <a:off x="3447288" y="3959352"/>
            <a:ext cx="2423160" cy="365760"/>
          </a:xfrm>
          <a:prstGeom prst="rect">
            <a:avLst/>
          </a:prstGeom>
          <a:noFill/>
          <a:ln/>
        </p:spPr>
        <p:txBody>
          <a:bodyPr wrap="square" lIns="0" tIns="0" rIns="0" bIns="0" rtlCol="0" anchor="t"/>
          <a:lstStyle/>
          <a:p>
            <a:pPr algn="ctr" indent="0" marL="0">
              <a:buNone/>
            </a:pPr>
            <a:r>
              <a:rPr lang="en-US" sz="1050" spc="60" kern="0" dirty="0">
                <a:solidFill>
                  <a:srgbClr val="5B6472"/>
                </a:solidFill>
                <a:latin typeface="Calibri" pitchFamily="34" charset="0"/>
                <a:ea typeface="Calibri" pitchFamily="34" charset="-122"/>
                <a:cs typeface="Calibri" pitchFamily="34" charset="-120"/>
              </a:rPr>
              <a:t>FALSE ALARMS</a:t>
            </a:r>
            <a:endParaRPr lang="en-US" sz="1050" dirty="0"/>
          </a:p>
        </p:txBody>
      </p:sp>
      <p:sp>
        <p:nvSpPr>
          <p:cNvPr id="17" name="Text 15"/>
          <p:cNvSpPr txBox="1"/>
          <p:nvPr/>
        </p:nvSpPr>
        <p:spPr>
          <a:xfrm>
            <a:off x="566928" y="4754880"/>
            <a:ext cx="5440680" cy="12801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42 messages, 6 for each of the 7 emotions. The correct label for each was written before any test was run. 7 of them are hard: sarcasm and mixed feelings. False alarms were tested on everyday phrases such as "this traffic is killing me".</a:t>
            </a:r>
            <a:endParaRPr lang="en-US" sz="1300" dirty="0"/>
          </a:p>
        </p:txBody>
      </p:sp>
      <p:graphicFrame>
        <p:nvGraphicFramePr>
          <p:cNvPr id="18" name="Chart 0" descr=""/>
          <p:cNvGraphicFramePr/>
          <p:nvPr/>
        </p:nvGraphicFramePr>
        <p:xfrm>
          <a:off x="6446520" y="1600200"/>
          <a:ext cx="5178247" cy="44348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QUESTIONS FROM PS 96</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Answers to the two key questions</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66928" y="1645920"/>
            <a:ext cx="5394960" cy="3931920"/>
          </a:xfrm>
          <a:prstGeom prst="roundRect">
            <a:avLst>
              <a:gd name="adj" fmla="val 2326"/>
            </a:avLst>
          </a:prstGeom>
          <a:solidFill>
            <a:srgbClr val="F7F9FC"/>
          </a:solidFill>
          <a:ln w="9525">
            <a:solidFill>
              <a:srgbClr val="DDE3ED"/>
            </a:solidFill>
            <a:prstDash val="solid"/>
          </a:ln>
        </p:spPr>
      </p:sp>
      <p:sp>
        <p:nvSpPr>
          <p:cNvPr id="6" name="Shape 4"/>
          <p:cNvSpPr/>
          <p:nvPr/>
        </p:nvSpPr>
        <p:spPr>
          <a:xfrm>
            <a:off x="841248" y="1874520"/>
            <a:ext cx="502920" cy="502920"/>
          </a:xfrm>
          <a:prstGeom prst="ellipse">
            <a:avLst/>
          </a:prstGeom>
          <a:solidFill>
            <a:srgbClr val="1E2761"/>
          </a:solidFill>
          <a:ln w="12700">
            <a:solidFill>
              <a:srgbClr val="1E2761"/>
            </a:solidFill>
            <a:prstDash val="solid"/>
          </a:ln>
        </p:spPr>
      </p:sp>
      <p:sp>
        <p:nvSpPr>
          <p:cNvPr id="7" name="Text 5"/>
          <p:cNvSpPr txBox="1"/>
          <p:nvPr/>
        </p:nvSpPr>
        <p:spPr>
          <a:xfrm>
            <a:off x="841248" y="1874520"/>
            <a:ext cx="5029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Q1</a:t>
            </a:r>
            <a:endParaRPr lang="en-US" sz="1250" dirty="0"/>
          </a:p>
        </p:txBody>
      </p:sp>
      <p:sp>
        <p:nvSpPr>
          <p:cNvPr id="8" name="Text 6"/>
          <p:cNvSpPr txBox="1"/>
          <p:nvPr/>
        </p:nvSpPr>
        <p:spPr>
          <a:xfrm>
            <a:off x="1527048" y="1874520"/>
            <a:ext cx="4160520" cy="73152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How do you detect sentiment reliably?</a:t>
            </a:r>
            <a:endParaRPr lang="en-US" sz="1900" dirty="0"/>
          </a:p>
        </p:txBody>
      </p:sp>
      <p:sp>
        <p:nvSpPr>
          <p:cNvPr id="9" name="Shape 7"/>
          <p:cNvSpPr/>
          <p:nvPr/>
        </p:nvSpPr>
        <p:spPr>
          <a:xfrm>
            <a:off x="914400" y="2971800"/>
            <a:ext cx="128016" cy="128016"/>
          </a:xfrm>
          <a:prstGeom prst="ellipse">
            <a:avLst/>
          </a:prstGeom>
          <a:solidFill>
            <a:srgbClr val="1E2761"/>
          </a:solidFill>
          <a:ln w="12700">
            <a:solidFill>
              <a:srgbClr val="1E2761"/>
            </a:solidFill>
            <a:prstDash val="solid"/>
          </a:ln>
        </p:spPr>
      </p:sp>
      <p:sp>
        <p:nvSpPr>
          <p:cNvPr id="10" name="Text 8"/>
          <p:cNvSpPr txBox="1"/>
          <p:nvPr/>
        </p:nvSpPr>
        <p:spPr>
          <a:xfrm>
            <a:off x="1207008" y="2880360"/>
            <a:ext cx="4480560" cy="777240"/>
          </a:xfrm>
          <a:prstGeom prst="rect">
            <a:avLst/>
          </a:prstGeom>
          <a:noFill/>
          <a:ln/>
        </p:spPr>
        <p:txBody>
          <a:bodyPr wrap="square" lIns="0" tIns="0" rIns="0" bIns="0" rtlCol="0" anchor="t"/>
          <a:lstStyle/>
          <a:p>
            <a:pPr indent="0" marL="0">
              <a:buNone/>
            </a:pPr>
            <a:r>
              <a:rPr lang="en-US" sz="1500" dirty="0">
                <a:solidFill>
                  <a:srgbClr val="1A1D23"/>
                </a:solidFill>
                <a:latin typeface="Calibri" pitchFamily="34" charset="0"/>
                <a:ea typeface="Calibri" pitchFamily="34" charset="-122"/>
                <a:cs typeface="Calibri" pitchFamily="34" charset="-120"/>
              </a:rPr>
              <a:t>Two independent readers: a local emotion model and the LLM</a:t>
            </a:r>
            <a:endParaRPr lang="en-US" sz="1500" dirty="0"/>
          </a:p>
        </p:txBody>
      </p:sp>
      <p:sp>
        <p:nvSpPr>
          <p:cNvPr id="11" name="Shape 9"/>
          <p:cNvSpPr/>
          <p:nvPr/>
        </p:nvSpPr>
        <p:spPr>
          <a:xfrm>
            <a:off x="914400" y="3794760"/>
            <a:ext cx="128016" cy="128016"/>
          </a:xfrm>
          <a:prstGeom prst="ellipse">
            <a:avLst/>
          </a:prstGeom>
          <a:solidFill>
            <a:srgbClr val="1E2761"/>
          </a:solidFill>
          <a:ln w="12700">
            <a:solidFill>
              <a:srgbClr val="1E2761"/>
            </a:solidFill>
            <a:prstDash val="solid"/>
          </a:ln>
        </p:spPr>
      </p:sp>
      <p:sp>
        <p:nvSpPr>
          <p:cNvPr id="12" name="Text 10"/>
          <p:cNvSpPr txBox="1"/>
          <p:nvPr/>
        </p:nvSpPr>
        <p:spPr>
          <a:xfrm>
            <a:off x="1207008" y="3703320"/>
            <a:ext cx="4480560" cy="777240"/>
          </a:xfrm>
          <a:prstGeom prst="rect">
            <a:avLst/>
          </a:prstGeom>
          <a:noFill/>
          <a:ln/>
        </p:spPr>
        <p:txBody>
          <a:bodyPr wrap="square" lIns="0" tIns="0" rIns="0" bIns="0" rtlCol="0" anchor="t"/>
          <a:lstStyle/>
          <a:p>
            <a:pPr indent="0" marL="0">
              <a:buNone/>
            </a:pPr>
            <a:r>
              <a:rPr lang="en-US" sz="1500" dirty="0">
                <a:solidFill>
                  <a:srgbClr val="1A1D23"/>
                </a:solidFill>
                <a:latin typeface="Calibri" pitchFamily="34" charset="0"/>
                <a:ea typeface="Calibri" pitchFamily="34" charset="-122"/>
                <a:cs typeface="Calibri" pitchFamily="34" charset="-120"/>
              </a:rPr>
              <a:t>When they disagree, the LLM decides and the screen shows it</a:t>
            </a:r>
            <a:endParaRPr lang="en-US" sz="1500" dirty="0"/>
          </a:p>
        </p:txBody>
      </p:sp>
      <p:sp>
        <p:nvSpPr>
          <p:cNvPr id="13" name="Shape 11"/>
          <p:cNvSpPr/>
          <p:nvPr/>
        </p:nvSpPr>
        <p:spPr>
          <a:xfrm>
            <a:off x="914400" y="4617720"/>
            <a:ext cx="128016" cy="128016"/>
          </a:xfrm>
          <a:prstGeom prst="ellipse">
            <a:avLst/>
          </a:prstGeom>
          <a:solidFill>
            <a:srgbClr val="047857"/>
          </a:solidFill>
          <a:ln w="12700">
            <a:solidFill>
              <a:srgbClr val="047857"/>
            </a:solidFill>
            <a:prstDash val="solid"/>
          </a:ln>
        </p:spPr>
      </p:sp>
      <p:sp>
        <p:nvSpPr>
          <p:cNvPr id="14" name="Text 12"/>
          <p:cNvSpPr txBox="1"/>
          <p:nvPr/>
        </p:nvSpPr>
        <p:spPr>
          <a:xfrm>
            <a:off x="1207008" y="4526280"/>
            <a:ext cx="4480560" cy="777240"/>
          </a:xfrm>
          <a:prstGeom prst="rect">
            <a:avLst/>
          </a:prstGeom>
          <a:noFill/>
          <a:ln/>
        </p:spPr>
        <p:txBody>
          <a:bodyPr wrap="square" lIns="0" tIns="0" rIns="0" bIns="0" rtlCol="0" anchor="t"/>
          <a:lstStyle/>
          <a:p>
            <a:pPr indent="0" marL="0">
              <a:buNone/>
            </a:pPr>
            <a:r>
              <a:rPr lang="en-US" sz="1500" b="1" dirty="0">
                <a:solidFill>
                  <a:srgbClr val="047857"/>
                </a:solidFill>
                <a:latin typeface="Calibri" pitchFamily="34" charset="0"/>
                <a:ea typeface="Calibri" pitchFamily="34" charset="-122"/>
                <a:cs typeface="Calibri" pitchFamily="34" charset="-120"/>
              </a:rPr>
              <a:t>Measured: 97.6% on 42 labelled messages, and all 7 hard cases correct</a:t>
            </a:r>
            <a:endParaRPr lang="en-US" sz="1500" dirty="0"/>
          </a:p>
        </p:txBody>
      </p:sp>
      <p:sp>
        <p:nvSpPr>
          <p:cNvPr id="15" name="Shape 13"/>
          <p:cNvSpPr/>
          <p:nvPr/>
        </p:nvSpPr>
        <p:spPr>
          <a:xfrm>
            <a:off x="6190488" y="1645920"/>
            <a:ext cx="5394960" cy="3931920"/>
          </a:xfrm>
          <a:prstGeom prst="roundRect">
            <a:avLst>
              <a:gd name="adj" fmla="val 2326"/>
            </a:avLst>
          </a:prstGeom>
          <a:solidFill>
            <a:srgbClr val="F7F9FC"/>
          </a:solidFill>
          <a:ln w="9525">
            <a:solidFill>
              <a:srgbClr val="DDE3ED"/>
            </a:solidFill>
            <a:prstDash val="solid"/>
          </a:ln>
        </p:spPr>
      </p:sp>
      <p:sp>
        <p:nvSpPr>
          <p:cNvPr id="16" name="Shape 14"/>
          <p:cNvSpPr/>
          <p:nvPr/>
        </p:nvSpPr>
        <p:spPr>
          <a:xfrm>
            <a:off x="6464808" y="1874520"/>
            <a:ext cx="502920" cy="502920"/>
          </a:xfrm>
          <a:prstGeom prst="ellipse">
            <a:avLst/>
          </a:prstGeom>
          <a:solidFill>
            <a:srgbClr val="1E2761"/>
          </a:solidFill>
          <a:ln w="12700">
            <a:solidFill>
              <a:srgbClr val="1E2761"/>
            </a:solidFill>
            <a:prstDash val="solid"/>
          </a:ln>
        </p:spPr>
      </p:sp>
      <p:sp>
        <p:nvSpPr>
          <p:cNvPr id="17" name="Text 15"/>
          <p:cNvSpPr txBox="1"/>
          <p:nvPr/>
        </p:nvSpPr>
        <p:spPr>
          <a:xfrm>
            <a:off x="6464808" y="1874520"/>
            <a:ext cx="5029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Q2</a:t>
            </a:r>
            <a:endParaRPr lang="en-US" sz="1250" dirty="0"/>
          </a:p>
        </p:txBody>
      </p:sp>
      <p:sp>
        <p:nvSpPr>
          <p:cNvPr id="18" name="Text 16"/>
          <p:cNvSpPr txBox="1"/>
          <p:nvPr/>
        </p:nvSpPr>
        <p:spPr>
          <a:xfrm>
            <a:off x="7150608" y="1874520"/>
            <a:ext cx="4160520" cy="73152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How do you handle a distressed user safely?</a:t>
            </a:r>
            <a:endParaRPr lang="en-US" sz="1900" dirty="0"/>
          </a:p>
        </p:txBody>
      </p:sp>
      <p:sp>
        <p:nvSpPr>
          <p:cNvPr id="19" name="Shape 17"/>
          <p:cNvSpPr/>
          <p:nvPr/>
        </p:nvSpPr>
        <p:spPr>
          <a:xfrm>
            <a:off x="6537960" y="2971800"/>
            <a:ext cx="128016" cy="128016"/>
          </a:xfrm>
          <a:prstGeom prst="ellipse">
            <a:avLst/>
          </a:prstGeom>
          <a:solidFill>
            <a:srgbClr val="1E2761"/>
          </a:solidFill>
          <a:ln w="12700">
            <a:solidFill>
              <a:srgbClr val="1E2761"/>
            </a:solidFill>
            <a:prstDash val="solid"/>
          </a:ln>
        </p:spPr>
      </p:sp>
      <p:sp>
        <p:nvSpPr>
          <p:cNvPr id="20" name="Text 18"/>
          <p:cNvSpPr txBox="1"/>
          <p:nvPr/>
        </p:nvSpPr>
        <p:spPr>
          <a:xfrm>
            <a:off x="6830568" y="2880360"/>
            <a:ext cx="4480560" cy="777240"/>
          </a:xfrm>
          <a:prstGeom prst="rect">
            <a:avLst/>
          </a:prstGeom>
          <a:noFill/>
          <a:ln/>
        </p:spPr>
        <p:txBody>
          <a:bodyPr wrap="square" lIns="0" tIns="0" rIns="0" bIns="0" rtlCol="0" anchor="t"/>
          <a:lstStyle/>
          <a:p>
            <a:pPr indent="0" marL="0">
              <a:buNone/>
            </a:pPr>
            <a:r>
              <a:rPr lang="en-US" sz="1500" dirty="0">
                <a:solidFill>
                  <a:srgbClr val="1A1D23"/>
                </a:solidFill>
                <a:latin typeface="Calibri" pitchFamily="34" charset="0"/>
                <a:ea typeface="Calibri" pitchFamily="34" charset="-122"/>
                <a:cs typeface="Calibri" pitchFamily="34" charset="-120"/>
              </a:rPr>
              <a:t>Fixed rules check every message before any model runs</a:t>
            </a:r>
            <a:endParaRPr lang="en-US" sz="1500" dirty="0"/>
          </a:p>
        </p:txBody>
      </p:sp>
      <p:sp>
        <p:nvSpPr>
          <p:cNvPr id="21" name="Shape 19"/>
          <p:cNvSpPr/>
          <p:nvPr/>
        </p:nvSpPr>
        <p:spPr>
          <a:xfrm>
            <a:off x="6537960" y="3794760"/>
            <a:ext cx="128016" cy="128016"/>
          </a:xfrm>
          <a:prstGeom prst="ellipse">
            <a:avLst/>
          </a:prstGeom>
          <a:solidFill>
            <a:srgbClr val="1E2761"/>
          </a:solidFill>
          <a:ln w="12700">
            <a:solidFill>
              <a:srgbClr val="1E2761"/>
            </a:solidFill>
            <a:prstDash val="solid"/>
          </a:ln>
        </p:spPr>
      </p:sp>
      <p:sp>
        <p:nvSpPr>
          <p:cNvPr id="22" name="Text 20"/>
          <p:cNvSpPr txBox="1"/>
          <p:nvPr/>
        </p:nvSpPr>
        <p:spPr>
          <a:xfrm>
            <a:off x="6830568" y="3703320"/>
            <a:ext cx="4480560" cy="777240"/>
          </a:xfrm>
          <a:prstGeom prst="rect">
            <a:avLst/>
          </a:prstGeom>
          <a:noFill/>
          <a:ln/>
        </p:spPr>
        <p:txBody>
          <a:bodyPr wrap="square" lIns="0" tIns="0" rIns="0" bIns="0" rtlCol="0" anchor="t"/>
          <a:lstStyle/>
          <a:p>
            <a:pPr indent="0" marL="0">
              <a:buNone/>
            </a:pPr>
            <a:r>
              <a:rPr lang="en-US" sz="1500" dirty="0">
                <a:solidFill>
                  <a:srgbClr val="1A1D23"/>
                </a:solidFill>
                <a:latin typeface="Calibri" pitchFamily="34" charset="0"/>
                <a:ea typeface="Calibri" pitchFamily="34" charset="-122"/>
                <a:cs typeface="Calibri" pitchFamily="34" charset="-120"/>
              </a:rPr>
              <a:t>A crisis gets a reviewed reply with helplines, never a generated one</a:t>
            </a:r>
            <a:endParaRPr lang="en-US" sz="1500" dirty="0"/>
          </a:p>
        </p:txBody>
      </p:sp>
      <p:sp>
        <p:nvSpPr>
          <p:cNvPr id="23" name="Shape 21"/>
          <p:cNvSpPr/>
          <p:nvPr/>
        </p:nvSpPr>
        <p:spPr>
          <a:xfrm>
            <a:off x="6537960" y="4617720"/>
            <a:ext cx="128016" cy="128016"/>
          </a:xfrm>
          <a:prstGeom prst="ellipse">
            <a:avLst/>
          </a:prstGeom>
          <a:solidFill>
            <a:srgbClr val="047857"/>
          </a:solidFill>
          <a:ln w="12700">
            <a:solidFill>
              <a:srgbClr val="047857"/>
            </a:solidFill>
            <a:prstDash val="solid"/>
          </a:ln>
        </p:spPr>
      </p:sp>
      <p:sp>
        <p:nvSpPr>
          <p:cNvPr id="24" name="Text 22"/>
          <p:cNvSpPr txBox="1"/>
          <p:nvPr/>
        </p:nvSpPr>
        <p:spPr>
          <a:xfrm>
            <a:off x="6830568" y="4526280"/>
            <a:ext cx="4480560" cy="777240"/>
          </a:xfrm>
          <a:prstGeom prst="rect">
            <a:avLst/>
          </a:prstGeom>
          <a:noFill/>
          <a:ln/>
        </p:spPr>
        <p:txBody>
          <a:bodyPr wrap="square" lIns="0" tIns="0" rIns="0" bIns="0" rtlCol="0" anchor="t"/>
          <a:lstStyle/>
          <a:p>
            <a:pPr indent="0" marL="0">
              <a:buNone/>
            </a:pPr>
            <a:r>
              <a:rPr lang="en-US" sz="1500" b="1" dirty="0">
                <a:solidFill>
                  <a:srgbClr val="047857"/>
                </a:solidFill>
                <a:latin typeface="Calibri" pitchFamily="34" charset="0"/>
                <a:ea typeface="Calibri" pitchFamily="34" charset="-122"/>
                <a:cs typeface="Calibri" pitchFamily="34" charset="-120"/>
              </a:rPr>
              <a:t>Measured: 10 of 10 crisis messages caught, 0 of 8 false alarms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BEING HONEST</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Limitations and next steps</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66928" y="1645920"/>
            <a:ext cx="5394960" cy="3931920"/>
          </a:xfrm>
          <a:prstGeom prst="roundRect">
            <a:avLst>
              <a:gd name="adj" fmla="val 2326"/>
            </a:avLst>
          </a:prstGeom>
          <a:solidFill>
            <a:srgbClr val="FFFBEB"/>
          </a:solidFill>
          <a:ln w="9525">
            <a:solidFill>
              <a:srgbClr val="FCD9A4"/>
            </a:solidFill>
            <a:prstDash val="solid"/>
          </a:ln>
        </p:spPr>
      </p:sp>
      <p:sp>
        <p:nvSpPr>
          <p:cNvPr id="6" name="Text 4"/>
          <p:cNvSpPr txBox="1"/>
          <p:nvPr/>
        </p:nvSpPr>
        <p:spPr>
          <a:xfrm>
            <a:off x="886968" y="1874520"/>
            <a:ext cx="4846320" cy="256032"/>
          </a:xfrm>
          <a:prstGeom prst="rect">
            <a:avLst/>
          </a:prstGeom>
          <a:noFill/>
          <a:ln/>
        </p:spPr>
        <p:txBody>
          <a:bodyPr wrap="square" lIns="0" tIns="0" rIns="0" bIns="0" rtlCol="0" anchor="t"/>
          <a:lstStyle/>
          <a:p>
            <a:pPr indent="0" marL="0">
              <a:buNone/>
            </a:pPr>
            <a:r>
              <a:rPr lang="en-US" sz="1200" b="1" spc="120" kern="0" dirty="0">
                <a:solidFill>
                  <a:srgbClr val="B45309"/>
                </a:solidFill>
                <a:latin typeface="Calibri" pitchFamily="34" charset="0"/>
                <a:ea typeface="Calibri" pitchFamily="34" charset="-122"/>
                <a:cs typeface="Calibri" pitchFamily="34" charset="-120"/>
              </a:rPr>
              <a:t>WHAT IT DOES NOT DO WELL</a:t>
            </a:r>
            <a:endParaRPr lang="en-US" sz="1200" dirty="0"/>
          </a:p>
        </p:txBody>
      </p:sp>
      <p:sp>
        <p:nvSpPr>
          <p:cNvPr id="7" name="Shape 5"/>
          <p:cNvSpPr/>
          <p:nvPr/>
        </p:nvSpPr>
        <p:spPr>
          <a:xfrm>
            <a:off x="914400" y="2468880"/>
            <a:ext cx="128016" cy="128016"/>
          </a:xfrm>
          <a:prstGeom prst="ellipse">
            <a:avLst/>
          </a:prstGeom>
          <a:solidFill>
            <a:srgbClr val="B45309"/>
          </a:solidFill>
          <a:ln w="12700">
            <a:solidFill>
              <a:srgbClr val="B45309"/>
            </a:solidFill>
            <a:prstDash val="solid"/>
          </a:ln>
        </p:spPr>
      </p:sp>
      <p:sp>
        <p:nvSpPr>
          <p:cNvPr id="8" name="Text 6"/>
          <p:cNvSpPr txBox="1"/>
          <p:nvPr/>
        </p:nvSpPr>
        <p:spPr>
          <a:xfrm>
            <a:off x="1207008" y="2377440"/>
            <a:ext cx="4480560" cy="777240"/>
          </a:xfrm>
          <a:prstGeom prst="rect">
            <a:avLst/>
          </a:prstGeom>
          <a:noFill/>
          <a:ln/>
        </p:spPr>
        <p:txBody>
          <a:bodyPr wrap="square" lIns="0" tIns="0" rIns="0" bIns="0" rtlCol="0" anchor="t"/>
          <a:lstStyle/>
          <a:p>
            <a:pPr indent="0" marL="0">
              <a:buNone/>
            </a:pPr>
            <a:r>
              <a:rPr lang="en-US" sz="1450" dirty="0">
                <a:solidFill>
                  <a:srgbClr val="1A1D23"/>
                </a:solidFill>
                <a:latin typeface="Calibri" pitchFamily="34" charset="0"/>
                <a:ea typeface="Calibri" pitchFamily="34" charset="-122"/>
                <a:cs typeface="Calibri" pitchFamily="34" charset="-120"/>
              </a:rPr>
              <a:t>The local emotion model understands English only</a:t>
            </a:r>
            <a:endParaRPr lang="en-US" sz="1450" dirty="0"/>
          </a:p>
        </p:txBody>
      </p:sp>
      <p:sp>
        <p:nvSpPr>
          <p:cNvPr id="9" name="Shape 7"/>
          <p:cNvSpPr/>
          <p:nvPr/>
        </p:nvSpPr>
        <p:spPr>
          <a:xfrm>
            <a:off x="914400" y="3273552"/>
            <a:ext cx="128016" cy="128016"/>
          </a:xfrm>
          <a:prstGeom prst="ellipse">
            <a:avLst/>
          </a:prstGeom>
          <a:solidFill>
            <a:srgbClr val="B45309"/>
          </a:solidFill>
          <a:ln w="12700">
            <a:solidFill>
              <a:srgbClr val="B45309"/>
            </a:solidFill>
            <a:prstDash val="solid"/>
          </a:ln>
        </p:spPr>
      </p:sp>
      <p:sp>
        <p:nvSpPr>
          <p:cNvPr id="10" name="Text 8"/>
          <p:cNvSpPr txBox="1"/>
          <p:nvPr/>
        </p:nvSpPr>
        <p:spPr>
          <a:xfrm>
            <a:off x="1207008" y="3182112"/>
            <a:ext cx="4480560" cy="777240"/>
          </a:xfrm>
          <a:prstGeom prst="rect">
            <a:avLst/>
          </a:prstGeom>
          <a:noFill/>
          <a:ln/>
        </p:spPr>
        <p:txBody>
          <a:bodyPr wrap="square" lIns="0" tIns="0" rIns="0" bIns="0" rtlCol="0" anchor="t"/>
          <a:lstStyle/>
          <a:p>
            <a:pPr indent="0" marL="0">
              <a:buNone/>
            </a:pPr>
            <a:r>
              <a:rPr lang="en-US" sz="1450" dirty="0">
                <a:solidFill>
                  <a:srgbClr val="1A1D23"/>
                </a:solidFill>
                <a:latin typeface="Calibri" pitchFamily="34" charset="0"/>
                <a:ea typeface="Calibri" pitchFamily="34" charset="-122"/>
                <a:cs typeface="Calibri" pitchFamily="34" charset="-120"/>
              </a:rPr>
              <a:t>Fixed rules can miss indirect wording. The LLM is a second check, but it can miss too</a:t>
            </a:r>
            <a:endParaRPr lang="en-US" sz="1450" dirty="0"/>
          </a:p>
        </p:txBody>
      </p:sp>
      <p:sp>
        <p:nvSpPr>
          <p:cNvPr id="11" name="Shape 9"/>
          <p:cNvSpPr/>
          <p:nvPr/>
        </p:nvSpPr>
        <p:spPr>
          <a:xfrm>
            <a:off x="914400" y="4078224"/>
            <a:ext cx="128016" cy="128016"/>
          </a:xfrm>
          <a:prstGeom prst="ellipse">
            <a:avLst/>
          </a:prstGeom>
          <a:solidFill>
            <a:srgbClr val="B45309"/>
          </a:solidFill>
          <a:ln w="12700">
            <a:solidFill>
              <a:srgbClr val="B45309"/>
            </a:solidFill>
            <a:prstDash val="solid"/>
          </a:ln>
        </p:spPr>
      </p:sp>
      <p:sp>
        <p:nvSpPr>
          <p:cNvPr id="12" name="Text 10"/>
          <p:cNvSpPr txBox="1"/>
          <p:nvPr/>
        </p:nvSpPr>
        <p:spPr>
          <a:xfrm>
            <a:off x="1207008" y="3986784"/>
            <a:ext cx="4480560" cy="777240"/>
          </a:xfrm>
          <a:prstGeom prst="rect">
            <a:avLst/>
          </a:prstGeom>
          <a:noFill/>
          <a:ln/>
        </p:spPr>
        <p:txBody>
          <a:bodyPr wrap="square" lIns="0" tIns="0" rIns="0" bIns="0" rtlCol="0" anchor="t"/>
          <a:lstStyle/>
          <a:p>
            <a:pPr indent="0" marL="0">
              <a:buNone/>
            </a:pPr>
            <a:r>
              <a:rPr lang="en-US" sz="1450" dirty="0">
                <a:solidFill>
                  <a:srgbClr val="1A1D23"/>
                </a:solidFill>
                <a:latin typeface="Calibri" pitchFamily="34" charset="0"/>
                <a:ea typeface="Calibri" pitchFamily="34" charset="-122"/>
                <a:cs typeface="Calibri" pitchFamily="34" charset="-120"/>
              </a:rPr>
              <a:t>Combining does not beat the LLM on accuracy. It adds a fallback and a signal for tricky messages</a:t>
            </a:r>
            <a:endParaRPr lang="en-US" sz="1450" dirty="0"/>
          </a:p>
        </p:txBody>
      </p:sp>
      <p:sp>
        <p:nvSpPr>
          <p:cNvPr id="13" name="Shape 11"/>
          <p:cNvSpPr/>
          <p:nvPr/>
        </p:nvSpPr>
        <p:spPr>
          <a:xfrm>
            <a:off x="914400" y="4882896"/>
            <a:ext cx="128016" cy="128016"/>
          </a:xfrm>
          <a:prstGeom prst="ellipse">
            <a:avLst/>
          </a:prstGeom>
          <a:solidFill>
            <a:srgbClr val="B45309"/>
          </a:solidFill>
          <a:ln w="12700">
            <a:solidFill>
              <a:srgbClr val="B45309"/>
            </a:solidFill>
            <a:prstDash val="solid"/>
          </a:ln>
        </p:spPr>
      </p:sp>
      <p:sp>
        <p:nvSpPr>
          <p:cNvPr id="14" name="Text 12"/>
          <p:cNvSpPr txBox="1"/>
          <p:nvPr/>
        </p:nvSpPr>
        <p:spPr>
          <a:xfrm>
            <a:off x="1207008" y="4791456"/>
            <a:ext cx="4480560" cy="777240"/>
          </a:xfrm>
          <a:prstGeom prst="rect">
            <a:avLst/>
          </a:prstGeom>
          <a:noFill/>
          <a:ln/>
        </p:spPr>
        <p:txBody>
          <a:bodyPr wrap="square" lIns="0" tIns="0" rIns="0" bIns="0" rtlCol="0" anchor="t"/>
          <a:lstStyle/>
          <a:p>
            <a:pPr indent="0" marL="0">
              <a:buNone/>
            </a:pPr>
            <a:r>
              <a:rPr lang="en-US" sz="1450" dirty="0">
                <a:solidFill>
                  <a:srgbClr val="1A1D23"/>
                </a:solidFill>
                <a:latin typeface="Calibri" pitchFamily="34" charset="0"/>
                <a:ea typeface="Calibri" pitchFamily="34" charset="-122"/>
                <a:cs typeface="Calibri" pitchFamily="34" charset="-120"/>
              </a:rPr>
              <a:t>It is a support tool, not a counsellor. It points people to real help</a:t>
            </a:r>
            <a:endParaRPr lang="en-US" sz="1450" dirty="0"/>
          </a:p>
        </p:txBody>
      </p:sp>
      <p:sp>
        <p:nvSpPr>
          <p:cNvPr id="15" name="Shape 13"/>
          <p:cNvSpPr/>
          <p:nvPr/>
        </p:nvSpPr>
        <p:spPr>
          <a:xfrm>
            <a:off x="6190488" y="1645920"/>
            <a:ext cx="5394960" cy="3931920"/>
          </a:xfrm>
          <a:prstGeom prst="roundRect">
            <a:avLst>
              <a:gd name="adj" fmla="val 2326"/>
            </a:avLst>
          </a:prstGeom>
          <a:solidFill>
            <a:srgbClr val="ECFDF5"/>
          </a:solidFill>
          <a:ln w="9525">
            <a:solidFill>
              <a:srgbClr val="A7F3D0"/>
            </a:solidFill>
            <a:prstDash val="solid"/>
          </a:ln>
        </p:spPr>
      </p:sp>
      <p:sp>
        <p:nvSpPr>
          <p:cNvPr id="16" name="Text 14"/>
          <p:cNvSpPr txBox="1"/>
          <p:nvPr/>
        </p:nvSpPr>
        <p:spPr>
          <a:xfrm>
            <a:off x="6510528" y="1874520"/>
            <a:ext cx="4846320" cy="256032"/>
          </a:xfrm>
          <a:prstGeom prst="rect">
            <a:avLst/>
          </a:prstGeom>
          <a:noFill/>
          <a:ln/>
        </p:spPr>
        <p:txBody>
          <a:bodyPr wrap="square" lIns="0" tIns="0" rIns="0" bIns="0" rtlCol="0" anchor="t"/>
          <a:lstStyle/>
          <a:p>
            <a:pPr indent="0" marL="0">
              <a:buNone/>
            </a:pPr>
            <a:r>
              <a:rPr lang="en-US" sz="1200" b="1" spc="120" kern="0" dirty="0">
                <a:solidFill>
                  <a:srgbClr val="047857"/>
                </a:solidFill>
                <a:latin typeface="Calibri" pitchFamily="34" charset="0"/>
                <a:ea typeface="Calibri" pitchFamily="34" charset="-122"/>
                <a:cs typeface="Calibri" pitchFamily="34" charset="-120"/>
              </a:rPr>
              <a:t>WHAT WE WOULD ADD NEXT</a:t>
            </a:r>
            <a:endParaRPr lang="en-US" sz="1200" dirty="0"/>
          </a:p>
        </p:txBody>
      </p:sp>
      <p:sp>
        <p:nvSpPr>
          <p:cNvPr id="17" name="Shape 15"/>
          <p:cNvSpPr/>
          <p:nvPr/>
        </p:nvSpPr>
        <p:spPr>
          <a:xfrm>
            <a:off x="6537960" y="2468880"/>
            <a:ext cx="128016" cy="128016"/>
          </a:xfrm>
          <a:prstGeom prst="ellipse">
            <a:avLst/>
          </a:prstGeom>
          <a:solidFill>
            <a:srgbClr val="047857"/>
          </a:solidFill>
          <a:ln w="12700">
            <a:solidFill>
              <a:srgbClr val="047857"/>
            </a:solidFill>
            <a:prstDash val="solid"/>
          </a:ln>
        </p:spPr>
      </p:sp>
      <p:sp>
        <p:nvSpPr>
          <p:cNvPr id="18" name="Text 16"/>
          <p:cNvSpPr txBox="1"/>
          <p:nvPr/>
        </p:nvSpPr>
        <p:spPr>
          <a:xfrm>
            <a:off x="6830568" y="2377440"/>
            <a:ext cx="4480560" cy="777240"/>
          </a:xfrm>
          <a:prstGeom prst="rect">
            <a:avLst/>
          </a:prstGeom>
          <a:noFill/>
          <a:ln/>
        </p:spPr>
        <p:txBody>
          <a:bodyPr wrap="square" lIns="0" tIns="0" rIns="0" bIns="0" rtlCol="0" anchor="t"/>
          <a:lstStyle/>
          <a:p>
            <a:pPr indent="0" marL="0">
              <a:buNone/>
            </a:pPr>
            <a:r>
              <a:rPr lang="en-US" sz="1450" dirty="0">
                <a:solidFill>
                  <a:srgbClr val="1A1D23"/>
                </a:solidFill>
                <a:latin typeface="Calibri" pitchFamily="34" charset="0"/>
                <a:ea typeface="Calibri" pitchFamily="34" charset="-122"/>
                <a:cs typeface="Calibri" pitchFamily="34" charset="-120"/>
              </a:rPr>
              <a:t>A multilingual emotion model for Hindi and Marathi</a:t>
            </a:r>
            <a:endParaRPr lang="en-US" sz="1450" dirty="0"/>
          </a:p>
        </p:txBody>
      </p:sp>
      <p:sp>
        <p:nvSpPr>
          <p:cNvPr id="19" name="Shape 17"/>
          <p:cNvSpPr/>
          <p:nvPr/>
        </p:nvSpPr>
        <p:spPr>
          <a:xfrm>
            <a:off x="6537960" y="3273552"/>
            <a:ext cx="128016" cy="128016"/>
          </a:xfrm>
          <a:prstGeom prst="ellipse">
            <a:avLst/>
          </a:prstGeom>
          <a:solidFill>
            <a:srgbClr val="047857"/>
          </a:solidFill>
          <a:ln w="12700">
            <a:solidFill>
              <a:srgbClr val="047857"/>
            </a:solidFill>
            <a:prstDash val="solid"/>
          </a:ln>
        </p:spPr>
      </p:sp>
      <p:sp>
        <p:nvSpPr>
          <p:cNvPr id="20" name="Text 18"/>
          <p:cNvSpPr txBox="1"/>
          <p:nvPr/>
        </p:nvSpPr>
        <p:spPr>
          <a:xfrm>
            <a:off x="6830568" y="3182112"/>
            <a:ext cx="4480560" cy="777240"/>
          </a:xfrm>
          <a:prstGeom prst="rect">
            <a:avLst/>
          </a:prstGeom>
          <a:noFill/>
          <a:ln/>
        </p:spPr>
        <p:txBody>
          <a:bodyPr wrap="square" lIns="0" tIns="0" rIns="0" bIns="0" rtlCol="0" anchor="t"/>
          <a:lstStyle/>
          <a:p>
            <a:pPr indent="0" marL="0">
              <a:buNone/>
            </a:pPr>
            <a:r>
              <a:rPr lang="en-US" sz="1450" dirty="0">
                <a:solidFill>
                  <a:srgbClr val="1A1D23"/>
                </a:solidFill>
                <a:latin typeface="Calibri" pitchFamily="34" charset="0"/>
                <a:ea typeface="Calibri" pitchFamily="34" charset="-122"/>
                <a:cs typeface="Calibri" pitchFamily="34" charset="-120"/>
              </a:rPr>
              <a:t>A larger test set written by people outside the team</a:t>
            </a:r>
            <a:endParaRPr lang="en-US" sz="1450" dirty="0"/>
          </a:p>
        </p:txBody>
      </p:sp>
      <p:sp>
        <p:nvSpPr>
          <p:cNvPr id="21" name="Shape 19"/>
          <p:cNvSpPr/>
          <p:nvPr/>
        </p:nvSpPr>
        <p:spPr>
          <a:xfrm>
            <a:off x="6537960" y="4078224"/>
            <a:ext cx="128016" cy="128016"/>
          </a:xfrm>
          <a:prstGeom prst="ellipse">
            <a:avLst/>
          </a:prstGeom>
          <a:solidFill>
            <a:srgbClr val="047857"/>
          </a:solidFill>
          <a:ln w="12700">
            <a:solidFill>
              <a:srgbClr val="047857"/>
            </a:solidFill>
            <a:prstDash val="solid"/>
          </a:ln>
        </p:spPr>
      </p:sp>
      <p:sp>
        <p:nvSpPr>
          <p:cNvPr id="22" name="Text 20"/>
          <p:cNvSpPr txBox="1"/>
          <p:nvPr/>
        </p:nvSpPr>
        <p:spPr>
          <a:xfrm>
            <a:off x="6830568" y="3986784"/>
            <a:ext cx="4480560" cy="777240"/>
          </a:xfrm>
          <a:prstGeom prst="rect">
            <a:avLst/>
          </a:prstGeom>
          <a:noFill/>
          <a:ln/>
        </p:spPr>
        <p:txBody>
          <a:bodyPr wrap="square" lIns="0" tIns="0" rIns="0" bIns="0" rtlCol="0" anchor="t"/>
          <a:lstStyle/>
          <a:p>
            <a:pPr indent="0" marL="0">
              <a:buNone/>
            </a:pPr>
            <a:r>
              <a:rPr lang="en-US" sz="1450" dirty="0">
                <a:solidFill>
                  <a:srgbClr val="1A1D23"/>
                </a:solidFill>
                <a:latin typeface="Calibri" pitchFamily="34" charset="0"/>
                <a:ea typeface="Calibri" pitchFamily="34" charset="-122"/>
                <a:cs typeface="Calibri" pitchFamily="34" charset="-120"/>
              </a:rPr>
              <a:t>Alert a trusted contact in a crisis, only with the user's consent</a:t>
            </a:r>
            <a:endParaRPr lang="en-US" sz="1450" dirty="0"/>
          </a:p>
        </p:txBody>
      </p:sp>
      <p:sp>
        <p:nvSpPr>
          <p:cNvPr id="23" name="Shape 21"/>
          <p:cNvSpPr/>
          <p:nvPr/>
        </p:nvSpPr>
        <p:spPr>
          <a:xfrm>
            <a:off x="6537960" y="4882896"/>
            <a:ext cx="128016" cy="128016"/>
          </a:xfrm>
          <a:prstGeom prst="ellipse">
            <a:avLst/>
          </a:prstGeom>
          <a:solidFill>
            <a:srgbClr val="047857"/>
          </a:solidFill>
          <a:ln w="12700">
            <a:solidFill>
              <a:srgbClr val="047857"/>
            </a:solidFill>
            <a:prstDash val="solid"/>
          </a:ln>
        </p:spPr>
      </p:sp>
      <p:sp>
        <p:nvSpPr>
          <p:cNvPr id="24" name="Text 22"/>
          <p:cNvSpPr txBox="1"/>
          <p:nvPr/>
        </p:nvSpPr>
        <p:spPr>
          <a:xfrm>
            <a:off x="6830568" y="4791456"/>
            <a:ext cx="4480560" cy="777240"/>
          </a:xfrm>
          <a:prstGeom prst="rect">
            <a:avLst/>
          </a:prstGeom>
          <a:noFill/>
          <a:ln/>
        </p:spPr>
        <p:txBody>
          <a:bodyPr wrap="square" lIns="0" tIns="0" rIns="0" bIns="0" rtlCol="0" anchor="t"/>
          <a:lstStyle/>
          <a:p>
            <a:pPr indent="0" marL="0">
              <a:buNone/>
            </a:pPr>
            <a:r>
              <a:rPr lang="en-US" sz="1450" dirty="0">
                <a:solidFill>
                  <a:srgbClr val="1A1D23"/>
                </a:solidFill>
                <a:latin typeface="Calibri" pitchFamily="34" charset="0"/>
                <a:ea typeface="Calibri" pitchFamily="34" charset="-122"/>
                <a:cs typeface="Calibri" pitchFamily="34" charset="-120"/>
              </a:rPr>
              <a:t>Crisis wording reviewed by a mental health professional</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TOOLS AND MODELS</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Tech stack</a:t>
            </a:r>
            <a:endParaRPr lang="en-US" sz="3200" dirty="0"/>
          </a:p>
        </p:txBody>
      </p:sp>
      <p:sp>
        <p:nvSpPr>
          <p:cNvPr id="4" name="Text 2"/>
          <p:cNvSpPr txBox="1"/>
          <p:nvPr/>
        </p:nvSpPr>
        <p:spPr>
          <a:xfrm>
            <a:off x="11076127" y="6400800"/>
            <a:ext cx="548640" cy="228600"/>
          </a:xfrm>
          <a:prstGeom prst="rect">
            <a:avLst/>
          </a:prstGeom>
          <a:noFill/>
          <a:ln/>
        </p:spPr>
        <p:txBody>
          <a:bodyPr wrap="square" lIns="0" tIns="0" rIns="0" bIns="0" rtlCol="0" anchor="ctr"/>
          <a:lstStyle/>
          <a:p>
            <a:pPr algn="r" indent="0" marL="0">
              <a:buNone/>
            </a:pPr>
            <a:r>
              <a:rPr lang="en-US" sz="1000" dirty="0">
                <a:solidFill>
                  <a:srgbClr val="8B94A3"/>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66928" y="1691640"/>
            <a:ext cx="2615184" cy="1965960"/>
          </a:xfrm>
          <a:prstGeom prst="roundRect">
            <a:avLst>
              <a:gd name="adj" fmla="val 4651"/>
            </a:avLst>
          </a:prstGeom>
          <a:solidFill>
            <a:srgbClr val="F7F9FC"/>
          </a:solidFill>
          <a:ln w="9525">
            <a:solidFill>
              <a:srgbClr val="DDE3ED"/>
            </a:solidFill>
            <a:prstDash val="solid"/>
          </a:ln>
        </p:spPr>
      </p:sp>
      <p:sp>
        <p:nvSpPr>
          <p:cNvPr id="6" name="Text 4"/>
          <p:cNvSpPr txBox="1"/>
          <p:nvPr/>
        </p:nvSpPr>
        <p:spPr>
          <a:xfrm>
            <a:off x="795528" y="1920240"/>
            <a:ext cx="2157984" cy="237744"/>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LANGUAGE MODEL</a:t>
            </a:r>
            <a:endParaRPr lang="en-US" sz="1050" dirty="0"/>
          </a:p>
        </p:txBody>
      </p:sp>
      <p:sp>
        <p:nvSpPr>
          <p:cNvPr id="7" name="Text 5"/>
          <p:cNvSpPr txBox="1"/>
          <p:nvPr/>
        </p:nvSpPr>
        <p:spPr>
          <a:xfrm>
            <a:off x="795528" y="2240280"/>
            <a:ext cx="2157984" cy="411480"/>
          </a:xfrm>
          <a:prstGeom prst="rect">
            <a:avLst/>
          </a:prstGeom>
          <a:noFill/>
          <a:ln/>
        </p:spPr>
        <p:txBody>
          <a:bodyPr wrap="square" lIns="0" tIns="0" rIns="0" bIns="0" rtlCol="0" anchor="t"/>
          <a:lstStyle/>
          <a:p>
            <a:pPr indent="0" marL="0">
              <a:buNone/>
            </a:pPr>
            <a:r>
              <a:rPr lang="en-US" sz="1650" b="1" dirty="0">
                <a:solidFill>
                  <a:srgbClr val="1E2761"/>
                </a:solidFill>
                <a:latin typeface="Calibri" pitchFamily="34" charset="0"/>
                <a:ea typeface="Calibri" pitchFamily="34" charset="-122"/>
                <a:cs typeface="Calibri" pitchFamily="34" charset="-120"/>
              </a:rPr>
              <a:t>DeepSeek v4 Flash</a:t>
            </a:r>
            <a:endParaRPr lang="en-US" sz="1650" dirty="0"/>
          </a:p>
        </p:txBody>
      </p:sp>
      <p:sp>
        <p:nvSpPr>
          <p:cNvPr id="8" name="Text 6"/>
          <p:cNvSpPr txBox="1"/>
          <p:nvPr/>
        </p:nvSpPr>
        <p:spPr>
          <a:xfrm>
            <a:off x="795528" y="2743200"/>
            <a:ext cx="2157984" cy="7772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Reads facts and emotion, writes the reply</a:t>
            </a:r>
            <a:endParaRPr lang="en-US" sz="1300" dirty="0"/>
          </a:p>
        </p:txBody>
      </p:sp>
      <p:sp>
        <p:nvSpPr>
          <p:cNvPr id="9" name="Shape 7"/>
          <p:cNvSpPr/>
          <p:nvPr/>
        </p:nvSpPr>
        <p:spPr>
          <a:xfrm>
            <a:off x="3374136" y="1691640"/>
            <a:ext cx="2615184" cy="1965960"/>
          </a:xfrm>
          <a:prstGeom prst="roundRect">
            <a:avLst>
              <a:gd name="adj" fmla="val 4651"/>
            </a:avLst>
          </a:prstGeom>
          <a:solidFill>
            <a:srgbClr val="F7F9FC"/>
          </a:solidFill>
          <a:ln w="9525">
            <a:solidFill>
              <a:srgbClr val="DDE3ED"/>
            </a:solidFill>
            <a:prstDash val="solid"/>
          </a:ln>
        </p:spPr>
      </p:sp>
      <p:sp>
        <p:nvSpPr>
          <p:cNvPr id="10" name="Text 8"/>
          <p:cNvSpPr txBox="1"/>
          <p:nvPr/>
        </p:nvSpPr>
        <p:spPr>
          <a:xfrm>
            <a:off x="3602736" y="1920240"/>
            <a:ext cx="2157984" cy="237744"/>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EMOTION MODEL</a:t>
            </a:r>
            <a:endParaRPr lang="en-US" sz="1050" dirty="0"/>
          </a:p>
        </p:txBody>
      </p:sp>
      <p:sp>
        <p:nvSpPr>
          <p:cNvPr id="11" name="Text 9"/>
          <p:cNvSpPr txBox="1"/>
          <p:nvPr/>
        </p:nvSpPr>
        <p:spPr>
          <a:xfrm>
            <a:off x="3602736" y="2240280"/>
            <a:ext cx="2157984" cy="411480"/>
          </a:xfrm>
          <a:prstGeom prst="rect">
            <a:avLst/>
          </a:prstGeom>
          <a:noFill/>
          <a:ln/>
        </p:spPr>
        <p:txBody>
          <a:bodyPr wrap="square" lIns="0" tIns="0" rIns="0" bIns="0" rtlCol="0" anchor="t"/>
          <a:lstStyle/>
          <a:p>
            <a:pPr indent="0" marL="0">
              <a:buNone/>
            </a:pPr>
            <a:r>
              <a:rPr lang="en-US" sz="1650" b="1" dirty="0">
                <a:solidFill>
                  <a:srgbClr val="1E2761"/>
                </a:solidFill>
                <a:latin typeface="Calibri" pitchFamily="34" charset="0"/>
                <a:ea typeface="Calibri" pitchFamily="34" charset="-122"/>
                <a:cs typeface="Calibri" pitchFamily="34" charset="-120"/>
              </a:rPr>
              <a:t>DistilRoBERTa</a:t>
            </a:r>
            <a:endParaRPr lang="en-US" sz="1650" dirty="0"/>
          </a:p>
        </p:txBody>
      </p:sp>
      <p:sp>
        <p:nvSpPr>
          <p:cNvPr id="12" name="Text 10"/>
          <p:cNvSpPr txBox="1"/>
          <p:nvPr/>
        </p:nvSpPr>
        <p:spPr>
          <a:xfrm>
            <a:off x="3602736" y="2743200"/>
            <a:ext cx="2157984" cy="7772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7 emotions, runs on this machine</a:t>
            </a:r>
            <a:endParaRPr lang="en-US" sz="1300" dirty="0"/>
          </a:p>
        </p:txBody>
      </p:sp>
      <p:sp>
        <p:nvSpPr>
          <p:cNvPr id="13" name="Shape 11"/>
          <p:cNvSpPr/>
          <p:nvPr/>
        </p:nvSpPr>
        <p:spPr>
          <a:xfrm>
            <a:off x="6181344" y="1691640"/>
            <a:ext cx="2615184" cy="1965960"/>
          </a:xfrm>
          <a:prstGeom prst="roundRect">
            <a:avLst>
              <a:gd name="adj" fmla="val 4651"/>
            </a:avLst>
          </a:prstGeom>
          <a:solidFill>
            <a:srgbClr val="F7F9FC"/>
          </a:solidFill>
          <a:ln w="9525">
            <a:solidFill>
              <a:srgbClr val="DDE3ED"/>
            </a:solidFill>
            <a:prstDash val="solid"/>
          </a:ln>
        </p:spPr>
      </p:sp>
      <p:sp>
        <p:nvSpPr>
          <p:cNvPr id="14" name="Text 12"/>
          <p:cNvSpPr txBox="1"/>
          <p:nvPr/>
        </p:nvSpPr>
        <p:spPr>
          <a:xfrm>
            <a:off x="6409944" y="1920240"/>
            <a:ext cx="2157984" cy="237744"/>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EMBEDDINGS</a:t>
            </a:r>
            <a:endParaRPr lang="en-US" sz="1050" dirty="0"/>
          </a:p>
        </p:txBody>
      </p:sp>
      <p:sp>
        <p:nvSpPr>
          <p:cNvPr id="15" name="Text 13"/>
          <p:cNvSpPr txBox="1"/>
          <p:nvPr/>
        </p:nvSpPr>
        <p:spPr>
          <a:xfrm>
            <a:off x="6409944" y="2240280"/>
            <a:ext cx="2157984" cy="411480"/>
          </a:xfrm>
          <a:prstGeom prst="rect">
            <a:avLst/>
          </a:prstGeom>
          <a:noFill/>
          <a:ln/>
        </p:spPr>
        <p:txBody>
          <a:bodyPr wrap="square" lIns="0" tIns="0" rIns="0" bIns="0" rtlCol="0" anchor="t"/>
          <a:lstStyle/>
          <a:p>
            <a:pPr indent="0" marL="0">
              <a:buNone/>
            </a:pPr>
            <a:r>
              <a:rPr lang="en-US" sz="1650" b="1" dirty="0">
                <a:solidFill>
                  <a:srgbClr val="1E2761"/>
                </a:solidFill>
                <a:latin typeface="Calibri" pitchFamily="34" charset="0"/>
                <a:ea typeface="Calibri" pitchFamily="34" charset="-122"/>
                <a:cs typeface="Calibri" pitchFamily="34" charset="-120"/>
              </a:rPr>
              <a:t>all-MiniLM-L6-v2</a:t>
            </a:r>
            <a:endParaRPr lang="en-US" sz="1650" dirty="0"/>
          </a:p>
        </p:txBody>
      </p:sp>
      <p:sp>
        <p:nvSpPr>
          <p:cNvPr id="16" name="Text 14"/>
          <p:cNvSpPr txBox="1"/>
          <p:nvPr/>
        </p:nvSpPr>
        <p:spPr>
          <a:xfrm>
            <a:off x="6409944" y="2743200"/>
            <a:ext cx="2157984" cy="7772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Searches memory by meaning, runs locally</a:t>
            </a:r>
            <a:endParaRPr lang="en-US" sz="1300" dirty="0"/>
          </a:p>
        </p:txBody>
      </p:sp>
      <p:sp>
        <p:nvSpPr>
          <p:cNvPr id="17" name="Shape 15"/>
          <p:cNvSpPr/>
          <p:nvPr/>
        </p:nvSpPr>
        <p:spPr>
          <a:xfrm>
            <a:off x="8988552" y="1691640"/>
            <a:ext cx="2615184" cy="1965960"/>
          </a:xfrm>
          <a:prstGeom prst="roundRect">
            <a:avLst>
              <a:gd name="adj" fmla="val 4651"/>
            </a:avLst>
          </a:prstGeom>
          <a:solidFill>
            <a:srgbClr val="F7F9FC"/>
          </a:solidFill>
          <a:ln w="9525">
            <a:solidFill>
              <a:srgbClr val="DDE3ED"/>
            </a:solidFill>
            <a:prstDash val="solid"/>
          </a:ln>
        </p:spPr>
      </p:sp>
      <p:sp>
        <p:nvSpPr>
          <p:cNvPr id="18" name="Text 16"/>
          <p:cNvSpPr txBox="1"/>
          <p:nvPr/>
        </p:nvSpPr>
        <p:spPr>
          <a:xfrm>
            <a:off x="9217152" y="1920240"/>
            <a:ext cx="2157984" cy="237744"/>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VECTOR DATABASE</a:t>
            </a:r>
            <a:endParaRPr lang="en-US" sz="1050" dirty="0"/>
          </a:p>
        </p:txBody>
      </p:sp>
      <p:sp>
        <p:nvSpPr>
          <p:cNvPr id="19" name="Text 17"/>
          <p:cNvSpPr txBox="1"/>
          <p:nvPr/>
        </p:nvSpPr>
        <p:spPr>
          <a:xfrm>
            <a:off x="9217152" y="2240280"/>
            <a:ext cx="2157984" cy="411480"/>
          </a:xfrm>
          <a:prstGeom prst="rect">
            <a:avLst/>
          </a:prstGeom>
          <a:noFill/>
          <a:ln/>
        </p:spPr>
        <p:txBody>
          <a:bodyPr wrap="square" lIns="0" tIns="0" rIns="0" bIns="0" rtlCol="0" anchor="t"/>
          <a:lstStyle/>
          <a:p>
            <a:pPr indent="0" marL="0">
              <a:buNone/>
            </a:pPr>
            <a:r>
              <a:rPr lang="en-US" sz="1650" b="1" dirty="0">
                <a:solidFill>
                  <a:srgbClr val="1E2761"/>
                </a:solidFill>
                <a:latin typeface="Calibri" pitchFamily="34" charset="0"/>
                <a:ea typeface="Calibri" pitchFamily="34" charset="-122"/>
                <a:cs typeface="Calibri" pitchFamily="34" charset="-120"/>
              </a:rPr>
              <a:t>ChromaDB</a:t>
            </a:r>
            <a:endParaRPr lang="en-US" sz="1650" dirty="0"/>
          </a:p>
        </p:txBody>
      </p:sp>
      <p:sp>
        <p:nvSpPr>
          <p:cNvPr id="20" name="Text 18"/>
          <p:cNvSpPr txBox="1"/>
          <p:nvPr/>
        </p:nvSpPr>
        <p:spPr>
          <a:xfrm>
            <a:off x="9217152" y="2743200"/>
            <a:ext cx="2157984" cy="7772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Keeps long-term memory on disk</a:t>
            </a:r>
            <a:endParaRPr lang="en-US" sz="1300" dirty="0"/>
          </a:p>
        </p:txBody>
      </p:sp>
      <p:sp>
        <p:nvSpPr>
          <p:cNvPr id="21" name="Shape 19"/>
          <p:cNvSpPr/>
          <p:nvPr/>
        </p:nvSpPr>
        <p:spPr>
          <a:xfrm>
            <a:off x="566928" y="3931920"/>
            <a:ext cx="2615184" cy="1965960"/>
          </a:xfrm>
          <a:prstGeom prst="roundRect">
            <a:avLst>
              <a:gd name="adj" fmla="val 4651"/>
            </a:avLst>
          </a:prstGeom>
          <a:solidFill>
            <a:srgbClr val="F7F9FC"/>
          </a:solidFill>
          <a:ln w="9525">
            <a:solidFill>
              <a:srgbClr val="DDE3ED"/>
            </a:solidFill>
            <a:prstDash val="solid"/>
          </a:ln>
        </p:spPr>
      </p:sp>
      <p:sp>
        <p:nvSpPr>
          <p:cNvPr id="22" name="Text 20"/>
          <p:cNvSpPr txBox="1"/>
          <p:nvPr/>
        </p:nvSpPr>
        <p:spPr>
          <a:xfrm>
            <a:off x="795528" y="4160520"/>
            <a:ext cx="2157984" cy="237744"/>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SAFETY</a:t>
            </a:r>
            <a:endParaRPr lang="en-US" sz="1050" dirty="0"/>
          </a:p>
        </p:txBody>
      </p:sp>
      <p:sp>
        <p:nvSpPr>
          <p:cNvPr id="23" name="Text 21"/>
          <p:cNvSpPr txBox="1"/>
          <p:nvPr/>
        </p:nvSpPr>
        <p:spPr>
          <a:xfrm>
            <a:off x="795528" y="4480560"/>
            <a:ext cx="2157984" cy="411480"/>
          </a:xfrm>
          <a:prstGeom prst="rect">
            <a:avLst/>
          </a:prstGeom>
          <a:noFill/>
          <a:ln/>
        </p:spPr>
        <p:txBody>
          <a:bodyPr wrap="square" lIns="0" tIns="0" rIns="0" bIns="0" rtlCol="0" anchor="t"/>
          <a:lstStyle/>
          <a:p>
            <a:pPr indent="0" marL="0">
              <a:buNone/>
            </a:pPr>
            <a:r>
              <a:rPr lang="en-US" sz="1650" b="1" dirty="0">
                <a:solidFill>
                  <a:srgbClr val="1E2761"/>
                </a:solidFill>
                <a:latin typeface="Calibri" pitchFamily="34" charset="0"/>
                <a:ea typeface="Calibri" pitchFamily="34" charset="-122"/>
                <a:cs typeface="Calibri" pitchFamily="34" charset="-120"/>
              </a:rPr>
              <a:t>Fixed rules</a:t>
            </a:r>
            <a:endParaRPr lang="en-US" sz="1650" dirty="0"/>
          </a:p>
        </p:txBody>
      </p:sp>
      <p:sp>
        <p:nvSpPr>
          <p:cNvPr id="24" name="Text 22"/>
          <p:cNvSpPr txBox="1"/>
          <p:nvPr/>
        </p:nvSpPr>
        <p:spPr>
          <a:xfrm>
            <a:off x="795528" y="4983480"/>
            <a:ext cx="2157984" cy="7772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Crisis check before any model runs</a:t>
            </a:r>
            <a:endParaRPr lang="en-US" sz="1300" dirty="0"/>
          </a:p>
        </p:txBody>
      </p:sp>
      <p:sp>
        <p:nvSpPr>
          <p:cNvPr id="25" name="Shape 23"/>
          <p:cNvSpPr/>
          <p:nvPr/>
        </p:nvSpPr>
        <p:spPr>
          <a:xfrm>
            <a:off x="3374136" y="3931920"/>
            <a:ext cx="2615184" cy="1965960"/>
          </a:xfrm>
          <a:prstGeom prst="roundRect">
            <a:avLst>
              <a:gd name="adj" fmla="val 4651"/>
            </a:avLst>
          </a:prstGeom>
          <a:solidFill>
            <a:srgbClr val="F7F9FC"/>
          </a:solidFill>
          <a:ln w="9525">
            <a:solidFill>
              <a:srgbClr val="DDE3ED"/>
            </a:solidFill>
            <a:prstDash val="solid"/>
          </a:ln>
        </p:spPr>
      </p:sp>
      <p:sp>
        <p:nvSpPr>
          <p:cNvPr id="26" name="Text 24"/>
          <p:cNvSpPr txBox="1"/>
          <p:nvPr/>
        </p:nvSpPr>
        <p:spPr>
          <a:xfrm>
            <a:off x="3602736" y="4160520"/>
            <a:ext cx="2157984" cy="237744"/>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MOOD MEMORY</a:t>
            </a:r>
            <a:endParaRPr lang="en-US" sz="1050" dirty="0"/>
          </a:p>
        </p:txBody>
      </p:sp>
      <p:sp>
        <p:nvSpPr>
          <p:cNvPr id="27" name="Text 25"/>
          <p:cNvSpPr txBox="1"/>
          <p:nvPr/>
        </p:nvSpPr>
        <p:spPr>
          <a:xfrm>
            <a:off x="3602736" y="4480560"/>
            <a:ext cx="2157984" cy="411480"/>
          </a:xfrm>
          <a:prstGeom prst="rect">
            <a:avLst/>
          </a:prstGeom>
          <a:noFill/>
          <a:ln/>
        </p:spPr>
        <p:txBody>
          <a:bodyPr wrap="square" lIns="0" tIns="0" rIns="0" bIns="0" rtlCol="0" anchor="t"/>
          <a:lstStyle/>
          <a:p>
            <a:pPr indent="0" marL="0">
              <a:buNone/>
            </a:pPr>
            <a:r>
              <a:rPr lang="en-US" sz="1650" b="1" dirty="0">
                <a:solidFill>
                  <a:srgbClr val="1E2761"/>
                </a:solidFill>
                <a:latin typeface="Calibri" pitchFamily="34" charset="0"/>
                <a:ea typeface="Calibri" pitchFamily="34" charset="-122"/>
                <a:cs typeface="Calibri" pitchFamily="34" charset="-120"/>
              </a:rPr>
              <a:t>JSON file</a:t>
            </a:r>
            <a:endParaRPr lang="en-US" sz="1650" dirty="0"/>
          </a:p>
        </p:txBody>
      </p:sp>
      <p:sp>
        <p:nvSpPr>
          <p:cNvPr id="28" name="Text 26"/>
          <p:cNvSpPr txBox="1"/>
          <p:nvPr/>
        </p:nvSpPr>
        <p:spPr>
          <a:xfrm>
            <a:off x="3602736" y="4983480"/>
            <a:ext cx="2157984" cy="7772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Emotion history across sessions</a:t>
            </a:r>
            <a:endParaRPr lang="en-US" sz="1300" dirty="0"/>
          </a:p>
        </p:txBody>
      </p:sp>
      <p:sp>
        <p:nvSpPr>
          <p:cNvPr id="29" name="Shape 27"/>
          <p:cNvSpPr/>
          <p:nvPr/>
        </p:nvSpPr>
        <p:spPr>
          <a:xfrm>
            <a:off x="6181344" y="3931920"/>
            <a:ext cx="2615184" cy="1965960"/>
          </a:xfrm>
          <a:prstGeom prst="roundRect">
            <a:avLst>
              <a:gd name="adj" fmla="val 4651"/>
            </a:avLst>
          </a:prstGeom>
          <a:solidFill>
            <a:srgbClr val="F7F9FC"/>
          </a:solidFill>
          <a:ln w="9525">
            <a:solidFill>
              <a:srgbClr val="DDE3ED"/>
            </a:solidFill>
            <a:prstDash val="solid"/>
          </a:ln>
        </p:spPr>
      </p:sp>
      <p:sp>
        <p:nvSpPr>
          <p:cNvPr id="30" name="Text 28"/>
          <p:cNvSpPr txBox="1"/>
          <p:nvPr/>
        </p:nvSpPr>
        <p:spPr>
          <a:xfrm>
            <a:off x="6409944" y="4160520"/>
            <a:ext cx="2157984" cy="237744"/>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INTERFACE</a:t>
            </a:r>
            <a:endParaRPr lang="en-US" sz="1050" dirty="0"/>
          </a:p>
        </p:txBody>
      </p:sp>
      <p:sp>
        <p:nvSpPr>
          <p:cNvPr id="31" name="Text 29"/>
          <p:cNvSpPr txBox="1"/>
          <p:nvPr/>
        </p:nvSpPr>
        <p:spPr>
          <a:xfrm>
            <a:off x="6409944" y="4480560"/>
            <a:ext cx="2157984" cy="411480"/>
          </a:xfrm>
          <a:prstGeom prst="rect">
            <a:avLst/>
          </a:prstGeom>
          <a:noFill/>
          <a:ln/>
        </p:spPr>
        <p:txBody>
          <a:bodyPr wrap="square" lIns="0" tIns="0" rIns="0" bIns="0" rtlCol="0" anchor="t"/>
          <a:lstStyle/>
          <a:p>
            <a:pPr indent="0" marL="0">
              <a:buNone/>
            </a:pPr>
            <a:r>
              <a:rPr lang="en-US" sz="1650" b="1" dirty="0">
                <a:solidFill>
                  <a:srgbClr val="1E2761"/>
                </a:solidFill>
                <a:latin typeface="Calibri" pitchFamily="34" charset="0"/>
                <a:ea typeface="Calibri" pitchFamily="34" charset="-122"/>
                <a:cs typeface="Calibri" pitchFamily="34" charset="-120"/>
              </a:rPr>
              <a:t>HTML, CSS, JavaScript</a:t>
            </a:r>
            <a:endParaRPr lang="en-US" sz="1650" dirty="0"/>
          </a:p>
        </p:txBody>
      </p:sp>
      <p:sp>
        <p:nvSpPr>
          <p:cNvPr id="32" name="Text 30"/>
          <p:cNvSpPr txBox="1"/>
          <p:nvPr/>
        </p:nvSpPr>
        <p:spPr>
          <a:xfrm>
            <a:off x="6409944" y="4983480"/>
            <a:ext cx="2157984" cy="7772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Python server, reply streamed live</a:t>
            </a:r>
            <a:endParaRPr lang="en-US" sz="1300" dirty="0"/>
          </a:p>
        </p:txBody>
      </p:sp>
      <p:sp>
        <p:nvSpPr>
          <p:cNvPr id="33" name="Shape 31"/>
          <p:cNvSpPr/>
          <p:nvPr/>
        </p:nvSpPr>
        <p:spPr>
          <a:xfrm>
            <a:off x="8988552" y="3931920"/>
            <a:ext cx="2615184" cy="1965960"/>
          </a:xfrm>
          <a:prstGeom prst="roundRect">
            <a:avLst>
              <a:gd name="adj" fmla="val 4651"/>
            </a:avLst>
          </a:prstGeom>
          <a:solidFill>
            <a:srgbClr val="F7F9FC"/>
          </a:solidFill>
          <a:ln w="9525">
            <a:solidFill>
              <a:srgbClr val="DDE3ED"/>
            </a:solidFill>
            <a:prstDash val="solid"/>
          </a:ln>
        </p:spPr>
      </p:sp>
      <p:sp>
        <p:nvSpPr>
          <p:cNvPr id="34" name="Text 32"/>
          <p:cNvSpPr txBox="1"/>
          <p:nvPr/>
        </p:nvSpPr>
        <p:spPr>
          <a:xfrm>
            <a:off x="9217152" y="4160520"/>
            <a:ext cx="2157984" cy="237744"/>
          </a:xfrm>
          <a:prstGeom prst="rect">
            <a:avLst/>
          </a:prstGeom>
          <a:noFill/>
          <a:ln/>
        </p:spPr>
        <p:txBody>
          <a:bodyPr wrap="square" lIns="0" tIns="0" rIns="0" bIns="0" rtlCol="0" anchor="t"/>
          <a:lstStyle/>
          <a:p>
            <a:pPr indent="0" marL="0">
              <a:buNone/>
            </a:pPr>
            <a:r>
              <a:rPr lang="en-US" sz="1050" b="1" spc="100" kern="0" dirty="0">
                <a:solidFill>
                  <a:srgbClr val="8B94A3"/>
                </a:solidFill>
                <a:latin typeface="Calibri" pitchFamily="34" charset="0"/>
                <a:ea typeface="Calibri" pitchFamily="34" charset="-122"/>
                <a:cs typeface="Calibri" pitchFamily="34" charset="-120"/>
              </a:rPr>
              <a:t>EVALUATION</a:t>
            </a:r>
            <a:endParaRPr lang="en-US" sz="1050" dirty="0"/>
          </a:p>
        </p:txBody>
      </p:sp>
      <p:sp>
        <p:nvSpPr>
          <p:cNvPr id="35" name="Text 33"/>
          <p:cNvSpPr txBox="1"/>
          <p:nvPr/>
        </p:nvSpPr>
        <p:spPr>
          <a:xfrm>
            <a:off x="9217152" y="4480560"/>
            <a:ext cx="2157984" cy="411480"/>
          </a:xfrm>
          <a:prstGeom prst="rect">
            <a:avLst/>
          </a:prstGeom>
          <a:noFill/>
          <a:ln/>
        </p:spPr>
        <p:txBody>
          <a:bodyPr wrap="square" lIns="0" tIns="0" rIns="0" bIns="0" rtlCol="0" anchor="t"/>
          <a:lstStyle/>
          <a:p>
            <a:pPr indent="0" marL="0">
              <a:buNone/>
            </a:pPr>
            <a:r>
              <a:rPr lang="en-US" sz="1650" b="1" dirty="0">
                <a:solidFill>
                  <a:srgbClr val="1E2761"/>
                </a:solidFill>
                <a:latin typeface="Calibri" pitchFamily="34" charset="0"/>
                <a:ea typeface="Calibri" pitchFamily="34" charset="-122"/>
                <a:cs typeface="Calibri" pitchFamily="34" charset="-120"/>
              </a:rPr>
              <a:t>Python scripts</a:t>
            </a:r>
            <a:endParaRPr lang="en-US" sz="1650" dirty="0"/>
          </a:p>
        </p:txBody>
      </p:sp>
      <p:sp>
        <p:nvSpPr>
          <p:cNvPr id="36" name="Text 34"/>
          <p:cNvSpPr txBox="1"/>
          <p:nvPr/>
        </p:nvSpPr>
        <p:spPr>
          <a:xfrm>
            <a:off x="9217152" y="4983480"/>
            <a:ext cx="2157984" cy="7772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Accuracy, macro F1, safety checks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04088" y="201168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704088" y="3017520"/>
            <a:ext cx="10058400" cy="45720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We are happy to take questions, and to run the live demo.</a:t>
            </a:r>
            <a:endParaRPr lang="en-US" sz="1900" dirty="0"/>
          </a:p>
        </p:txBody>
      </p:sp>
      <p:sp>
        <p:nvSpPr>
          <p:cNvPr id="4" name="Shape 2"/>
          <p:cNvSpPr/>
          <p:nvPr/>
        </p:nvSpPr>
        <p:spPr>
          <a:xfrm>
            <a:off x="704088" y="3931920"/>
            <a:ext cx="6949440" cy="502920"/>
          </a:xfrm>
          <a:prstGeom prst="roundRect">
            <a:avLst>
              <a:gd name="adj" fmla="val 49091"/>
            </a:avLst>
          </a:prstGeom>
          <a:solidFill>
            <a:srgbClr val="2E3D7A"/>
          </a:solidFill>
          <a:ln w="9525">
            <a:solidFill>
              <a:srgbClr val="3D4C8C"/>
            </a:solidFill>
            <a:prstDash val="solid"/>
          </a:ln>
        </p:spPr>
      </p:sp>
      <p:sp>
        <p:nvSpPr>
          <p:cNvPr id="5" name="Text 3"/>
          <p:cNvSpPr txBox="1"/>
          <p:nvPr/>
        </p:nvSpPr>
        <p:spPr>
          <a:xfrm>
            <a:off x="704088" y="3931920"/>
            <a:ext cx="6949440" cy="50292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github.com/Swaraj-Mandre/Long-Term-Memory-Chatbot</a:t>
            </a:r>
            <a:endParaRPr lang="en-US" sz="1500" dirty="0"/>
          </a:p>
        </p:txBody>
      </p:sp>
      <p:sp>
        <p:nvSpPr>
          <p:cNvPr id="6" name="Text 4"/>
          <p:cNvSpPr txBox="1"/>
          <p:nvPr/>
        </p:nvSpPr>
        <p:spPr>
          <a:xfrm>
            <a:off x="704088" y="5029200"/>
            <a:ext cx="10058400" cy="3200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Swaraj Mandre   |   Saumya Joshi   |   Siddhant Pawar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Sentiment-Aware Chatbot</dc:title>
  <dc:subject>PptxGenJS Presentation</dc:subject>
  <dc:creator>Group 03</dc:creator>
  <cp:lastModifiedBy>Group 03</cp:lastModifiedBy>
  <cp:revision>1</cp:revision>
  <dcterms:created xsi:type="dcterms:W3CDTF">2026-10-14T11:06:17Z</dcterms:created>
  <dcterms:modified xsi:type="dcterms:W3CDTF">2026-10-14T11:06:17Z</dcterms:modified>
</cp:coreProperties>
</file>